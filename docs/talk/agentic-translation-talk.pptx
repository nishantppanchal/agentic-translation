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4.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c2bb387-56a1-db6e-435f-55246f4d5c8f}">
          <p14:sldIdLst>
            <p14:sldId id="256"/>
            <p14:sldId id="257"/>
            <p14:sldId id="258"/>
            <p14:sldId id="259"/>
            <p14:sldId id="260"/>
          </p14:sldIdLst>
        </p14:section>
        <p14:section name="01 How we got here" id="{718bf5df-c442-9c18-31f2-d43f478dc2dc}">
          <p14:sldIdLst>
            <p14:sldId id="261"/>
            <p14:sldId id="262"/>
            <p14:sldId id="263"/>
            <p14:sldId id="264"/>
            <p14:sldId id="265"/>
            <p14:sldId id="266"/>
            <p14:sldId id="267"/>
            <p14:sldId id="268"/>
          </p14:sldIdLst>
        </p14:section>
        <p14:section name="02 Where it breaks" id="{92645d76-8c66-1977-0380-500afc9246b3}">
          <p14:sldIdLst>
            <p14:sldId id="269"/>
            <p14:sldId id="270"/>
            <p14:sldId id="271"/>
            <p14:sldId id="272"/>
            <p14:sldId id="273"/>
            <p14:sldId id="274"/>
            <p14:sldId id="275"/>
            <p14:sldId id="276"/>
            <p14:sldId id="277"/>
            <p14:sldId id="278"/>
            <p14:sldId id="279"/>
            <p14:sldId id="280"/>
            <p14:sldId id="281"/>
            <p14:sldId id="282"/>
            <p14:sldId id="283"/>
            <p14:sldId id="284"/>
            <p14:sldId id="285"/>
            <p14:sldId id="286"/>
          </p14:sldIdLst>
        </p14:section>
        <p14:section name="03 Doing better" id="{c4927651-0b68-2a2a-9787-19d0be2437a2}">
          <p14:sldIdLst>
            <p14:sldId id="287"/>
            <p14:sldId id="288"/>
            <p14:sldId id="289"/>
            <p14:sldId id="290"/>
            <p14:sldId id="291"/>
            <p14:sldId id="292"/>
            <p14:sldId id="293"/>
            <p14:sldId id="294"/>
            <p14:sldId id="295"/>
          </p14:sldIdLst>
        </p14:section>
        <p14:section name="04 Agentic Translator" id="{d248b00c-7feb-9f49-b78d-18cb412835a0}">
          <p14:sldIdLst>
            <p14:sldId id="296"/>
            <p14:sldId id="297"/>
            <p14:sldId id="298"/>
            <p14:sldId id="299"/>
            <p14:sldId id="300"/>
            <p14:sldId id="301"/>
          </p14:sldIdLst>
        </p14:section>
        <p14:section name="Live demo" id="{ec5d2ef4-ef46-db60-e4f8-bcd5f86960df}">
          <p14:sldIdLst>
            <p14:sldId id="302"/>
            <p14:sldId id="303"/>
          </p14:sldIdLst>
        </p14:section>
        <p14:section name="Close" id="{96ce01af-eb02-9b42-ab65-58eb9c33d71d}">
          <p14:sldIdLst>
            <p14:sldId id="304"/>
            <p14:sldId id="305"/>
          </p14:sldIdLst>
        </p14:section>
        <p14:section name="Backup: demo screenshots" id="{21bed2a4-1b67-2e21-368e-b30c6ae3cc73}">
          <p14:sldIdLst>
            <p14:sldId id="306"/>
            <p14:sldId id="307"/>
            <p14:sldId id="308"/>
            <p14:sldId id="309"/>
            <p14:sldId id="310"/>
            <p14:sldId id="311"/>
            <p14:sldId id="312"/>
            <p14:sldId id="313"/>
            <p14:sldId id="314"/>
            <p14:sldId id="315"/>
            <p14:sldId id="316"/>
            <p14:sldId id="317"/>
            <p14:sldId id="318"/>
            <p14:sldId id="319"/>
          </p14:sldIdLst>
        </p14:section>
        <p14:section name="Backup: extras" id="{f8f7f365-8b1a-8fb6-bf36-4337d0e752bc}">
          <p14:sldIdLst>
            <p14:sldId id="32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7385"/>
                </a:solidFill>
                <a:latin typeface="+mn-lt"/>
              </a:defRPr>
            </a:pPr>
            <a:r>
              <a:rPr sz="1400" b="0" i="0" u="none" strike="noStrike">
                <a:solidFill>
                  <a:srgbClr val="6B7385"/>
                </a:solidFill>
                <a:latin typeface="+mn-lt"/>
              </a:rPr>
              <a:t>Professional translators' preference, Chinese → English news</a:t>
            </a:r>
          </a:p>
        </c:rich>
      </c:tx>
      <c:layout/>
      <c:overlay val="0"/>
    </c:title>
    <c:autoTitleDeleted val="0"/>
    <c:plotArea>
      <c:layout/>
      <c:barChart>
        <c:barDir val="col"/>
        <c:grouping val="clustered"/>
        <c:varyColors val="0"/>
        <c:ser>
          <c:idx val="0"/>
          <c:order val="0"/>
          <c:tx>
            <c:strRef>
              <c:f>Sheet1!$B$1</c:f>
              <c:strCache>
                <c:ptCount val="1"/>
                <c:pt idx="0">
                  <c:v>Preferred the machine</c:v>
                </c:pt>
              </c:strCache>
            </c:strRef>
          </c:tx>
          <c:spPr>
            <a:solidFill>
              <a:srgbClr val="6B7385"/>
            </a:solidFill>
            <a:effectLst/>
          </c:spPr>
          <c:invertIfNegative val="0"/>
          <c:dLbls>
            <c:numFmt formatCode="0&quot;%&quot;" sourceLinked="0"/>
            <c:txPr>
              <a:bodyPr/>
              <a:lstStyle/>
              <a:p>
                <a:pPr>
                  <a:defRPr b="0" i="0" strike="noStrike" sz="1600" u="none">
                    <a:solidFill>
                      <a:srgbClr val="1C2230"/>
                    </a:solidFill>
                    <a:latin typeface="+mn-lt"/>
                  </a:defRPr>
                </a:pPr>
              </a:p>
            </c:txPr>
            <c:showLegendKey val="0"/>
            <c:showVal val="1"/>
            <c:showCatName val="0"/>
            <c:showSerName val="0"/>
            <c:showPercent val="0"/>
            <c:showBubbleSize val="0"/>
            <c:showLeaderLines val="0"/>
          </c:dLbls>
          <c:cat>
            <c:multiLvlStrRef>
              <c:f>Sheet1!$A$2:$A$3</c:f>
              <c:multiLvlStrCache>
                <c:ptCount val="2"/>
                <c:lvl>
                  <c:pt idx="0">
                    <c:v>Judging single sentences</c:v>
                  </c:pt>
                  <c:pt idx="1">
                    <c:v>Judging whole articles</c:v>
                  </c:pt>
                </c:lvl>
              </c:multiLvlStrCache>
            </c:multiLvlStrRef>
          </c:cat>
          <c:val>
            <c:numRef>
              <c:f>Sheet1!$B$2:$B$3</c:f>
              <c:numCache>
                <c:formatCode>General</c:formatCode>
                <c:ptCount val="2"/>
                <c:pt idx="0">
                  <c:v>50</c:v>
                </c:pt>
                <c:pt idx="1">
                  <c:v>37</c:v>
                </c:pt>
              </c:numCache>
            </c:numRef>
          </c:val>
        </c:ser>
        <c:ser>
          <c:idx val="1"/>
          <c:order val="1"/>
          <c:tx>
            <c:strRef>
              <c:f>Sheet1!$C$1</c:f>
              <c:strCache>
                <c:ptCount val="1"/>
                <c:pt idx="0">
                  <c:v>Preferred the human translator</c:v>
                </c:pt>
              </c:strCache>
            </c:strRef>
          </c:tx>
          <c:spPr>
            <a:solidFill>
              <a:srgbClr val="C8402F"/>
            </a:solidFill>
            <a:effectLst/>
          </c:spPr>
          <c:invertIfNegative val="0"/>
          <c:dLbls>
            <c:numFmt formatCode="0&quot;%&quot;" sourceLinked="0"/>
            <c:txPr>
              <a:bodyPr/>
              <a:lstStyle/>
              <a:p>
                <a:pPr>
                  <a:defRPr b="0" i="0" strike="noStrike" sz="1600" u="none">
                    <a:solidFill>
                      <a:srgbClr val="1C2230"/>
                    </a:solidFill>
                    <a:latin typeface="+mn-lt"/>
                  </a:defRPr>
                </a:pPr>
              </a:p>
            </c:txPr>
            <c:showLegendKey val="0"/>
            <c:showVal val="1"/>
            <c:showCatName val="0"/>
            <c:showSerName val="0"/>
            <c:showPercent val="0"/>
            <c:showBubbleSize val="0"/>
            <c:showLeaderLines val="0"/>
          </c:dLbls>
          <c:cat>
            <c:multiLvlStrRef>
              <c:f>Sheet1!$A$2:$A$3</c:f>
              <c:multiLvlStrCache>
                <c:ptCount val="2"/>
                <c:lvl>
                  <c:pt idx="0">
                    <c:v>Judging single sentences</c:v>
                  </c:pt>
                  <c:pt idx="1">
                    <c:v>Judging whole articles</c:v>
                  </c:pt>
                </c:lvl>
              </c:multiLvlStrCache>
            </c:multiLvlStrRef>
          </c:cat>
          <c:val>
            <c:numRef>
              <c:f>Sheet1!$C$2:$C$3</c:f>
              <c:numCache>
                <c:formatCode>General</c:formatCode>
                <c:ptCount val="2"/>
                <c:pt idx="0">
                  <c:v>41</c:v>
                </c:pt>
                <c:pt idx="1">
                  <c:v>52</c:v>
                </c:pt>
              </c:numCache>
            </c:numRef>
          </c:val>
        </c:ser>
        <c:dLbls>
          <c:numFmt formatCode="0&quot;%&quot;" sourceLinked="0"/>
          <c:txPr>
            <a:bodyPr/>
            <a:lstStyle/>
            <a:p>
              <a:pPr>
                <a:defRPr b="0" i="0" strike="noStrike" sz="1600" u="none">
                  <a:solidFill>
                    <a:srgbClr val="1C22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1C2230"/>
                </a:solidFill>
                <a:latin typeface="+mn-lt"/>
              </a:defRPr>
            </a:pPr>
            <a:endParaRPr lang="en-US"/>
          </a:p>
        </c:txPr>
        <c:crossAx val="2094734552"/>
        <c:crosses val="autoZero"/>
        <c:auto val="1"/>
        <c:lblAlgn val="ctr"/>
        <c:noMultiLvlLbl val="1"/>
      </c:catAx>
      <c:valAx>
        <c:axId val="2094734552"/>
        <c:scaling>
          <c:orientation val="minMax"/>
          <c:max val="6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1C22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7385"/>
                </a:solidFill>
                <a:latin typeface="+mn-lt"/>
              </a:defRPr>
            </a:pPr>
            <a:r>
              <a:rPr sz="1400" b="0" i="0" u="none" strike="noStrike">
                <a:solidFill>
                  <a:srgbClr val="6B7385"/>
                </a:solidFill>
                <a:latin typeface="+mn-lt"/>
              </a:rPr>
              <a:t>English → Icelandic, rated by people (0–100), WMT 2024</a:t>
            </a:r>
          </a:p>
        </c:rich>
      </c:tx>
      <c:layout/>
      <c:overlay val="0"/>
    </c:title>
    <c:autoTitleDeleted val="0"/>
    <c:plotArea>
      <c:layout/>
      <c:barChart>
        <c:barDir val="bar"/>
        <c:grouping val="clustered"/>
        <c:varyColors val="0"/>
        <c:ser>
          <c:idx val="0"/>
          <c:order val="0"/>
          <c:tx>
            <c:strRef>
              <c:f>Sheet1!$B$1</c:f>
              <c:strCache>
                <c:ptCount val="1"/>
                <c:pt idx="0">
                  <c:v>Human rating</c:v>
                </c:pt>
              </c:strCache>
            </c:strRef>
          </c:tx>
          <c:spPr>
            <a:solidFill>
              <a:srgbClr val="6B7385"/>
            </a:solidFill>
            <a:effectLst/>
          </c:spPr>
          <c:invertIfNegative val="0"/>
          <c:dLbls>
            <c:numFmt formatCode="0.0" sourceLinked="0"/>
            <c:txPr>
              <a:bodyPr/>
              <a:lstStyle/>
              <a:p>
                <a:pPr>
                  <a:defRPr b="0" i="0" strike="noStrike" sz="1600" u="none">
                    <a:solidFill>
                      <a:srgbClr val="1C2230"/>
                    </a:solidFill>
                    <a:latin typeface="+mn-lt"/>
                  </a:defRPr>
                </a:pPr>
              </a:p>
            </c:txPr>
            <c:showLegendKey val="0"/>
            <c:showVal val="1"/>
            <c:showCatName val="0"/>
            <c:showSerName val="0"/>
            <c:showPercent val="0"/>
            <c:showBubbleSize val="0"/>
            <c:showLeaderLines val="0"/>
          </c:dLbls>
          <c:dPt>
            <c:idx val="0"/>
            <c:invertIfNegative val="0"/>
            <c:bubble3D val="0"/>
            <c:spPr>
              <a:solidFill>
                <a:srgbClr val="6B7385"/>
              </a:solidFill>
              <a:effectLst/>
            </c:spPr>
          </c:dPt>
          <c:dPt>
            <c:idx val="1"/>
            <c:invertIfNegative val="0"/>
            <c:bubble3D val="0"/>
            <c:spPr>
              <a:solidFill>
                <a:srgbClr val="6B7385"/>
              </a:solidFill>
              <a:effectLst/>
            </c:spPr>
          </c:dPt>
          <c:dPt>
            <c:idx val="2"/>
            <c:invertIfNegative val="0"/>
            <c:bubble3D val="0"/>
            <c:spPr>
              <a:solidFill>
                <a:srgbClr val="2B3A55"/>
              </a:solidFill>
              <a:effectLst/>
            </c:spPr>
          </c:dPt>
          <c:dPt>
            <c:idx val="3"/>
            <c:invertIfNegative val="0"/>
            <c:bubble3D val="0"/>
            <c:spPr>
              <a:solidFill>
                <a:srgbClr val="3E8E6E"/>
              </a:solidFill>
              <a:effectLst/>
            </c:spPr>
          </c:dPt>
          <c:cat>
            <c:multiLvlStrRef>
              <c:f>Sheet1!$A$2:$A$5</c:f>
              <c:multiLvlStrCache>
                <c:ptCount val="4"/>
                <c:lvl>
                  <c:pt idx="0">
                    <c:v>Llama 3 70B</c:v>
                  </c:pt>
                  <c:pt idx="1">
                    <c:v>GPT-4</c:v>
                  </c:pt>
                  <c:pt idx="2">
                    <c:v>Claude 3.5 Sonnet</c:v>
                  </c:pt>
                  <c:pt idx="3">
                    <c:v>Professional translator</c:v>
                  </c:pt>
                </c:lvl>
              </c:multiLvlStrCache>
            </c:multiLvlStrRef>
          </c:cat>
          <c:val>
            <c:numRef>
              <c:f>Sheet1!$B$2:$B$5</c:f>
              <c:numCache>
                <c:formatCode>General</c:formatCode>
                <c:ptCount val="4"/>
                <c:pt idx="0">
                  <c:v>41</c:v>
                </c:pt>
                <c:pt idx="1">
                  <c:v>66.3</c:v>
                </c:pt>
                <c:pt idx="2">
                  <c:v>81.9</c:v>
                </c:pt>
                <c:pt idx="3">
                  <c:v>93.1</c:v>
                </c:pt>
              </c:numCache>
            </c:numRef>
          </c:val>
        </c:ser>
        <c:dLbls>
          <c:numFmt formatCode="0.0" sourceLinked="0"/>
          <c:txPr>
            <a:bodyPr/>
            <a:lstStyle/>
            <a:p>
              <a:pPr>
                <a:defRPr b="0" i="0" strike="noStrike" sz="1600" u="none">
                  <a:solidFill>
                    <a:srgbClr val="1C223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500" b="0" i="0" u="none" strike="noStrike">
                <a:solidFill>
                  <a:srgbClr val="1C2230"/>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6B7385"/>
                </a:solidFill>
                <a:latin typeface="+mn-lt"/>
              </a:defRPr>
            </a:pPr>
            <a:r>
              <a:rPr sz="1300" b="0" i="0" u="none" strike="noStrike">
                <a:solidFill>
                  <a:srgbClr val="6B7385"/>
                </a:solidFill>
                <a:latin typeface="+mn-lt"/>
              </a:rPr>
              <a:t>Emergency-room instructions whose meaning survived Google Translate</a:t>
            </a:r>
          </a:p>
        </c:rich>
      </c:tx>
      <c:layout/>
      <c:overlay val="0"/>
    </c:title>
    <c:autoTitleDeleted val="0"/>
    <c:plotArea>
      <c:layout/>
      <c:barChart>
        <c:barDir val="bar"/>
        <c:grouping val="clustered"/>
        <c:varyColors val="0"/>
        <c:ser>
          <c:idx val="0"/>
          <c:order val="0"/>
          <c:tx>
            <c:strRef>
              <c:f>Sheet1!$B$1</c:f>
              <c:strCache>
                <c:ptCount val="1"/>
                <c:pt idx="0">
                  <c:v>Meaning kept</c:v>
                </c:pt>
              </c:strCache>
            </c:strRef>
          </c:tx>
          <c:spPr>
            <a:solidFill>
              <a:srgbClr val="3E8E6E"/>
            </a:solidFill>
            <a:effectLst/>
          </c:spPr>
          <c:invertIfNegative val="0"/>
          <c:dLbls>
            <c:numFmt formatCode="General&quot;%&quot;" sourceLinked="0"/>
            <c:txPr>
              <a:bodyPr/>
              <a:lstStyle/>
              <a:p>
                <a:pPr>
                  <a:defRPr b="0" i="0" strike="noStrike" sz="1500" u="none">
                    <a:solidFill>
                      <a:srgbClr val="1C2230"/>
                    </a:solidFill>
                    <a:latin typeface="+mn-lt"/>
                  </a:defRPr>
                </a:pPr>
              </a:p>
            </c:txPr>
            <c:showLegendKey val="0"/>
            <c:showVal val="1"/>
            <c:showCatName val="0"/>
            <c:showSerName val="0"/>
            <c:showPercent val="0"/>
            <c:showBubbleSize val="0"/>
            <c:showLeaderLines val="0"/>
          </c:dLbls>
          <c:dPt>
            <c:idx val="0"/>
            <c:invertIfNegative val="0"/>
            <c:bubble3D val="0"/>
            <c:spPr>
              <a:solidFill>
                <a:srgbClr val="3E8E6E"/>
              </a:solidFill>
              <a:effectLst/>
            </c:spPr>
          </c:dPt>
          <c:dPt>
            <c:idx val="1"/>
            <c:invertIfNegative val="0"/>
            <c:bubble3D val="0"/>
            <c:spPr>
              <a:solidFill>
                <a:srgbClr val="3E8E6E"/>
              </a:solidFill>
              <a:effectLst/>
            </c:spPr>
          </c:dPt>
          <c:dPt>
            <c:idx val="2"/>
            <c:invertIfNegative val="0"/>
            <c:bubble3D val="0"/>
            <c:spPr>
              <a:solidFill>
                <a:srgbClr val="D9A441"/>
              </a:solidFill>
              <a:effectLst/>
            </c:spPr>
          </c:dPt>
          <c:dPt>
            <c:idx val="3"/>
            <c:invertIfNegative val="0"/>
            <c:bubble3D val="0"/>
            <c:spPr>
              <a:solidFill>
                <a:srgbClr val="D9A441"/>
              </a:solidFill>
              <a:effectLst/>
            </c:spPr>
          </c:dPt>
          <c:dPt>
            <c:idx val="4"/>
            <c:invertIfNegative val="0"/>
            <c:bubble3D val="0"/>
            <c:spPr>
              <a:solidFill>
                <a:srgbClr val="D9A441"/>
              </a:solidFill>
              <a:effectLst/>
            </c:spPr>
          </c:dPt>
          <c:dPt>
            <c:idx val="5"/>
            <c:invertIfNegative val="0"/>
            <c:bubble3D val="0"/>
            <c:spPr>
              <a:solidFill>
                <a:srgbClr val="C8402F"/>
              </a:solidFill>
              <a:effectLst/>
            </c:spPr>
          </c:dPt>
          <c:dPt>
            <c:idx val="6"/>
            <c:invertIfNegative val="0"/>
            <c:bubble3D val="0"/>
            <c:spPr>
              <a:solidFill>
                <a:srgbClr val="C8402F"/>
              </a:solidFill>
              <a:effectLst/>
            </c:spPr>
          </c:dPt>
          <c:cat>
            <c:multiLvlStrRef>
              <c:f>Sheet1!$A$2:$A$8</c:f>
              <c:multiLvlStrCache>
                <c:ptCount val="7"/>
                <c:lvl>
                  <c:pt idx="0">
                    <c:v>Spanish</c:v>
                  </c:pt>
                  <c:pt idx="1">
                    <c:v>Tagalog</c:v>
                  </c:pt>
                  <c:pt idx="2">
                    <c:v>Korean</c:v>
                  </c:pt>
                  <c:pt idx="3">
                    <c:v>Chinese</c:v>
                  </c:pt>
                  <c:pt idx="4">
                    <c:v>Vietnamese</c:v>
                  </c:pt>
                  <c:pt idx="5">
                    <c:v>Farsi</c:v>
                  </c:pt>
                  <c:pt idx="6">
                    <c:v>Armenian</c:v>
                  </c:pt>
                </c:lvl>
              </c:multiLvlStrCache>
            </c:multiLvlStrRef>
          </c:cat>
          <c:val>
            <c:numRef>
              <c:f>Sheet1!$B$2:$B$8</c:f>
              <c:numCache>
                <c:formatCode>General</c:formatCode>
                <c:ptCount val="7"/>
                <c:pt idx="0">
                  <c:v>94</c:v>
                </c:pt>
                <c:pt idx="1">
                  <c:v>90</c:v>
                </c:pt>
                <c:pt idx="2">
                  <c:v>82.5</c:v>
                </c:pt>
                <c:pt idx="3">
                  <c:v>81.7</c:v>
                </c:pt>
                <c:pt idx="4">
                  <c:v>77.5</c:v>
                </c:pt>
                <c:pt idx="5">
                  <c:v>67.5</c:v>
                </c:pt>
                <c:pt idx="6">
                  <c:v>55</c:v>
                </c:pt>
              </c:numCache>
            </c:numRef>
          </c:val>
        </c:ser>
        <c:dLbls>
          <c:numFmt formatCode="General&quot;%&quot;" sourceLinked="0"/>
          <c:txPr>
            <a:bodyPr/>
            <a:lstStyle/>
            <a:p>
              <a:pPr>
                <a:defRPr b="0" i="0" strike="noStrike" sz="1500" u="none">
                  <a:solidFill>
                    <a:srgbClr val="1C223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500" b="0" i="0" u="none" strike="noStrike">
                <a:solidFill>
                  <a:srgbClr val="1C2230"/>
                </a:solidFill>
                <a:latin typeface="+mn-lt"/>
              </a:defRPr>
            </a:pPr>
            <a:endParaRPr lang="en-US"/>
          </a:p>
        </c:txPr>
        <c:crossAx val="2094734552"/>
        <c:crosses val="autoZero"/>
        <c:auto val="1"/>
        <c:lblAlgn val="ctr"/>
        <c:noMultiLvlLbl val="1"/>
      </c:catAx>
      <c:valAx>
        <c:axId val="2094734552"/>
        <c:scaling>
          <c:orientation val="minMax"/>
          <c:max val="11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7385"/>
                </a:solidFill>
                <a:latin typeface="+mn-lt"/>
              </a:defRPr>
            </a:pPr>
            <a:r>
              <a:rPr sz="1200" b="0" i="0" u="none" strike="noStrike">
                <a:solidFill>
                  <a:srgbClr val="6B7385"/>
                </a:solidFill>
                <a:latin typeface="+mn-lt"/>
              </a:rPr>
              <a:t>% of sentences read almost perfectly (at most 5 mistakes per 100 characters)</a:t>
            </a:r>
          </a:p>
        </c:rich>
      </c:tx>
      <c:layout/>
      <c:overlay val="0"/>
    </c:title>
    <c:autoTitleDeleted val="0"/>
    <c:plotArea>
      <c:layout/>
      <c:barChart>
        <c:barDir val="bar"/>
        <c:grouping val="clustered"/>
        <c:varyColors val="0"/>
        <c:ser>
          <c:idx val="0"/>
          <c:order val="0"/>
          <c:tx>
            <c:strRef>
              <c:f>Sheet1!$B$1</c:f>
              <c:strCache>
                <c:ptCount val="1"/>
                <c:pt idx="0">
                  <c:v>Gemini 3.1 Flash-Lite</c:v>
                </c:pt>
              </c:strCache>
            </c:strRef>
          </c:tx>
          <c:spPr>
            <a:solidFill>
              <a:srgbClr val="2B3A55"/>
            </a:solidFill>
            <a:effectLst/>
          </c:spPr>
          <c:invertIfNegative val="0"/>
          <c:dLbls>
            <c:numFmt formatCode="0" sourceLinked="0"/>
            <c:txPr>
              <a:bodyPr/>
              <a:lstStyle/>
              <a:p>
                <a:pPr>
                  <a:defRPr b="0" i="0" strike="noStrike" sz="950" u="none">
                    <a:solidFill>
                      <a:srgbClr val="1C2230"/>
                    </a:solidFill>
                    <a:latin typeface="+mn-lt"/>
                  </a:defRPr>
                </a:pPr>
              </a:p>
            </c:txPr>
            <c:showLegendKey val="0"/>
            <c:showVal val="1"/>
            <c:showCatName val="0"/>
            <c:showSerName val="0"/>
            <c:showPercent val="0"/>
            <c:showBubbleSize val="0"/>
            <c:showLeaderLines val="0"/>
          </c:dLbls>
          <c:cat>
            <c:multiLvlStrRef>
              <c:f>Sheet1!$A$2:$A$14</c:f>
              <c:multiLvlStrCache>
                <c:ptCount val="13"/>
                <c:lvl>
                  <c:pt idx="0">
                    <c:v>Latin</c:v>
                  </c:pt>
                  <c:pt idx="1">
                    <c:v>Cyrillic</c:v>
                  </c:pt>
                  <c:pt idx="2">
                    <c:v>Devanagari (Hindi)</c:v>
                  </c:pt>
                  <c:pt idx="3">
                    <c:v>Chinese</c:v>
                  </c:pt>
                  <c:pt idx="4">
                    <c:v>Thai</c:v>
                  </c:pt>
                  <c:pt idx="5">
                    <c:v>Hebrew</c:v>
                  </c:pt>
                  <c:pt idx="6">
                    <c:v>Arabic</c:v>
                  </c:pt>
                  <c:pt idx="7">
                    <c:v>Bengali</c:v>
                  </c:pt>
                  <c:pt idx="8">
                    <c:v>Armenian</c:v>
                  </c:pt>
                  <c:pt idx="9">
                    <c:v>Burmese</c:v>
                  </c:pt>
                  <c:pt idx="10">
                    <c:v>Khmer</c:v>
                  </c:pt>
                  <c:pt idx="11">
                    <c:v>Ethiopic (Amharic)</c:v>
                  </c:pt>
                  <c:pt idx="12">
                    <c:v>Tibetan</c:v>
                  </c:pt>
                </c:lvl>
              </c:multiLvlStrCache>
            </c:multiLvlStrRef>
          </c:cat>
          <c:val>
            <c:numRef>
              <c:f>Sheet1!$B$2:$B$14</c:f>
              <c:numCache>
                <c:formatCode>General</c:formatCode>
                <c:ptCount val="13"/>
                <c:pt idx="0">
                  <c:v>95.3</c:v>
                </c:pt>
                <c:pt idx="1">
                  <c:v>88.8</c:v>
                </c:pt>
                <c:pt idx="2">
                  <c:v>93.5</c:v>
                </c:pt>
                <c:pt idx="3">
                  <c:v>85.5</c:v>
                </c:pt>
                <c:pt idx="4">
                  <c:v>68</c:v>
                </c:pt>
                <c:pt idx="5">
                  <c:v>61</c:v>
                </c:pt>
                <c:pt idx="6">
                  <c:v>58.8</c:v>
                </c:pt>
                <c:pt idx="7">
                  <c:v>63</c:v>
                </c:pt>
                <c:pt idx="8">
                  <c:v>97</c:v>
                </c:pt>
                <c:pt idx="9">
                  <c:v>32</c:v>
                </c:pt>
                <c:pt idx="10">
                  <c:v>28</c:v>
                </c:pt>
                <c:pt idx="11">
                  <c:v>19</c:v>
                </c:pt>
                <c:pt idx="12">
                  <c:v>19</c:v>
                </c:pt>
              </c:numCache>
            </c:numRef>
          </c:val>
        </c:ser>
        <c:ser>
          <c:idx val="1"/>
          <c:order val="1"/>
          <c:tx>
            <c:strRef>
              <c:f>Sheet1!$C$1</c:f>
              <c:strCache>
                <c:ptCount val="1"/>
                <c:pt idx="0">
                  <c:v>GPT-4.1</c:v>
                </c:pt>
              </c:strCache>
            </c:strRef>
          </c:tx>
          <c:spPr>
            <a:solidFill>
              <a:srgbClr val="D9A441"/>
            </a:solidFill>
            <a:effectLst/>
          </c:spPr>
          <c:invertIfNegative val="0"/>
          <c:dLbls>
            <c:numFmt formatCode="0" sourceLinked="0"/>
            <c:txPr>
              <a:bodyPr/>
              <a:lstStyle/>
              <a:p>
                <a:pPr>
                  <a:defRPr b="0" i="0" strike="noStrike" sz="950" u="none">
                    <a:solidFill>
                      <a:srgbClr val="1C2230"/>
                    </a:solidFill>
                    <a:latin typeface="+mn-lt"/>
                  </a:defRPr>
                </a:pPr>
              </a:p>
            </c:txPr>
            <c:showLegendKey val="0"/>
            <c:showVal val="1"/>
            <c:showCatName val="0"/>
            <c:showSerName val="0"/>
            <c:showPercent val="0"/>
            <c:showBubbleSize val="0"/>
            <c:showLeaderLines val="0"/>
          </c:dLbls>
          <c:cat>
            <c:multiLvlStrRef>
              <c:f>Sheet1!$A$2:$A$14</c:f>
              <c:multiLvlStrCache>
                <c:ptCount val="13"/>
                <c:lvl>
                  <c:pt idx="0">
                    <c:v>Latin</c:v>
                  </c:pt>
                  <c:pt idx="1">
                    <c:v>Cyrillic</c:v>
                  </c:pt>
                  <c:pt idx="2">
                    <c:v>Devanagari (Hindi)</c:v>
                  </c:pt>
                  <c:pt idx="3">
                    <c:v>Chinese</c:v>
                  </c:pt>
                  <c:pt idx="4">
                    <c:v>Thai</c:v>
                  </c:pt>
                  <c:pt idx="5">
                    <c:v>Hebrew</c:v>
                  </c:pt>
                  <c:pt idx="6">
                    <c:v>Arabic</c:v>
                  </c:pt>
                  <c:pt idx="7">
                    <c:v>Bengali</c:v>
                  </c:pt>
                  <c:pt idx="8">
                    <c:v>Armenian</c:v>
                  </c:pt>
                  <c:pt idx="9">
                    <c:v>Burmese</c:v>
                  </c:pt>
                  <c:pt idx="10">
                    <c:v>Khmer</c:v>
                  </c:pt>
                  <c:pt idx="11">
                    <c:v>Ethiopic (Amharic)</c:v>
                  </c:pt>
                  <c:pt idx="12">
                    <c:v>Tibetan</c:v>
                  </c:pt>
                </c:lvl>
              </c:multiLvlStrCache>
            </c:multiLvlStrRef>
          </c:cat>
          <c:val>
            <c:numRef>
              <c:f>Sheet1!$C$2:$C$14</c:f>
              <c:numCache>
                <c:formatCode>General</c:formatCode>
                <c:ptCount val="13"/>
                <c:pt idx="0">
                  <c:v>83.2</c:v>
                </c:pt>
                <c:pt idx="1">
                  <c:v>69.8</c:v>
                </c:pt>
                <c:pt idx="2">
                  <c:v>65.8</c:v>
                </c:pt>
                <c:pt idx="3">
                  <c:v>55</c:v>
                </c:pt>
                <c:pt idx="4">
                  <c:v>51</c:v>
                </c:pt>
                <c:pt idx="5">
                  <c:v>42</c:v>
                </c:pt>
                <c:pt idx="6">
                  <c:v>39.5</c:v>
                </c:pt>
                <c:pt idx="7">
                  <c:v>27</c:v>
                </c:pt>
                <c:pt idx="8">
                  <c:v>1</c:v>
                </c:pt>
                <c:pt idx="9">
                  <c:v>0</c:v>
                </c:pt>
                <c:pt idx="10">
                  <c:v>0</c:v>
                </c:pt>
                <c:pt idx="11">
                  <c:v>0</c:v>
                </c:pt>
                <c:pt idx="12">
                  <c:v>0</c:v>
                </c:pt>
              </c:numCache>
            </c:numRef>
          </c:val>
        </c:ser>
        <c:dLbls>
          <c:numFmt formatCode="0" sourceLinked="0"/>
          <c:txPr>
            <a:bodyPr/>
            <a:lstStyle/>
            <a:p>
              <a:pPr>
                <a:defRPr b="0" i="0" strike="noStrike" sz="950" u="none">
                  <a:solidFill>
                    <a:srgbClr val="1C223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C2230"/>
                </a:solidFill>
                <a:latin typeface="+mn-lt"/>
              </a:defRPr>
            </a:pPr>
            <a:endParaRPr lang="en-US"/>
          </a:p>
        </c:txPr>
        <c:crossAx val="2094734552"/>
        <c:crosses val="autoZero"/>
        <c:auto val="1"/>
        <c:lblAlgn val="ctr"/>
        <c:noMultiLvlLbl val="1"/>
      </c:catAx>
      <c:valAx>
        <c:axId val="2094734552"/>
        <c:scaling>
          <c:orientation val="minMax"/>
          <c:max val="108"/>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C22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Welcome. One hour, no machine-learning background needed: we talk about what these systems do and where they fail, not how the maths works.
- Two technologies are merging: machines that read pages (OCR, optical character recognition) and machines that translate.
- Every number in this talk comes from a published study or a documented news report; the sources are in these notes.
TIMING PLAN (about 50 slides; the language slides take about a minute each)
- 0:00 Opening, why it matters (slides 1–5)
- 0:04 Part 1, how we got here, 2012 to now (slides 6–13)
- 0:13 Part 2, where it breaks around the world (slides 14–31)
- 0:34 Part 3, the methods for doing better, and how each performs (slides 32–40)
- 0:43 Part 4, our approach, Agentic Translator (slides 41–46)
- 0:48 Live demo (slides 47–48), backup screenshots at the end
- 0:56 Close and questions
- Short on time? Skip the slides marked OPTIONAL in their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Start with a question for the room: does anyone read this? (Usually nobody does.)
- It's a typical kind of document: a supervision notice from a construction project, scanned, with a red seal stamped over the text. (This one is a fictional sample we made for testing.)
- Before anything can be translated, a machine has to read it. If the reading is wrong, the translation is a perfect translation of the wrong text.
- Next slide: what published studies find when today's AI readers meet text like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 who checks? Here is what published studies found when today's AI readers meet text they can't read cleanly. None of these outputs looks broken.
- Bengali street signs (BanglaWild, 2026, 2,535 photos): the best system read the wall slogan ছাত্র ইউনিয়ন (Student Union) as শুভ জন্মদিন (Happy Birthday) and a festival year 2025 as 2023.
- Receipts and IDs with characters blurred or covered (KIE-HVQA, 2025): models usually answer confidently instead of marking the text unreadable: "$5.00" where the first digit was covered, "15mg" for a hidden first digit, a full name where two letters were hidden.
- 18th-century English books (Vesalainen et al., 2026): a vision-LLM made fewer errors than a dedicated OCR model, but its errors are real words: "rigorously" became "merely", and old spellings were silently modernised. A spell-checker can't catch that.
- Students' handwritten maths with deliberate mistakes (Seong et al., 2026): every model quietly corrected the student in 42–66% of transcriptions; GPT-4o turned a 14/100 answer into 100/100.
- Also: on Uruguayan human-rights archive pages (2026), AI readers made fewer typos than old OCR, but sometimes added names to lists of people that were never on the page.
- Old OCR produced broken characters that anyone notices. Modern AI produces a believable answer that nobody notices. Keep that in mind for the whole talk.
Sources: Shiper et al., BanglaWild, arxiv.org/abs/2608.03884 (Table 10). He et al., "Seeing is Believing? Mitigating OCR Hallucinations in Multimodal Large Language Models", arxiv.org/abs/2506.20168 (Figs. 1–2, Table 1). Vesalainen et al., "Error Patterns in Historical OCR", arxiv.org/abs/2602.14524 (Tables 1, 6). Seong et al., "When VLMs 'Fix' Students", arxiv.org/abs/2604.22774 (Fig. 12, Fig. 14). Gardella et al., arxiv.org/abs/2607.24077 (Figs. 6–8). All preprints.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Four documented cases from four regions. Same pattern each time: a fluent machine output, and nothing to say it was wrong.
- Good morning: October 2017, a Palestinian construction worker posted a photo next to a bulldozer captioned "good morning" in Arabic. Facebook's translation showed "attack them" in Hebrew and "hurt them" in English. Police arrested and questioned him, then released him hours later.
- Kidney medicine: a 2019 study of real emergency-room discharge notes. Google Translate turned "Hold the kidney medicine until you speak to your kidney doctor" into "keep taking" it, in both Spanish and Chinese. Overall 92% of Spanish sentences and 81% of Chinese were accurate; 2% and 8% could have caused harm.
- I → we: an Afghan woman's asylum statement, machine-translated from Pashto, said "we" where she said "I", so it no longer matched her interviews. Journalism, one case, not a measured rate.
- Search your car: a Kansas trooper used Google Translate to ask a driver for consent to search. "Buscar" can mean search for or look for; a court interpreter found at least nine points where the driver didn't understand. The federal judge suppressed the evidence (US v. Cruz-Zamora, 2018).
Sources: The Jewish Chronicle, 23 Oct 2017, thejc.com/news/world/palestinian-arrested-after-posting-good-morning-on-facebook-rzbaf1fl; AFP via Inquirer, 22 Oct 2017. Khoong et al., JAMA Internal Medicine 2019, pmc.ncbi.nlm.nih.gov/articles/PMC6450297. Rest of World, 19 Apr 2023, restofworld.org/2023/ai-translation-errors-afghan-refugees-asylum. TechCrunch, 15 Jun 2018, techcrunch.com/2018/06/15/judge-says-literal-but-nonsensical-google-translation-isnt-consent-for-police-search; Criminal Legal News, Sep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Part 1: a short history from 2012, when deep learning arrived, to AI that can see a page, plus how quality is measured.
- Part 2: the longest part. Where reading and translation still break, language by language, with published numbers.
- Part 3: the methods people use to do better (more context, self-checking, teams of agents, quality scores, asking a person) and what the studies found for each.
- Part 4: our tool, built on those findings, and a live demo. If the demo misbehaves, there are backup screenshots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Machine translation and OCR are both decades old, but for most of that time they were rule books and statistics.
- Around 2012 they started learning from examples instead, and things moved fast. That's where we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Read it column by column: the two rows move in step.
- 2012–15: in 2012 a neural network called AlexNet beat everything else at recognising images by a wide margin. Computers learned to see by looking at millions of examples. In 2014 the same idea was applied to translation. By January 2015 you could point the Google Translate app at a sign and see it in English.
- 2016–19: Google moves its translator to neural networks in 2016 and reports about 60% fewer errors on major language pairs. In 2017 Google researchers publish the Transformer, the design behind every modern AI model, and DeepL launches. In 2018 Tesseract, the open-source OCR engine, switches to a neural network too; Google's own numbers had Thai errors falling from 60 to 8 per 100 characters.
- 2020–22: models get much bigger. In July 2022 Meta releases one model covering 200 languages, three quarters of them low-resource. In November 2022 ChatGPT makes translation something you ask for in plain words.
- 2023–26: in September 2023 GPT-4 learns to look at images. In 2025 a wave of vision-language models built for documents arrives. Translation agents appear: Andrew Ng's open-source translate–critique–improve agent came out in June 2024.
Sources: AlexNet: en.wikipedia.org/wiki/AlexNet (ILSVRC-2012, 15.3% top-5 error vs 26.2%); seq2seq and attention: arxiv.org/abs/1409.3215, arxiv.org/abs/1409.0473; camera translation: blog.google/products/translate/hallo-hola-ola-more-powerful-translate (14 Jan 2015); GNMT: arxiv.org/abs/1609.08144; Transformer: arxiv.org/abs/1706.03762; DeepL: techcrunch.com/2017/08/29/deepl-schools-other-online-translators-with-clever-machine-learning; Tesseract 4: github.com/tesseract-ocr/tesseract (Thai 60.5 → 7.7: Google's DAS 2016 tutorial slides, not peer-reviewed); NLLB-200: ai.meta.com/blog/nllb-200-high-quality-machine-translation; ChatGPT: openai.com/index/chatgpt; TrOCR: arxiv.org/abs/2109.10282; Donut: arxiv.org/abs/2111.15664; GPT-4V: openai.com (25 Sept 2023); Mistral OCR: mistral.ai/news/mistral-ocr; PaddleOCR-VL: arxiv.org/abs/2510.14528; translation agent: github.com/andrewyng/translation-agent.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Three kinds of numbers come up in this talk. It helps to know which is which.
- Reading: the character error rate, which I'll say as "mistakes per 100 characters". Under 1 is excellent. About 10 means a wrong letter in roughly every other word. It can go above 100 when a model loops or invents text.
- Translation by people: professional reviewers mark each error and weight it: minor 1, major 5, critical 25. That's MQM, the industry standard and what our own tool uses. Or people simply choose the better of two versions.
- Translation by machines: BLEU and chrF count overlap with one human translation; COMET is a model trained to agree with professional raters. Useful for development, but a fluent wrong sentence can score well. Later we'll see a system that topped every automatic leaderboard in 2025 and ranked far lower with human judges.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How it works, in one line: show a neural network millions of examples (letters, or sentence pairs) and it learns the patterns itself. No rule books.
- What it got right: OCR reads any font and even handwriting. Translation became fluent for the first time. Google's raters judged that more than half the errors disappeared on major pairs when it switched in 2016; Chinese still lagged.
- Where it broke: fluent and wrong. The same Google paper shows "unnerved investors" becoming "attracted investors": perfect French, opposite meaning. And "a dog walker" became "a dog sled".
- Starved of data, it doesn't say "I don't know": a 2017 study trained one on too little data and got "List of a strategy to fight against the election of leaves of Ohio" for a headline about Obama's re-election.
- Both worked in small pieces: OCR line by line (two columns get mixed), translation sentence by sentence (no idea who "he" is).
Sources: Wu et al. (Google) 2016, arxiv.org/abs/1609.08144 (abstract; Table 10 human ratings; Table 11 examples). Koehn &amp; Knowles 2017, "Six Challenges for Neural Machine Translation", arxiv.org/abs/1706.03872 (Fig.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 2018 Microsoft announced "human parity" for Chinese to English news translation: raters couldn't tell its output from professional translations.
- Läubli, Sennrich and Volk re-ran the evaluation with professional translators. Judging isolated sentences, they preferred the machine 50% to 41%, not a significant difference. Judging whole articles, they preferred the human 52% to 37%, a significant difference.
- Why: the mistakes only show across sentences. The machine called the same app three different names in one article, and pronouns and terms didn't line up.
- Lesson for the rest of the talk: judge documents, not sentences. Our tool reads the whole document before translating for exactly this reason.
- (Related: Popel et al. 2020 in Nature Communications found the Czech system CUBBITT more accurate on meaning than human translators, yet professionals still preferred the human version 56% to 32% overall.)
Sources: Läubli, Sennrich &amp; Volk, "Has Machine Translation Achieved Human Parity? A Case for Document-level Evaluation", EMNLP 2018, arxiv.org/abs/1808.07048. Hassan et al. 2018 (Microsoft), arxiv.org/abs/1803.05567. Popel et al. 2020, pmc.ncbi.nlm.nih.gov/articles/PMC7463233.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How it works: a model trained on a huge share of the internet. It translates because you ask it to, and you can ask in plain words: "formal register, British spelling, use this glossary".
- What it got right: context. Given the whole document it knows who "he" is and keeps terms consistent. In 2024 the annual translation competition found English to Spanish "close to flawless".
- Where it broke: it never says "I'm not sure". For small languages it can answer in the wrong language: in a 2023 test across 200 languages, ChatGPT answered in the requested language only 72% of the time.
- The numbers: Yan et al. 2024 had expert translators mark errors in GPT-4's output and in human translators' output on the same texts. Major errors (length-normalised): GPT-4 3.71, junior translators 3.27, senior translators 1.83. Its typical fault: too literal.
- And it can't see the page: if the OCR before it misread a word, it translates the mistake fluently.
Sources: Yan et al. 2024, "Benchmarking GPT-4 against Human Translators", arxiv.org/abs/2411.13775. Kocmi et al., WMT24 findings, aclanthology.org/2024.wmt-1.1. Robinson et al., WMT 2023, arxiv.org/abs/2309.07423.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How it works: the language model gets eyes. It looks at the page image and writes out what's there, with structure: headings, tables, reading order.
- What it got right: layout and breadth. A small 2025 model (PaddleOCR-VL, 0.9 billion parameters) claims 109 languages and topped a major document benchmark.
- Where it broke: when it can't read something, it doesn't fail visibly. GlotOCR Bench (April 2026) tested 14 current models on 158 scripts. Best model: 95.3% of Latin sentences read with at most 5 mistakes per 100 characters; 7.7% averaged over 148 less common scripts.
- Old OCR errors looked broken; new ones look right, like the examples at the start of the talk.
Sources: Kargaran et al., "GlotOCR Bench: OCR Models Still Struggle Beyond a Handful of Unicode Scripts", arxiv.org/abs/2604.12978 (Table 2, Fig. 1). Cui et al., PaddleOCR-VL, arxiv.org/abs/2510.14528.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WMT is the annual machine-translation competition; professional raters score every system on the same texts.
- 2024: Claude 3.5 Sonnet won the most language pairs (9 of 11). English to Spanish was "close to flawless". But English to Icelandic, a small European language: the professional translator scored 93, Claude 82, GPT-4 66, Llama 3 41.
- 2025: harder test sets. Gemini 2.5 Pro was on par with or better than professionals in 10 language pairs. For Maasai the best score was 9.8 out of 100, and systems often wrote Swahili instead. Asked for Egyptian Arabic, systems tended to write formal Standard Arabic.
- Also from 2025: the system that topped every automatic leaderboard ranked far lower with the human judges. Automatic scores can be gamed.
- The pattern: the more text a language has online, the better the machine. Part 2 shows why.
Sources: Kocmi et al., "Findings of the WMT24 General MT Shared Task: The LLM Era is Here but MT is Not Solved Yet", aclanthology.org/2024.wmt-1.1 (Icelandic ESA scores, Appendix D). Kocmi et al., WMT25 findings, aclanthology.org/2025.wmt-1.22.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Part two, the longest. First three overview slides: how much data each language has, what that does to translation quality, and what the script does to reading.
- Then a tour: twelve slides, about a minute each. Each one has what breaks when reading, what breaks when translating, one number from a study, and one real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AI learns languages from text, mostly scraped from the web. This is how much of that text exists, per language. Note the scale: each step to the left is ten times less.
- English is 42% of the pages in Common Crawl. Japanese, Spanish, French and Chinese are around 4–5% each. Hindi, one of the most spoken languages in the world, is 0.2%. Swahili is 0.01%. Yoruba is 0.0017%: about 25,000 English pages for every Yoruba page.
- Websites tell the same story: half are in English.
- Meta's NLLB project had 21.5 billion clean English sentences, against 3.6 billion for about 150 low-resource languages combined.
- Keep this chart in mind: almost every failure in this section lines up with it.
- (Speaker counts deliberately left out: we didn't verify them.)
Sources: Common Crawl language statistics, crawl CC-MAIN-2026-39, commoncrawl.github.io/cc-crawl-statistics/plots/languages (retrieved 13 Oct 2026). W3Techs content languages, w3techs.com/technologies/overview/content_language (12 Oct 2026). NLLB Team, "No Language Left Behind", 2022, Table 9, arxiv.org/abs/2207.04672.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cleanest comparison I know: one study took the same 20 emergency-room discharge instructions and ran them through Google Translate into seven languages. Native speakers checked whether the meaning survived.
- Spanish 94%, Tagalog 90%, Korean 82.5%, Chinese 81.7%, Vietnamese 77.5%, Farsi 67.5%, Armenian 55%. Compare with the data-gap chart.
- The errors are not subtle: ibuprofen became an "anti-tank missile" in Armenian; the blood thinner Coumadin became "soybean" in Chinese; in Farsi, "do not blow your nose" became "do not explode your nose".
- Newer tools are better but the gradient is still there. A 2025 study at a children's hospital compared Microsoft's AI translator with professional translators on 34 real discharge instructions: sections with a clinically impactful error were 7% for Spanish (same as the humans), 52% Chinese, 41% Vietnamese and 92% Somali, against 13–20% for the professionals.
- And the hopeful bit for later: in another 2025 study, an AI draft edited by a professional was as good as or better than professional translation in all six languages tested, in under half the time.
Sources: Taira et al., "A Pragmatic Assessment of Google Translate for Emergency Department Instructions", J Gen Intern Med 2021, pmc.ncbi.nlm.nih.gov/articles/PMC8606479 (Tables 2–3; data collected 2019–20). Martos et al., "Accuracy of Artificial Intelligence vs Professionally Translated Discharge Instructions", JAMA Netw Open 2025, pmc.ncbi.nlm.nih.gov/articles/PMC12444566 (Azure AI Translator). Brewster et al., npj Digital Medicine 2025, pmc.ncbi.nlm.nih.gov/articles/PMC12552660.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GlotOCR Bench (April 2026) rendered sentences in 158 of Unicode's writing systems and asked 14 current models to read them. The bars show the share of sentences each model read almost perfectly.
- Latin: 95% for the best model. Cyrillic, Devanagari and Chinese: still good. Thai, Hebrew, Arabic and Bengali: one sentence in three or more has errors. Burmese, Khmer, Amharic, Tibetan: mostly wrong. Over the 148 least common scripts the best model averaged 7.7%.
- The model matters as much as the script: Armenian 97% for Gemini, 1% for GPT-4.1. GPT-4.1 read no Amharic, Khmer or Tibetan sentence correctly. (For balance: GPT-4.1 scored 98 on Japanese and 93 on Korean on these clean lines.)
- These are clean, computer-rendered lines; real documents are harder. MDPBench (March 2026, 17 languages, 3,400 real documents) found phone photos scored on average 17.8% lower than clean digital pages, and non-Latin scripts 14% lower than Latin ones, even for the newest models.
Sources: Kargaran et al., "GlotOCR Bench", arxiv.org/abs/2604.12978 (Table 2, Table 5). Li et al., "MDPBench: A Benchmark for Multilingual Document Parsing in Real-World Scenarios", arxiv.org/abs/2603.28130 (Table 2, Sec. 4.1). Both are 2026 preprints.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thread from the opening, now with numbers. Old OCR failed visibly: garbage characters. Modern AI readers fail invisibly.
- GlotOCR Bench (2026): when models met a script they didn't know, 68.4% of outputs were confident text in a different script; only 6% were left blank. Maldivian came back as Arabic, Gujarati as Devanagari (Hindi letters), Hebrew often as Thai.
- SceneFaith (2026): signs with a deliberate misspelling next to a scene that suggests the right word. Every model sometimes wrote what it expected rather than what was printed: from 8% to 59% of cases across 15 models. Blur made it worse (GPT-5.2: 30% → 61%). Cropping the word out of the scene mostly fixed it.
- Another version of the same habit: a study replaced document text with random letters. Qwen2.5-VL-72B dropped from 98.7% to 56.8%, while a classic OCR pipeline barely moved: much of the AI's accuracy comes from guessing likely words.
- A digital fossil, if you want a story: the nonsense phrase "vegetative electron microscopy" is now in about 22 published papers. It started when OCR read across two columns of a 1950s journal; in Farsi, "scanning" and "vegetative" differ by one dot; and AI models learned it.
Sources: GlotOCR Bench, arxiv.org/abs/2604.12978 (Table 3, Sec. 5.6). Cheng et al., "When VLMs Trust Context" (SceneFaith), arxiv.org/abs/2609.34781 (Tables 1–3, 14; Fig. 2). DeepSeek-OCR critique: Liang et al., "Visual Merit or Linguistic Crutch? A Close Look at DeepSeek-OCR", arxiv.org/abs/2601.03714. The Conversation, 15 Apr 2025, theconversation.com/a-weird-phrase-is-plaguing-scientific-papers-and-we-traced-it-back-to-a-glitch-in-ai-training-data-254463; Retraction Watch, 4 Mar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Reading: thousands of distinct characters, and many differ by one short stroke: 已 already, 己 self, 巳 a zodiac sign; 未 not yet, 末 end. In the ICDAR street-sign contest data, 千 (thousand) was read as 干 (dry).
- OmniDocBench (CVPR 2025): on the same benchmark of real PDF pages almost every system reads English better than Chinese. GPT-4o's page text error was 0.144 on English pages and 0.409 on Chinese pages, about three times worse. A Chinese-built engine (PaddleOCR) beat GPT-4o on Chinese text blocks (0.055 vs 0.224): who built the reader matters.
- Translating: no tenses or plural endings, subjects and pronouns often dropped (26.55% of pronouns are dropped in Chinese dialogue), and different vocabulary in Mainland China and Taiwan.
- Real world: the 2019 emergency-room study: 81% of Chinese sentences accurate vs 92% Spanish; 8% potentially harmful vs 2%. The 2025 hospital study: 52% of Chinese sections had a clinically impactful error from the AI translator vs 20% from professionals. And remember Coumadin → soybean.
Sources: Ouyang et al., OmniDocBench, CVPR 2025, arxiv.org/abs/2412.07626 (Tables 2, 8). Real misreads (千 → 干, ボイ → ホイ): Bušta et al., E2E-MLT, arxiv.org/abs/1801.09919 (Table 7). Wang et al., "A Survey on Zero Pronoun Translation", ACL 2023, arxiv.org/abs/2305.10196 (App. Table 5). Khoong et al. 2019, pmc.ncbi.nlm.nih.gov/articles/PMC6450297. Martos et al. 2025, pmc.ncbi.nlm.nih.gov/articles/PMC12444566.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Reading Japanese: kanji, hiragana and katakana mixed in one sentence. Katakana ro, e, ka look almost exactly like the kanji for mouth, craft and power (illustrative examples). In the ICDAR street-sign data, ボイ was read as ホイ: two small dots missed.
- Vertical text is the big one. Sasagawa et al. (2025): GPT-4.1 makes about 1 mistake per 100 characters on a two-column horizontal page, and 56 per 100 on the same kind of page written vertically. GPT-5: 66. On real vertical government documents, GPT-5 scored 70 mistakes per 100.
- Translating: the subject is usually left out ("saw it yesterday": I? we? she?), and politeness levels are grammar. CoCoA-MT: given the same English, one commercial system was formal in Japanese 29% of the time, the other 74%.
- Korean: each syllable block stacks 2–4 letters; signs are often vertical. In a 2024 benchmark Claude 3.5 Sonnet scored 58.7 on Korean against 76.8 on French. Speech levels are grammatical too: 밥 먹었어 (to a friend) and 식사하셨어요 (to an elder) are both "have you eaten?". In the 2021 hospital study, Korean kept its meaning 82.5% of the time.
- Real world: Osaka Metro, March 2019: Sakaisuji Line → "Sakai Muscle Line"; Tengachaya → "World Teahouse". ITmedia found the engines got the name right inside a full sentence but not as a stand-alone label: context matters.
Sources: Sasagawa, Kurita, Kawahara, "Evaluating Multimodal LLMs on Vertically Written Japanese Text", arxiv.org/abs/2511.15059 (Tables 2–3). Nădejde et al., CoCoA-MT, arxiv.org/abs/2205.04022 (Table 4). Yang et al., CC-OCR, arxiv.org/abs/2412.02210 (Table 3). Taira et al. 2021 (above). ITmedia NEWS, 20 Mar 2019, itmedia.co.jp/news/article/1903/20/1190320091; SoraNews24, soranews24.com/2019/03/21/japanese-twitter-users-make-osaka-metros-english-translation-mistakes-into-running-joke-memes.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Reading: Vietnamese uses Latin letters, but almost every syllable carries a vowel mark and one of five tone marks. ma, má, mà, mả, mã, mạ are six different words (illustrative). A paper on restoring Vietnamese accents gives "Cô ấy rất đảm đang" (she is very capable) vs "Cô ấy rất dâm đãng" (she is very lustful): identical once the marks are gone.
- SEA-Vision (2026), document readers on 11 Southeast Asian languages: averaged over the systems tested, Vietnamese pure-text error was 0.297 against 0.096 for English. The best system (Gemini 2.5 Pro) was close to English. One reader in another benchmark decided a Vietnamese page was Chinese.
- Translating: text typed without marks (common online) is genuinely ambiguous. Pronouns are kinship words (anh older brother, chị older sister, em younger sibling) that carry age and relationship; English "you" loses all of it.
- Real world: Taira 2021: 77.5% of instructions kept their meaning. Martos 2025: 41% of Vietnamese sections with a clinically impactful error from the AI translator vs 14% from professionals.
Sources: SEA-Vision, arxiv.org/abs/2603.15409 (Table A5). Pham, Pham &amp; Le-Hong, IALP 2017, arxiv.org/abs/1709.07104 (accent example). MDPBench, arxiv.org/abs/2603.28130 (Sec. 4.1). Taira et al. 2021; Martos et al. 2025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Reading: Thai has no spaces between words, and vowels and tone marks sit above, below and around the consonant. ขาว white, ข่าว news, ข้าว rice differ by one tone mark (illustrative). Khmer and Burmese stack consonants under consonants; very little training data.
- SEA-Vision (2026), 13 document readers: average page error English 0.172, Thai 0.374, Burmese 0.484, Lao 0.579, Khmer 0.639. Some specialist tools read essentially nothing in Khmer and Lao. GlotOCR: GPT-4.1 read 0% of Khmer, Burmese and Lao sentences correctly. Google's own numbers for Tesseract on Thai: 60.5 → 7.7 mistakes per 100 characters after the 2016 neural upgrade.
- Translating: ตากลม can be split ตาก-ลม (air-dry) or ตา-กลม (round eyes), a textbook example. Thai pronouns don't mark gender: ChatGPT made 35 of 50 neutral job sentences "he".
- Real world: January 2020, Facebook rendered Xi Jinping's name from Burmese as "Mr Shithole" (say "a vulgar insult" if you prefer). Facebook said the name wasn't in its Burmese data, so the system guessed; Google Translate didn't make the mistake. Facebook apologised and paused Burmese-to-English translation.
Sources: SEA-Vision, arxiv.org/abs/2603.15409 (Tables 2, A5). GlotOCR Bench (Table 5). Ghosh &amp; Caliskan, arxiv.org/abs/2305.10510 (Table 2). ตากลม example: Damrongkamoltip et al. 2024, citing Haruechaiyasak et al. 2008. Reuters via The Wire, m.thewire.in/article/world/facebook-says-technical-error-caused-vulgar-translation-of-chinese-leaders-name; Global Voices, globalvoices.org/2020/01/20/facebook-apologizes-for-translating-chinese-leader-xi-jinpings-name-as-mr-shithole.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Reading: Indian scripts hang letters from a top bar; vowel signs go before, after, above or below; consonants fuse into hundreds of clusters (क्ष, त्र, ज्ञ, illustrative). Tamil has three different n's (ந ன ண).
- IndicVisionBench (2025), proofread book pages from Wikisource: Gemini 2.5 Flash made 1.8 mistakes per 100 characters on Marathi, 5.9 Hindi, 4.0 Bengali, 3.0 Tamil, 7.2 Telugu. GPT-4o: 35–78 on the same pages, and its error went over 100% on 13% of pages. Another 2026 benchmark found Odia scored zero for six of seven open models.
- MDPBench: Hindi vowel signs get dropped, so "Arvind" comes out as "Aravid".
- Translating: in Hindi the verb shows the speaker's gender (मैं जा रहा हूँ / जा रही हूँ, "I am going", man/woman). CoCoA-MT: 54% of English test sentences needed a gender choice in Hindi, 1% in German. Hallucinations: over 1 in 8 Tamil hallucinations in one study contained toxic text. Cost: the same text takes 7.65 times as many GPT-4 tokens in Tamil as in English.
- Real world, translation: in 2014, Google Translate turned "Your husband had a cardiac arrest" into Marathi for "an imprisonment of heart", and "Your wife needs to be ventilated" into Bengali for "your wife wind movement needed" (pre-neural system).
- Real world, reading: BanglaWild (2026), 2,535 photos of Bengali text: ছাত্র ইউনিয়ন (Student Union) → শুভ জন্মদিন (Happy Birthday); উৎসব ২০২৫ → ২০২৩.
Sources: IndicVisionBench, arxiv.org/abs/2511.04727 (Tables 4, 13). MORE (ICML 2026), arxiv.org/abs/2607.02956. MDPBench (Sec. 4.1). CoCoA-MT (Table 12). Guerreiro et al., TACL 2023, arxiv.org/abs/2303.16104. Petrov et al. 2023, arxiv.org/abs/2305.15425. Patil &amp; Davies, BMJ 2014, pmc.ncbi.nlm.nih.gov/articles/PMC4266233. Shiper et al., BanglaWild, arxiv.org/abs/2608.03884 (Table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Reading: right to left, letters join up and change shape by position, and many letters share one shape, told apart only by dots: ب ت ث ن ي (illustrative). Numbers inside the text run left to right. Two-column Arabic pages were read in the wrong column order in a 2026 benchmark.
- KITAB-Bench (ACL Findings 2025), 3,760 Arabic images: mistakes per 100 characters: Gemini 2.0 Flash about 13, GPT-4o about 31, Tesseract about 54. Some open models scored over 100: more wrong characters than the text contains. (The paper's appendix gives different totals for some models; these are its main table.) Another open-source document tool scored 1 out of 100 on Arabic in MDPBench.
- Translating: short vowels are usually not written, so كتب can be kataba "he wrote" or kutub "books" (the TARJAMAT paper's example). People write in dialects that differ a lot from formal Arabic: Google Translate scored BLEU 66 on Modern Standard Arabic, 7.7 on Mauritanian, 11.9 on Algerian. In WMT25, systems asked for Egyptian Arabic tended to write formal Arabic instead.
- Real world: the Facebook "good morning" arrest, October 2017 (from the opening).
Sources: Heakl et al., KITAB-Bench, arxiv.org/abs/2502.14949 (Table 6). Kadaoui et al., TARJAMAT, arxiv.org/abs/2308.03051 (Table 3, Sec. 5). WMT25 findings, aclanthology.org/2025.wmt-1.22. MDPBench (Table 2, Fig. 7). The JC and AFP (opening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Reading: Persian uses the Arabic alphabet plus extra dotted letters; ب پ ت ث share one skeleton and differ only in their dots. Urdu is usually printed in Nastaliq, where words hang diagonally from a sloping baseline and dots drift away from their letters.
- UTRNet (ICDAR 2023), real Urdu book scans: a purpose-built Urdu reader got 93% of characters right; modern readers designed for Latin text got 26–41%. The losses cluster on letters that differ only by dots. GPT-4o got about half of Urdu words wrong at 12-point size in another study.
- Translating: Persian او means he or she: ChatGPT made 39 of 50 neutral Farsi job sentences "he". Pashto is very low-resource: into Pashto, ChatGPT scored 20 (chrF) where Meta's specialist model scored 39. Dari kinship terms and military ranks were reported as untranslatable by the tools.
- Real world: Rest of World, April 2023: an Afghan refugee's asylum claim was denied partly because a machine translation of her Pashto statement said "we" where she said "I". This is journalism about one case; the "40%" sometimes quoted is one translator's estimate, not a measurement.
- Also Persian: the "vegetative electron microscopy" fossil: in Farsi, "scanning" and "vegetative" differ by a single dot.
Sources: Rahman et al., UTRNet, arxiv.org/abs/2306.15782 (Table 3, Fig. 2). Ghosh &amp; Caliskan 2023 (Table 2). Robinson et al. 2023 (Table 11). Taira et al. 2021 (Table 2). Rest of World, restofworld.org/2023/ai-translation-errors-afghan-refugees-asylum.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Reading: right to left, vowels usually left out, and letters that differ by a corner (ד/ר), a gap (ה/ח) or a stroke length (ו/ז/ן) (illustrative). GlotOCR: Gemini read 61% of Hebrew sentences almost perfectly, GPT-4.1 42%, one specialist model 0%. The most common wrong output script for Hebrew input was Thai.
- Old documents: on historical handwriting (CHURRO, 21 languages), the best zero-shot system got under 40% of Hebrew characters right (Azure OCR 38.6%), GPT-5 8.1%.
- Translating: without vowels one spelling is several words: ספר can be book, barber, counted or told (illustrative). Gender lives in verbs and nouns; the WinoMT paper notes that male and female "baker" are spelled identically without vowel marks. Google Translate got the gender right 76% of the time when the role matched the stereotype and 38% when it didn't: the largest gap of the eight languages tested.
Sources: GlotOCR Bench (Tables 5–6, Sec. 5.3). CHURRO, arxiv.org/abs/2509.19768 (Table 2). Stanovsky, Smith &amp; Zettlemoyer, "Evaluating Gender Bias in Machine Translation", ACL 2019, arxiv.org/abs/1906.00591 (Figure 2, Sec.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Many languages have one pronoun for he and she: Turkish o, Hungarian ő, Finnish hän, Persian u, Tagalog siya, Indonesian dia, Bengali se. English forces a choice.
- Google, 2018: about 10% of Turkish queries were gender-ambiguous; Translate had picked "he" for doctor and "she" for nurse. It started showing both versions for single sentences, then in 2020 extended this to Finnish, Hungarian and Persian; its first fix missed up to 40% of eligible queries.
- Viral Hungarian example, 2021: Ő szép → She is beautiful; Ő okos → He is clever; Ő sok pénzt keres → He makes a lot of money; Ő főz → She cooks. Pasting several sentences at once bypassed the both-genders feature.
- LLMs too: ChatGPT (2023) made 39 of 50 neutral job sentences "he" from Turkish, Persian and Tagalog, 35 from Thai, 29 from Bengali, and never used "they". With no gender cue, systems chose the male form 75–94% of the time (Sant et al. 2024).
- Reading note: Turkish dotless ı and dotted i are separate letters (illustrative): a dropped dot changes the word.
- This is exactly the kind of decision our tool turns into a question instead of a guess.
Sources: Johnson, Google Research blog, 10 Dec 2018, research.google/blog/providing-gender-specific-translations-in-google-translate; 22 Apr 2020, research.google/blog/a-scalable-approach-to-reducing-gender-bias-in-google-translate. Vanmassenhove 2024, arxiv.org/abs/2401.10016 (Table 1). Ghosh &amp; Caliskan, arxiv.org/abs/2305.10510. Sant et al. 2024, arxiv.org/abs/2407.18786.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Reading: several Cyrillic letters are pixel-identical to Latin ones (Unicode lists them as confusable). MDPBench (2026) found models outputting Cyrillic look-alikes as Latin letters: it looks right but breaks search and terminology. On 18th-century Russian, GPT-4o inserted medieval letters that had been abolished long before into 59% of files.
- MTVQA (2024), questions about text in real photos: native speakers 76% right on Russian; GPT-4o 11.5% (French: 41%). In CC-OCR, Claude 3.5 Sonnet scored 51 on Russian, its lowest language.
- Translating: past-tense verbs carry gender (я опоздал / я опоздала, illustrative). WinoMT: Google Translate got the gender right 37.7% of the time into Russian, 38.4% into Ukrainian. A 2025 study of emergency instructions: GPT-4 was right on 89% of Russian sentences vs Google's 80%, but 56% of GPT-4's Russian instruction sets still had at least one error.
- Ukrainian and Russian are close: неділя is Sunday in Ukrainian, неделя is week in Russian (illustrative). Drift from Ukrainian into Russian is widely reported, but we found no paper that measures it, so don't quote a rate.
- Real world: January 2016, Google Translate: Російська Федерація → "Mordor"; Lavrov → "sad little horse", learned from Ukrainian social media slang. Google apologised and fixed it.
Sources: Tang et al., MTVQA, arxiv.org/abs/2405.11985 (Table 2). CC-OCR, arxiv.org/abs/2412.02210. MDPBench (Sec. 4.1). Stanovsky et al. 2019 (Table 2). Kong et al., BMJ Qual Saf 2026, pmc.ncbi.nlm.nih.gov/articles/PMC12252260. RFE/RL, rferl.org/a/ukraine-russia-google-translates-funny/27468516.html; ITPro, itpro.com/strategy/25817/google-translate-glitch-brands-russia-mordor.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good news first: for big European languages machine translation is very good. WMT24 called English to Spanish "close to flawless"; a 2025 study found GPT-4o's Spanish patient instructions statistically as good as professional medical translators'.
- Reading: modern print is solved; old print isn't. Greif et al. (2025), German city directories from 1753–1870 in Fraktur: Tesseract's own Fraktur model made about 30 mistakes per 100 characters, Gemini 2.0 Flash about 1.3. Google's Ngram Viewer documents the long s (ſ) read as f, so "best" became "beft". In France's national library, about 7% of commonly searched words can miss documents because of OCR errors.
- Translating: register (du/Sie, tu/vous: one commercial system was formal in German 45.7% of the time and informal 46.0%), gender (with no cue, systems choose masculine 75–94% of the time), and regional vocabulary (Brazilian vs European Portuguese: ônibus/autocarro; Google Translate was 50% accurate on region-specific words).
- Real world: US v. Cruz-Zamora, Kansas, 2018. A court interpreter found at least nine points where the driver didn't understand; the court held that relying on Google Translate for consent to a search was not reasonable.
Sources: WMT24 findings (above). Ray et al., JAMA Pediatrics 2025, DOI 10.1001/jamapediatrics.2025.1729. Greif et al., arxiv.org/abs/2504.00414 (Table 2). Google Books Ngram Viewer info page; Chiron et al., JCDL 2017. CoCoA-MT (Table 4). Sant et al. 2024. FRMT (Riley et al. 2023). TechCrunch, techcrunch.com/2018/06/15/judge-says-literal-but-nonsensical-google-translation-isnt-consent-for-police-search.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data-gap chart in one region: Swahili 0.011% of web pages, Amharic 0.0046%, Hausa 0.003%, Yoruba 0.0017%.
- Reading: Yoruba writes tones with accents and under-dots, often left out online; ede can be five different words (the paper's example). Amharic uses the Ge'ez script: each consonant has seven vowel forms, 280+ signs. GlotOCR: GPT-4.1 read 0% of Amharic sentences correctly, Gemini 19%, the specialist dots.ocr 65%.
- Translating: Robinson et al. (2023), same sentences, ChatGPT: 71 into French, 11 into Yoruba, 10 into Amharic (chrF, 0–100). Meta's specialist model beat ChatGPT on 84% of 201 languages. Google Translate into Yoruba scored 3.7 BLEU vs 22.4 out of it, and 1.74 out of 5 for getting the tone marks right. WMT25: the best system into Maasai scored 9.8/100, often writing Swahili instead.
- Invented text: one study found translations unrelated to the source in 0.00–0.03% of sentences for high-resource languages and 11–15% for low-resource ones. In 2018, typing "dog" 19 times into Google Translate from Maori produced a doomsday prophecy; repeated "ag" from Somali produced Bible-like text.
- Real world: BMJ 2014, Google Translate, 26 languages: 57.7% of medical phrases correct overall; Swahili 10%, Portuguese 90%. Martos 2025: Somali 92% of sections with a clinically impactful error vs 13% for professionals.
Sources: Adelani et al., MT Summit 2021, arxiv.org/abs/2103.08647. GlotOCR Bench (Table 5; Ethiopic). Robinson et al., arxiv.org/abs/2309.07423 (Table 11). Guerreiro et al., TACL 2023, arxiv.org/abs/2303.16104. VICE Motherboard, 20 Jul 2018, vice.com/en/article/j5npeg/why-is-google-translate-spitting-out-sinister-religious-prophecies. Patil &amp; Davies, BMJ 2014, pmc.ncbi.nlm.nih.gov/articles/PMC4266233. Martos et al.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Three takeaways from the tour.
- Data: the languages with less text online break first, for reading and for translating. Same study, same tool: Spanish 7% risky sections, Somali 92%.
- Writing systems: anything unusual (vertical, right to left, no spaces, dots, stacked marks, rare scripts) is where reading breaks, and the choice of model matters as much as the script.
- Meaning: even with a perfect reading, the hard part of translation is unchanged. Gender the source never stated, politeness, dialects, legal terms. That's professional judgement.
- The new failure is the dangerous one: it looks right. So the realistic goal isn't a machine that's always right; it's a workflow that finds the few risky spots and puts them in front of a person. Part 3: what the research says about how to do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Part three. If plain machine translation breaks in these ways, what do people do about it? There are roughly seven families of methods, from a single prompt to teams of agents and a person in the loop.
- For each, the best published result, what it costs, and how it fails. The setups in these papers differ from ours, so read them as directions, not exact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menu, roughly in order of how much machinery each adds.
- 1 One pass: what most people use. 2 More context: same pass, better inputs. 3 Check your own work: the model critiques and fixes its draft. 4 Step by step: imitate a human translator's process. 5 Teams of agents: several AI roles. 6 Score and select: generate several versions, pick by a quality score, or use the score to flag sentences. 7 Ask the human: let a person resolve what the text can't, and accept or reject changes.
- The right-hand column is the price. Agent teams can use 5–15 times the tokens of a single call (Briva-Iglesias &amp; Dogru 2025).
- Next slides: the best result for each, and its 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One pass: Hendy et al. (Microsoft, 2023) had professionals rate a single GPT-3.5 prompt against the best systems of the annual competition. Chinese→English: 80.0 vs 77.4, as good or better. English→Icelandic: 69.2 vs 92.1; English→Hausa: 55.5 vs 80.2. Same method, opposite result, depending on the language.
- More context: Karpinska &amp; Iyyer (2023): professional translators in 18 language pairs preferred paragraph-at-a-time GPT translation over sentence-by-sentence 71% of the time, and over Google Translate 83% of the time. Sentence-level translations had 12 times more inconsistency errors.
- Your own data: Moslem et al. (2023): showing the model 5–10 of your approved past translations lifted English→Spanish from 84 to 92 (COMET), above Google (87) and DeepL (86). It wasn't enough for Kinyarwanda.
- Glossaries: WMT25 terminology task: the best system used the required term 44% of the time without the glossary and 99% with it, for single sentences. Across long finance reports with up to 1,000 glossary entries, the best stayed around 79–84%.
- Takeaway: context is the cheapest big win. Our tool reads the whole document first and puts the termbase and memory into every step.
Sources: Hendy et al., arxiv.org/abs/2302.09210 (Table 13). Karpinska &amp; Iyyer, arxiv.org/abs/2304.03245 (§5.2, Table 12). Moslem et al., EAMT 2023, arxiv.org/abs/2301.13294. Semenov et al., WMT25 Terminology findings, aclanthology.org/2025.wmt-1.30 (Tables 2, 3, 10,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Check your own work: LLMRefine (Google/UCSB, 2024): when a trained error-spotter told the model where and what the error was, refinement won 38% and lost 16% with professional raters. A generic "improve your translation" prompt lowered English→German quality (MetricX 83.1 → 78.9).
- TEaR (2024): translate, estimate, refine. One round helped; rounds 2–5 added nothing. GPT-4 flagged only 7 of 50 of its own translations as needing changes.
- Over-editing: Ki &amp; Carpuat (2024): asked to "improve" translations that reviewers had marked error-free, a 7B model made them worse (English→Russian COMET 0.92 → 0.85).
- The largest human check: Tan et al. (2026), 9 models, 7 language pairs, over a million words judged by professional vendors. Refinement mostly improved fluency (preferred 76.5% vs 2%); accuracy also improved for the model tested pairwise (50% vs 16%) but gains in error counts were small and inconsistent across models. A weaker model refining a stronger one's translation dropped quality by 9.8 points.
- Step by step: Google's research → draft → refine → proofread pipeline (Briakou et al. 2024) improved automatic scores in all 9 languages, but had no human evaluation. When Tan et al. checked with professionals, it scored below the first draft for all four models. Another 2025 study found "please translate again" did as well.
- Takeaway: one focused review round that names specific errors; then stop. That's how our review step works.
Sources: Xu et al., LLMRefine, arxiv.org/abs/2311.09336 (Tables 3–5). Feng et al., TEaR, arxiv.org/abs/2402.16379 (Tables 12, 14–15). Ki &amp; Carpuat 2024, arxiv.org/abs/2404.07851. Tan et al. 2026, arxiv.org/abs/2605.13368 (Tables 4–6). Briakou et al. 2024, "Translating Step-by-Step" (WMT24). Wu, Aycock &amp; Monz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TransAgents (2024) modelled a publishing house: CEO, editors, translator, localiser, proofreader. On Chinese web novels, US readers preferred it over the professional reference 52% to 40% (low agreement between raters). But it scored lowest of all systems on BLEU, skipped sentences, did worse on short texts, and cost $487 and 13.1 hours against $42 and 1.1 hours for one GPT-4 pass.
- Multi-agent debate (2023): two GPT-3.5s arguing beat GPT-4 on tricky sentences, 3.78 vs 3.41 out of 5 with professional raters (e.g. "eat up an enemy division"), but adding more debaters made it worse.
- Andrew Ng's translation agent (June 2024), the one that made "agentic translation" famous, publishes no scores; its README says it is "sometimes competitive with, but also sometimes worse than" commercial tools. The one independent check (two texts, about 650 words) found it about level with Google Translate at about 5 times the tokens of one GPT-4o call. Agent workflows used 5–15 times the tokens with no consistent gain.
- Ferstler et al. (2026): an elaborate agent pipeline (Claude Code with Claude Opus 4.6 plus Codex with GPT-5.4: style guide and glossary first, chunked translation, parallel reviews, acceptance gates, global revision) translated 15 novel openings. Readers couldn't reliably tell it from the human translation, but preferred the human one in 68% of close-reading comparisons, and 93% when translating into Spanish, French, Polish and Japanese. And it only narrowly beat a simple "translate the whole excerpt, then post-edit" prompt.
- Takeaway: structure helps, but the evidence doesn't support piling on agents. Spend the effort on context and on the person.
Sources: Wu et al., TransAgents, arxiv.org/abs/2405.11804 (Tables 2, 7; App. C). Liang et al., multi-agent debate, arxiv.org/abs/2305.19118. github.com/andrewyng/translation-agent (README). Briva-Iglesias &amp; Dogru 2025, arxiv.org/abs/2505.01560. Ferstler et al. 2026, arxiv.org/abs/2606.26040.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Freitag et al. (2022): generate many candidates and pick the one a neural metric expects to be best (MBR decoding). Professional MQM error scores fell 23% for English→German. Cost: lots of compute per sentence.
- Fernandes et al. (2022): picking by a reference-free quality score alone raised automatic scores but professionals found more critical errors in English→Russian: 49 → 80. Another paper found a quality score rating a hallucinated translation above the correct one.
- Zouhar, Kocmi &amp; Sachan (2025): 21 professional translators reviewing with AI pre-marked error spans found each error in 31 seconds instead of 71, and segments the AI cleared could be skipped, saving about 25% of review.
- WMT25: Shy-hunyuan-MT placed first on the automatic rankings for all but one language pair; human evaluation put it considerably lower. It had been trained on the scoring metrics themselves.
- Takeaway: use scores to route attention (review queues, flags), not as the final judge. In our tool, QA checks and an MQM score feed a review queue; a person decides.
Sources: Freitag et al., TACL 2022 (Tables 2–4). Fernandes et al., "Quality-Aware Decoding", NAACL 2022, arxiv.org/abs/2205.00978 (Table 3). Zouhar, Kocmi &amp; Sachan, arxiv.org/abs/2406.12419. Kocmi et al., WMT25 findings, aclanthology.org/2025.wmt-1.22 (p. 357, §7.3).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Pilault et al. (Google, 2023): a model that first asks one clarifying question ("what does 'it' refer to?", "formal or informal you?") got the gender right 77% of the time, better than the same model handed all the background (68%) and Google Translate (54%). Google Translate chose masculine 92% of the time on a 50/50 test set. Caveat: the person answering was simulated by another model.
- Iyer, Chen &amp; Birch (2023): on sentences built around ambiguous words, the best engine (DeepL) picked the right sense 66% of the time, Google 58%. So the ambiguity is real and frequent.
- Brewster et al. (2025): 20 discharge instructions in 6 languages (Arabic, Armenian, Bengali, Chinese, Somali, Spanish), 42 evaluators. AI alone (ChatGPT-4o) was worst for Armenian and Somali; AI draft plus a professional linguist's edit was as good as or better than professional translation in every language, preferred 46.5% vs 28.4%, in 7.1 vs 16.8 minutes.
- CHORUS (ICMI 2026): seven reviewer agents, one per error type, suggest; the translator accepts or rejects. 30 licensed translators were 33.8% faster than with a GPT chat window, with slightly higher quality and lower workload.
- Productivity varies: Terribile (2023), 90 million words at one agency: post-editing 66% faster than translating from scratch on average, from +130% (French) to −7% (Swedish).
- Takeaway: this is the strongest evidence in the whole section, and it's the core of our design.
Sources: Pilault et al., arxiv.org/abs/2301.10309 (Table 2, Fig. 6). Iyer, Chen &amp; Birch, WMT 2023 (Tables 3–4). Brewster et al. 2025, pmc.ncbi.nlm.nih.gov/articles/PMC12552660. Wang et al., CHORUS, arxiv.org/abs/2602.19016. Terribile 2023, arxiv.org/abs/2312.12660.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One slide to take a photo of. Every number is from a study with human evaluation, except row 4's automatic scores (flagged in the notes of that slide).
- Read down the risk column: one pass fails on small languages; context and glossaries are cheap and strong but miss things in long documents; self-checking plateaus; recipes and agent teams cost a lot for uneven gains; scores can be gamed.
- The most robust gains come from three things: more context (the whole document, your terms, your past translations), feedback that names a specific error, and a person who decides. Agent teams and score-maximising cost more and help less reliably.
Sources: see the five previous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OPTIONAL: skip if short on time.
- Convergence: OCR and translation used to be separate products. Now one vision model reads a scan, keeps its structure and understands it. PaddleOCR-VL (Oct 2025): 0.9 billion parameters, 109 languages, top of a major document benchmark, though with big gaps between scripts.
- Cheaper and private: olmOCR (AllenAI, 2025), a 7-billion-parameter open model, scored higher than GPT-4o on its own benchmark and reads a million pages for about $176 vs $6,240 for GPT-4o in batch mode (English only). Clients who can't send contracts to a public API can run this kind of model in-house.
- More languages, unevenly: Meta's Omnilingual MT (2026) covers about 1,600 languages, but only about 130 reach "good" quality; the staircase from the data-gap slide persists.
- And the human role shifts from typing to deciding: which reading, which term, which change. That's skilled work, and the tool should make it fast and visible.
Sources: Cui et al., PaddleOCR-VL, arxiv.org/abs/2510.14528. Poznanski et al., olmOCR, arxiv.org/abs/2502.18443 (Tables 4, 6). Omnilingual MT Team (Meta), arxiv.org/abs/2603.16309 (Section 9). Brewster et al. 2025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Part four: what we built. A document comes in, in any language, and a reviewed English translation comes out, with every change traceable.
- Built for professional translators and agencies, including people who don't read the source language. Each design choice maps to something we just saw in the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the pitch in one slide: each design choice answers a finding from parts 2 and 3.
- Plausible readings: the opening examples. Every scan pauses for a source check; the chat may only add source text that the vision model read off the page.
- Whole documents: the analysis step reads everything first, writes a brief (what the document is, who the parties are, what abbreviations mean) and picks the key terms. Translation goes page by page with the previous page as context.
- Your data: the project termbase (with "never use" variants) and translation memory go into every step; exact memory matches skip the model entirely.
- Asking: terms whose options mean different things become questions with plain-English explanations, before translating, so the first draft already uses the answer.
- One focused review: a second model reviews with MQM error categories; a refiner fixes only what it found, at most two rounds. No open-ended self-improvement loops.
- Scores point, people decide: QA checks and an MQM score produce a review queue, and every agent change is a proposal with a diff that you accept or reject.
- Note what we didn't build: a big team of agents debating each other. The evidence says context and a person are worth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Read: a vision model transcribes each page as structured text. PP-DocLayoutV3 finds pictures, charts and seals so they're kept as figures. A guarded check applies small corrections and lists doubtful ones.
- Check (you): every scan or PDF pauses. You see the page and the reading side by side and fix problems by chatting. Nothing is translated yet, so a fix costs nothing.
- Analyse: one pass over the whole document writes a brief (what the document is, who the parties are, what abbreviations mean) and picks the key terms.
- Ask (you): terms whose options differ in meaning become questions. One pause, all questions at once.
- Translate: the translation memory goes first; exact matches cost no model call. Then page by page, carrying the brief, the previous page and the agreed terms.
- Review: a second model reviews with MQM categories, a refiner fixes what it found, up to two rounds. Polish makes repeated sentences consistent and applies the termbase.
- Ready: versions saved, a quality score, and next-step buttons.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Screenshot: a Chinese inspection report, scanned. Left: the page image. Right: what the vision model read, as structured text.
- The layout model found the diagram, so it's kept as a figure and its labels are translated as a legend.
- The check after reading is guarded: a small fix inside a word is applied, but a changed number or a different word is only listed for a person.
- The source check is the key feature for scans. You don't need to read Chinese: you can see that a stamp sits over the text, or that two columns were mixed up, and say so in English.
- When the chat fixes the page, it has the OCR model read it again. Any text that didn't come from a reading is refused, and the card lists every word added or removed so you can check before accepting.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analysis reads the whole document and decides most terms itself. Only terms whose options mean different things become questions.
- Each card has the meaning in plain English, the sentence with an English gist, the options with notes, and a preselected recommendation. If you're not sure, Accept all is a safe default.
- The screenshot is a German contract term, selbstschuldnerische Bürgschaft (a guarantee where the guarantor gives up the right to make the creditor pursue the contractor first). The options really do differ in meaning, so a person should decide: a legal translator can type their own term instead of the recommendation.
- Why ask at all: Pilault et al. (2023) found a model that asks one clarifying question got gender right 77% of the time vs 54% for Google Translate; Iyer et al. (2023) found even the best engine picked the wrong sense of an ambiguous word a third of the time.
- That's the point: the agent finds the decision and frames it, and the expert makes it.
- Answers are saved to the project termbase: approved if you chose, proposed if you just accepted the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Under the agents is a translator's workbench, so this fits how LSPs already work.
- Projects hold the style guide, termbase and memory for one client.
- The termbase has forbidden variants. Using one is a QA error.
- The translation memory only learns from segments a person confirmed one by one, so it stays trustworthy.
- The segment editor works like a CAT tool: statuses, Ctrl+Enter to confirm, TM panel, term highlighting.
- Quality: automatic checks (numbers, terms, tags, consistency) and an MQM score per 1000 words, with a pass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TALK (about 30 minutes ahead)
- Start the backend, the frontend and the layout server (README, "Running it"). Check the model keys are set.
- Seed the demo projects: cd backend &amp;&amp; uv run python scripts/seed_demo.py --reset
- Pre-run fucha-baogao-scanned.pdf into the Chinese project (北区变电站改造 – UW-2291): press Continue at the check and let it finish (about 6–8 minutes). This is the finished document you show in steps 5–6.
- Pre-stage samples/vertragsauszug.pdf in the German project (Acme Energie – Umspannwerk Nord): press Continue at the check, and leave it waiting at its question. A paused question survives a server restart.
- Have the backup slides open in presenter view in case anything fails.
DURING THE DEMO (about 10 minutes): see the run sheet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PROJECT (1 min). Sidebar → 北区变电站改造 – UW-2291. Show Style guide, then Termbase: 15 terms, the red "never use" variants (乙方 is "Contractor", never "Party B"), then Translation memory. Say: this is what an LSP already has for a client; the agents use all of it.
2. UPLOAD A CHINESE SCAN (1 min). New translation → project 北区变电站改造 → file samples/review/jianli-tongzhi-shuanglan-scanned.pdf. The step bar shows Read; reading one page takes about a minute. Talk over it: a vision model reads the page, a layout model finds the seal.
3. FIX THE READING (2–3 min). It stops at Check. The message lists where to look first: the seal. Right panel: page image next to the reading. Point at the red seal over the attachments line (八、附件). Type: "Under the red seal, the attachments line (八、附件) looks misread — please read page 1 again and keep the seal out of the text. Keep the title and section headings as headings, and the running header as the header." A page fix appears, marked read again, with the words it adds or removes. Show that attachment 1 now reads 现场照片8张 (8 site photos). Accept, then Continue to translation.
   WATCH OUT: in rehearsal, "Check the pages for me" on this scan proposed a seal line with a real company's name taken from the first reading. The word list flagged the added characters. If that happens live, use it: point at the word list, click Reject, and say this is exactly why the person decides. Then type the prompt above.
4. ANSWER A QUESTION (1–2 min). Open vertragsauszug.pdf (German project), already waiting. The card explains the term in English. In rehearsal it asked about "selbstschuldnerische Bürgschaft" and recommended "payable on demand". Type "directly enforceable guarantee" in Another English term, then Continue with my 1 change. The question can differ between runs; if none appears, explain from the backup slide.
5. THE FINISHED TRANSLATION (2 min). Open the pre-run fucha-baogao-scanned.pdf. In the chat: "Translation memory: 5 segments reused (40 words, no model call)", then the reviewer's fixes as version 2. Segments tab: statuses, TM 85% match, QE scores, underlined terms (hover one). Document → Side by side.
6. EDIT, CHECK, DOWNLOAD (2 min). In the chat type: Where it says a defect "has been cleared", write "has been remedied" instead. It proposes a diff for two segments and notes that the termbase says otherwise. Accept → History shows the diff between versions. Quality → Run LQA (in rehearsal: 97.9, pass). Download → Word document.
IF SOMETHING FAILS: don't debug live. Say "let me show you the run from this morning" and jump to the Backup section; the slides follow the same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Adjust this slide to the audience; it reflects the README's known limitations.
- Models: published results (olmOCR, PaddleOCR-VL) suggest small open models can do the reading step on our own GPUs; we would confirm that on real client documents before switching. The config already supports our own vLLM servers.
- Integrations: every model request can carry custom headers, and incoming request headers can be passed through, which is the hook for client systems. CAT-tool exchange formats are the obvious next integration for agencies.
- Product: downloads are reflowed Word and Markdown today, without the original layout. It's single-user, with English as the only target.
- Ask the audience: which of these matters most for your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Recap in one line: since 2012 machines became fluent readers and translators; the studies say the next gains come from context, focused review and a person who decides. Agents read, ask and check; people decide.
- Questions. If time allows, take requests: upload one of the 21 language samples (samples/languages/)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Say: "Let me show you the run we did this morning." Then step through in order; each slide's notes say what to point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Chinese project: 15 approved terms, each with forbidden variants (red), e.g. 乙方 is "Contractor", never "Party B".
- The style guide and the translation memory (9 units) sit in the neighbouring tabs.
- The agents use all of it: prompts get the terms that occur on each page, and QA flags forbidden variants.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scanned Chinese re-inspection report, 2 pages, uploaded into the project.
- The step bar shows where the run is. Reading uses a vision model per page plus a guarded check.
- PDFs and images stop after reading, for the source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run pauses. Nothing is translated yet, so fixing the source costs nothing.
- Right: the page image and what was read, side by side. The diagram was kept as a figure.
- You can describe a problem in English, or ask the chat to check the pages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different scan: two columns and a red seal over the attachments line.
- We asked in English for the attachments line to be re-read without the seal. The chat had the vision model read the page again.
- The yellow box lists every word that would change, so you can check before accepting. Attachment 1 now says 8 site photos.
- Rehearsal note: an earlier automatic check wrote a wrong company name for the seal. The word list showed it and we rejected it. That's why the person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German contract. The analysis found one term that needs a decision: selbstschuldnerische Bürgschaft.
- The recommendation, "payable on demand", is a different legal instrument. A legal translator knows that, so we typed "directly enforceable guarantee".
- The draft then used it: "…replace the security retention with a directly enforceable guarantee issued by a credit institution authorised within the European Union."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After the answer, translation starts at once. Pages go in order so each one knows what came before.
- The memory pass runs first: exact matches are filled in with no model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Back to the Chinese report, finished.
- The chat log is the audit trail: OCR, memory reuse (5 segments, 40 words, no model call), draft v1, consistency pass, reviewer fixes in v2.
- Next steps offers the obvious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CAT-style grid, full width. Each row has its status (Draft until a person confirms), where it came from (TM 85% → MT), and an AI quality estimate.
- QA warnings sit under the row, with Fix (the agent proposes a fix) and Ignore.
- Terms from the termbase are underlined in the source; hovering shows the approved translation.
- Ctrl+Enter confirms a segment and stores it in the translation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reading view, side by side. Structure from the OCR is kept: headings, the defects table, the diagram.
- Hovering a passage lets you reference it in the chat ("make p1.6 more formal") without copying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 typed: Where it says a defect "has been cleared", write "has been remedied" instead.
- The chat found both places and proposed a diff for each. It also pointed out that the termbase lists 消缺 as "defect cleared" and offered to update it.
- Nothing is applied until you accept.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After accepting, version 3. The History tab compares v2 and v3: two segments changed, cleared → remedied.
- Every agent run and every accepted proposal is a version, so you can always see and undo what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Automatic QA: numbers, terms, tags, consistency. Here 0 errors and 6 warnings, mostly section numbers the check can't match in Chinese.
- LQA: an independent model scores the translation with MQM categories. 97.9, a pass, with one minor fluency issue explained.
- The review queue lists the lowest-scoring segments first, so a reviewer starts where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Word download of the finished report: the English text with its headings, the defects table, and the diagram.
- The diagram keeps its original pixels; the labels inside it are translated as a legend under it.
- The original page layout isn't reproduced yet; that's on the next-steps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Every step can point at a different model. Today: a small hosted Qwen model reads and reviews, Claude Haiku translates and runs the chat.
- Any OpenAI-compatible endpoint works: vLLM on our own GPUs, or a hosted provider. Switching is a config change, not code.
- Steps that look at page images (reading, the OCR check, the chat) must use a model marked as vision. The server refuses to start otherwise.
- Headers can be added to every model request, or passed through from the incoming API request, for gateways, tenant IDs and request tracing.
- Keys stay in .env. The models file is not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C22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424160" cy="173736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731520" y="3977640"/>
            <a:ext cx="9509760" cy="109728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C22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788920"/>
            <a:ext cx="10424160" cy="10058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931920"/>
            <a:ext cx="10058400" cy="73152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355080"/>
            <a:ext cx="4572000" cy="274320"/>
          </a:xfrm>
          <a:prstGeom prst="rect">
            <a:avLst/>
          </a:prstGeom>
          <a:noFill/>
          <a:ln/>
        </p:spPr>
        <p:txBody>
          <a:bodyPr wrap="square" lIns="0" tIns="0" rIns="0" bIns="0" rtlCol="0" anchor="ctr"/>
          <a:lstStyle/>
          <a:p>
            <a:pPr indent="0" marL="0">
              <a:buNone/>
            </a:pPr>
            <a:r>
              <a:rPr lang="en-US" sz="1000" dirty="0">
                <a:solidFill>
                  <a:schemeClr val="accent3"/>
                </a:solidFill>
              </a:rPr>
              <a:t>Agentic Translator · MT &amp; OCR</a:t>
            </a:r>
            <a:endParaRPr lang="en-US" sz="10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CKUP">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chemeClr val="accent1"/>
                </a:solidFill>
              </a:rPr>
              <a:t>Backup · demo screenshots from a rehearsal run</a:t>
            </a:r>
            <a:endParaRPr lang="en-US" sz="10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4.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4.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4.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4.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slideLayout" Target="../slideLayouts/slideLayout4.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4.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4.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slideLayout" Target="../slideLayouts/slideLayout4.xml"/><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slideLayout" Target="../slideLayouts/slideLayout4.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5.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5.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5.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5.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5.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5.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5.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5.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5.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5.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5.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5.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5.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424160" cy="1737360"/>
          </a:xfrm>
          <a:prstGeom prst="rect">
            <a:avLst/>
          </a:prstGeom>
          <a:noFill/>
          <a:ln/>
        </p:spPr>
        <p:txBody>
          <a:bodyPr wrap="square" lIns="0" tIns="0" rIns="0" bIns="0" rtlCol="0" anchor="b"/>
          <a:lstStyle/>
          <a:p>
            <a:pPr algn="l" indent="0" marL="0">
              <a:buNone/>
            </a:pPr>
            <a:r>
              <a:rPr lang="en-US" sz="4600" b="1" dirty="0">
                <a:solidFill>
                  <a:schemeClr val="bg1"/>
                </a:solidFill>
              </a:rPr>
              <a:t>Reading and translating any document</a:t>
            </a:r>
            <a:endParaRPr lang="en-US" sz="4600" dirty="0"/>
          </a:p>
        </p:txBody>
      </p:sp>
      <p:sp>
        <p:nvSpPr>
          <p:cNvPr id="3" name="Text 0"/>
          <p:cNvSpPr/>
          <p:nvPr>
            <p:ph idx="101" type="body" hasCustomPrompt="1"/>
          </p:nvPr>
        </p:nvSpPr>
        <p:spPr>
          <a:xfrm>
            <a:off x="731520" y="3977640"/>
            <a:ext cx="9509760" cy="1097280"/>
          </a:xfrm>
          <a:prstGeom prst="rect">
            <a:avLst/>
          </a:prstGeom>
          <a:noFill/>
          <a:ln/>
        </p:spPr>
        <p:txBody>
          <a:bodyPr wrap="square" lIns="0" tIns="0" rIns="0" bIns="0" rtlCol="0" anchor="t"/>
          <a:lstStyle/>
          <a:p>
            <a:pPr indent="0" marL="0">
              <a:buNone/>
            </a:pPr>
            <a:r>
              <a:rPr lang="en-US" sz="2000" dirty="0">
                <a:solidFill>
                  <a:schemeClr val="accent4"/>
                </a:solidFill>
              </a:rPr>
              <a:t>OCR and machine translation from deep learning to vision-LLMs: where they break around the world, which methods help, and a live demo</a:t>
            </a:r>
            <a:endParaRPr lang="en-US" sz="2000" dirty="0"/>
          </a:p>
        </p:txBody>
      </p:sp>
      <p:sp>
        <p:nvSpPr>
          <p:cNvPr id="4" name="seal"/>
          <p:cNvSpPr/>
          <p:nvPr/>
        </p:nvSpPr>
        <p:spPr>
          <a:xfrm>
            <a:off x="731520" y="1051560"/>
            <a:ext cx="777240" cy="777240"/>
          </a:xfrm>
          <a:prstGeom prst="roundRect">
            <a:avLst>
              <a:gd name="adj" fmla="val 18000"/>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02513" y="1222553"/>
            <a:ext cx="435254" cy="435254"/>
          </a:xfrm>
          <a:prstGeom prst="rect">
            <a:avLst/>
          </a:prstGeom>
        </p:spPr>
      </p:pic>
      <p:sp>
        <p:nvSpPr>
          <p:cNvPr id="6" name="Text 3"/>
          <p:cNvSpPr txBox="1"/>
          <p:nvPr/>
        </p:nvSpPr>
        <p:spPr>
          <a:xfrm>
            <a:off x="731520" y="5989320"/>
            <a:ext cx="3657600" cy="365760"/>
          </a:xfrm>
          <a:prstGeom prst="rect">
            <a:avLst/>
          </a:prstGeom>
          <a:noFill/>
          <a:ln/>
        </p:spPr>
        <p:txBody>
          <a:bodyPr wrap="square" lIns="0" tIns="0" rIns="0" bIns="0" rtlCol="0" anchor="t"/>
          <a:lstStyle/>
          <a:p>
            <a:pPr indent="0" marL="0">
              <a:buNone/>
            </a:pPr>
            <a:r>
              <a:rPr lang="en-US" sz="1400" dirty="0">
                <a:solidFill>
                  <a:schemeClr val="accent3"/>
                </a:solidFill>
              </a:rPr>
              <a:t>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What does this red seal say?</a:t>
            </a:r>
            <a:endParaRPr lang="en-US" sz="3200" dirty="0"/>
          </a:p>
        </p:txBody>
      </p:sp>
      <p:sp>
        <p:nvSpPr>
          <p:cNvPr id="3" name="Shape 1"/>
          <p:cNvSpPr/>
          <p:nvPr/>
        </p:nvSpPr>
        <p:spPr>
          <a:xfrm>
            <a:off x="530352" y="1399032"/>
            <a:ext cx="6620256" cy="4141694"/>
          </a:xfrm>
          <a:prstGeom prst="rect">
            <a:avLst/>
          </a:prstGeom>
          <a:solidFill>
            <a:schemeClr val="accent4"/>
          </a:solidFill>
          <a:ln/>
          <a:effectLst>
            <a:outerShdw sx="100000" sy="100000" kx="0" ky="0" algn="bl" rotWithShape="0" blurRad="101600" dist="38100" dir="5400000">
              <a:srgbClr val="1C2230">
                <a:alpha val="18000"/>
              </a:srgbClr>
            </a:outerShdw>
          </a:effectLst>
        </p:spPr>
      </p:sp>
      <p:pic>
        <p:nvPicPr>
          <p:cNvPr id="4" name="Image 0" descr="Screenshot of Agentic Translator">    </p:cNvPr>
          <p:cNvPicPr>
            <a:picLocks noChangeAspect="1"/>
          </p:cNvPicPr>
          <p:nvPr/>
        </p:nvPicPr>
        <p:blipFill>
          <a:blip r:embed="rId1"/>
          <a:stretch>
            <a:fillRect/>
          </a:stretch>
        </p:blipFill>
        <p:spPr>
          <a:xfrm>
            <a:off x="548640" y="1417320"/>
            <a:ext cx="6583680" cy="4105118"/>
          </a:xfrm>
          <a:prstGeom prst="rect">
            <a:avLst/>
          </a:prstGeom>
        </p:spPr>
      </p:pic>
      <p:sp>
        <p:nvSpPr>
          <p:cNvPr id="5" name="Text 2"/>
          <p:cNvSpPr txBox="1"/>
          <p:nvPr/>
        </p:nvSpPr>
        <p:spPr>
          <a:xfrm>
            <a:off x="7680960" y="1508760"/>
            <a:ext cx="3962095" cy="1463040"/>
          </a:xfrm>
          <a:prstGeom prst="rect">
            <a:avLst/>
          </a:prstGeom>
          <a:noFill/>
          <a:ln/>
        </p:spPr>
        <p:txBody>
          <a:bodyPr wrap="square" lIns="0" tIns="0" rIns="0" bIns="0" rtlCol="0" anchor="t"/>
          <a:lstStyle/>
          <a:p>
            <a:pPr indent="0" marL="0">
              <a:buNone/>
            </a:pPr>
            <a:r>
              <a:rPr lang="en-US" sz="1800" dirty="0">
                <a:solidFill>
                  <a:schemeClr val="tx1"/>
                </a:solidFill>
              </a:rPr>
              <a:t>A Chinese site-supervision notice, scanned. The seal sits on top of the attachments list and the signature.</a:t>
            </a:r>
            <a:endParaRPr lang="en-US" sz="1800" dirty="0"/>
          </a:p>
        </p:txBody>
      </p:sp>
      <p:sp>
        <p:nvSpPr>
          <p:cNvPr id="6" name="Text 3"/>
          <p:cNvSpPr txBox="1"/>
          <p:nvPr/>
        </p:nvSpPr>
        <p:spPr>
          <a:xfrm>
            <a:off x="7680960" y="3108960"/>
            <a:ext cx="3962095" cy="1097280"/>
          </a:xfrm>
          <a:prstGeom prst="rect">
            <a:avLst/>
          </a:prstGeom>
          <a:noFill/>
          <a:ln/>
        </p:spPr>
        <p:txBody>
          <a:bodyPr wrap="square" lIns="0" tIns="0" rIns="0" bIns="0" rtlCol="0" anchor="t"/>
          <a:lstStyle/>
          <a:p>
            <a:pPr indent="0" marL="0">
              <a:buNone/>
            </a:pPr>
            <a:r>
              <a:rPr lang="en-US" sz="1800" dirty="0">
                <a:solidFill>
                  <a:schemeClr val="accent3"/>
                </a:solidFill>
              </a:rPr>
              <a:t>Most people who review translations can't read it. Most clients can't either.</a:t>
            </a:r>
            <a:endParaRPr lang="en-US" sz="1800" dirty="0"/>
          </a:p>
        </p:txBody>
      </p:sp>
      <p:sp>
        <p:nvSpPr>
          <p:cNvPr id="7" name="Text 4"/>
          <p:cNvSpPr txBox="1"/>
          <p:nvPr/>
        </p:nvSpPr>
        <p:spPr>
          <a:xfrm>
            <a:off x="7680960" y="4434840"/>
            <a:ext cx="3962095" cy="109728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So who checks what the machine read?</a:t>
            </a:r>
            <a:endParaRPr lang="en-US" sz="22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Today's AI readers fail by sounding right</a:t>
            </a:r>
            <a:endParaRPr lang="en-US" sz="3200" dirty="0"/>
          </a:p>
        </p:txBody>
      </p:sp>
      <p:sp>
        <p:nvSpPr>
          <p:cNvPr id="3" name="card"/>
          <p:cNvSpPr/>
          <p:nvPr/>
        </p:nvSpPr>
        <p:spPr>
          <a:xfrm>
            <a:off x="548640" y="1371600"/>
            <a:ext cx="5394960" cy="1664208"/>
          </a:xfrm>
          <a:prstGeom prst="roundRect">
            <a:avLst>
              <a:gd name="adj" fmla="val 4396"/>
            </a:avLst>
          </a:prstGeom>
          <a:solidFill>
            <a:schemeClr val="bg2"/>
          </a:solidFill>
          <a:ln/>
        </p:spPr>
      </p:sp>
      <p:sp>
        <p:nvSpPr>
          <p:cNvPr id="4" name="seal"/>
          <p:cNvSpPr/>
          <p:nvPr/>
        </p:nvSpPr>
        <p:spPr>
          <a:xfrm>
            <a:off x="822960" y="1645920"/>
            <a:ext cx="548640" cy="548640"/>
          </a:xfrm>
          <a:prstGeom prst="roundRect">
            <a:avLst>
              <a:gd name="adj" fmla="val 18000"/>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43661" y="1766621"/>
            <a:ext cx="307238" cy="307238"/>
          </a:xfrm>
          <a:prstGeom prst="rect">
            <a:avLst/>
          </a:prstGeom>
        </p:spPr>
      </p:pic>
      <p:sp>
        <p:nvSpPr>
          <p:cNvPr id="6" name="Text 3"/>
          <p:cNvSpPr txBox="1"/>
          <p:nvPr/>
        </p:nvSpPr>
        <p:spPr>
          <a:xfrm>
            <a:off x="1554480" y="1554480"/>
            <a:ext cx="4206240"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“Student Union” → “Happy Birthday”</a:t>
            </a:r>
            <a:endParaRPr lang="en-US" sz="1700" dirty="0"/>
          </a:p>
        </p:txBody>
      </p:sp>
      <p:sp>
        <p:nvSpPr>
          <p:cNvPr id="7" name="Text 4"/>
          <p:cNvSpPr txBox="1"/>
          <p:nvPr/>
        </p:nvSpPr>
        <p:spPr>
          <a:xfrm>
            <a:off x="1554480" y="2121408"/>
            <a:ext cx="4206240" cy="274320"/>
          </a:xfrm>
          <a:prstGeom prst="rect">
            <a:avLst/>
          </a:prstGeom>
          <a:noFill/>
          <a:ln/>
        </p:spPr>
        <p:txBody>
          <a:bodyPr wrap="square" lIns="0" tIns="0" rIns="0" bIns="0" rtlCol="0" anchor="t"/>
          <a:lstStyle/>
          <a:p>
            <a:pPr indent="0" marL="0">
              <a:buNone/>
            </a:pPr>
            <a:r>
              <a:rPr lang="en-US" sz="1200" dirty="0">
                <a:solidFill>
                  <a:schemeClr val="accent3"/>
                </a:solidFill>
              </a:rPr>
              <a:t>Bengali street text · the best AI reader tested · 2026</a:t>
            </a:r>
            <a:endParaRPr lang="en-US" sz="1200" dirty="0"/>
          </a:p>
        </p:txBody>
      </p:sp>
      <p:sp>
        <p:nvSpPr>
          <p:cNvPr id="8" name="Text 5"/>
          <p:cNvSpPr txBox="1"/>
          <p:nvPr/>
        </p:nvSpPr>
        <p:spPr>
          <a:xfrm>
            <a:off x="1554480" y="2404872"/>
            <a:ext cx="4206240" cy="566928"/>
          </a:xfrm>
          <a:prstGeom prst="rect">
            <a:avLst/>
          </a:prstGeom>
          <a:noFill/>
          <a:ln/>
        </p:spPr>
        <p:txBody>
          <a:bodyPr wrap="square" lIns="0" tIns="0" rIns="0" bIns="0" rtlCol="0" anchor="t"/>
          <a:lstStyle/>
          <a:p>
            <a:pPr indent="0" marL="0">
              <a:buNone/>
            </a:pPr>
            <a:r>
              <a:rPr lang="en-US" sz="1400" dirty="0">
                <a:solidFill>
                  <a:schemeClr val="tx1"/>
                </a:solidFill>
              </a:rPr>
              <a:t>A wall slogan became a greeting, and the year 2025 became 2023.</a:t>
            </a:r>
            <a:endParaRPr lang="en-US" sz="1400" dirty="0"/>
          </a:p>
        </p:txBody>
      </p:sp>
      <p:sp>
        <p:nvSpPr>
          <p:cNvPr id="9" name="card"/>
          <p:cNvSpPr/>
          <p:nvPr/>
        </p:nvSpPr>
        <p:spPr>
          <a:xfrm>
            <a:off x="6217920" y="1371600"/>
            <a:ext cx="5394960" cy="1664208"/>
          </a:xfrm>
          <a:prstGeom prst="roundRect">
            <a:avLst>
              <a:gd name="adj" fmla="val 4396"/>
            </a:avLst>
          </a:prstGeom>
          <a:solidFill>
            <a:schemeClr val="bg2"/>
          </a:solidFill>
          <a:ln/>
        </p:spPr>
      </p:sp>
      <p:sp>
        <p:nvSpPr>
          <p:cNvPr id="10" name="seal"/>
          <p:cNvSpPr/>
          <p:nvPr/>
        </p:nvSpPr>
        <p:spPr>
          <a:xfrm>
            <a:off x="6492240" y="1645920"/>
            <a:ext cx="548640" cy="548640"/>
          </a:xfrm>
          <a:prstGeom prst="roundRect">
            <a:avLst>
              <a:gd name="adj" fmla="val 18000"/>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6612941" y="1766621"/>
            <a:ext cx="307238" cy="307238"/>
          </a:xfrm>
          <a:prstGeom prst="rect">
            <a:avLst/>
          </a:prstGeom>
        </p:spPr>
      </p:pic>
      <p:sp>
        <p:nvSpPr>
          <p:cNvPr id="12" name="Text 8"/>
          <p:cNvSpPr txBox="1"/>
          <p:nvPr/>
        </p:nvSpPr>
        <p:spPr>
          <a:xfrm>
            <a:off x="7223760" y="1554480"/>
            <a:ext cx="4206240"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“$?.00” → “$5.00”</a:t>
            </a:r>
            <a:endParaRPr lang="en-US" sz="1700" dirty="0"/>
          </a:p>
        </p:txBody>
      </p:sp>
      <p:sp>
        <p:nvSpPr>
          <p:cNvPr id="13" name="Text 9"/>
          <p:cNvSpPr txBox="1"/>
          <p:nvPr/>
        </p:nvSpPr>
        <p:spPr>
          <a:xfrm>
            <a:off x="7223760" y="2121408"/>
            <a:ext cx="4206240" cy="274320"/>
          </a:xfrm>
          <a:prstGeom prst="rect">
            <a:avLst/>
          </a:prstGeom>
          <a:noFill/>
          <a:ln/>
        </p:spPr>
        <p:txBody>
          <a:bodyPr wrap="square" lIns="0" tIns="0" rIns="0" bIns="0" rtlCol="0" anchor="t"/>
          <a:lstStyle/>
          <a:p>
            <a:pPr indent="0" marL="0">
              <a:buNone/>
            </a:pPr>
            <a:r>
              <a:rPr lang="en-US" sz="1200" dirty="0">
                <a:solidFill>
                  <a:schemeClr val="accent3"/>
                </a:solidFill>
              </a:rPr>
              <a:t>A receipt with the first digit covered · 2025</a:t>
            </a:r>
            <a:endParaRPr lang="en-US" sz="1200" dirty="0"/>
          </a:p>
        </p:txBody>
      </p:sp>
      <p:sp>
        <p:nvSpPr>
          <p:cNvPr id="14" name="Text 10"/>
          <p:cNvSpPr txBox="1"/>
          <p:nvPr/>
        </p:nvSpPr>
        <p:spPr>
          <a:xfrm>
            <a:off x="7223760" y="2404872"/>
            <a:ext cx="4206240" cy="566928"/>
          </a:xfrm>
          <a:prstGeom prst="rect">
            <a:avLst/>
          </a:prstGeom>
          <a:noFill/>
          <a:ln/>
        </p:spPr>
        <p:txBody>
          <a:bodyPr wrap="square" lIns="0" tIns="0" rIns="0" bIns="0" rtlCol="0" anchor="t"/>
          <a:lstStyle/>
          <a:p>
            <a:pPr indent="0" marL="0">
              <a:buNone/>
            </a:pPr>
            <a:r>
              <a:rPr lang="en-US" sz="1400" dirty="0">
                <a:solidFill>
                  <a:schemeClr val="tx1"/>
                </a:solidFill>
              </a:rPr>
              <a:t>Asked to read hidden characters, models wrote a number instead of “unreadable”.</a:t>
            </a:r>
            <a:endParaRPr lang="en-US" sz="1400" dirty="0"/>
          </a:p>
        </p:txBody>
      </p:sp>
      <p:sp>
        <p:nvSpPr>
          <p:cNvPr id="15" name="card"/>
          <p:cNvSpPr/>
          <p:nvPr/>
        </p:nvSpPr>
        <p:spPr>
          <a:xfrm>
            <a:off x="548640" y="3200400"/>
            <a:ext cx="5394960" cy="1664208"/>
          </a:xfrm>
          <a:prstGeom prst="roundRect">
            <a:avLst>
              <a:gd name="adj" fmla="val 4396"/>
            </a:avLst>
          </a:prstGeom>
          <a:solidFill>
            <a:schemeClr val="bg2"/>
          </a:solidFill>
          <a:ln/>
        </p:spPr>
      </p:sp>
      <p:sp>
        <p:nvSpPr>
          <p:cNvPr id="16" name="seal"/>
          <p:cNvSpPr/>
          <p:nvPr/>
        </p:nvSpPr>
        <p:spPr>
          <a:xfrm>
            <a:off x="822960" y="3474720"/>
            <a:ext cx="548640" cy="548640"/>
          </a:xfrm>
          <a:prstGeom prst="roundRect">
            <a:avLst>
              <a:gd name="adj" fmla="val 18000"/>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943661" y="3595421"/>
            <a:ext cx="307238" cy="307238"/>
          </a:xfrm>
          <a:prstGeom prst="rect">
            <a:avLst/>
          </a:prstGeom>
        </p:spPr>
      </p:pic>
      <p:sp>
        <p:nvSpPr>
          <p:cNvPr id="18" name="Text 13"/>
          <p:cNvSpPr txBox="1"/>
          <p:nvPr/>
        </p:nvSpPr>
        <p:spPr>
          <a:xfrm>
            <a:off x="1554480" y="3383280"/>
            <a:ext cx="4206240"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“rigorously enforced” → “merely enforced”</a:t>
            </a:r>
            <a:endParaRPr lang="en-US" sz="1700" dirty="0"/>
          </a:p>
        </p:txBody>
      </p:sp>
      <p:sp>
        <p:nvSpPr>
          <p:cNvPr id="19" name="Text 14"/>
          <p:cNvSpPr txBox="1"/>
          <p:nvPr/>
        </p:nvSpPr>
        <p:spPr>
          <a:xfrm>
            <a:off x="1554480" y="3950208"/>
            <a:ext cx="4206240" cy="274320"/>
          </a:xfrm>
          <a:prstGeom prst="rect">
            <a:avLst/>
          </a:prstGeom>
          <a:noFill/>
          <a:ln/>
        </p:spPr>
        <p:txBody>
          <a:bodyPr wrap="square" lIns="0" tIns="0" rIns="0" bIns="0" rtlCol="0" anchor="t"/>
          <a:lstStyle/>
          <a:p>
            <a:pPr indent="0" marL="0">
              <a:buNone/>
            </a:pPr>
            <a:r>
              <a:rPr lang="en-US" sz="1200" dirty="0">
                <a:solidFill>
                  <a:schemeClr val="accent3"/>
                </a:solidFill>
              </a:rPr>
              <a:t>18th-century English books · 2026</a:t>
            </a:r>
            <a:endParaRPr lang="en-US" sz="1200" dirty="0"/>
          </a:p>
        </p:txBody>
      </p:sp>
      <p:sp>
        <p:nvSpPr>
          <p:cNvPr id="20" name="Text 15"/>
          <p:cNvSpPr txBox="1"/>
          <p:nvPr/>
        </p:nvSpPr>
        <p:spPr>
          <a:xfrm>
            <a:off x="1554480" y="4233672"/>
            <a:ext cx="4206240" cy="566928"/>
          </a:xfrm>
          <a:prstGeom prst="rect">
            <a:avLst/>
          </a:prstGeom>
          <a:noFill/>
          <a:ln/>
        </p:spPr>
        <p:txBody>
          <a:bodyPr wrap="square" lIns="0" tIns="0" rIns="0" bIns="0" rtlCol="0" anchor="t"/>
          <a:lstStyle/>
          <a:p>
            <a:pPr indent="0" marL="0">
              <a:buNone/>
            </a:pPr>
            <a:r>
              <a:rPr lang="en-US" sz="1400" dirty="0">
                <a:solidFill>
                  <a:schemeClr val="tx1"/>
                </a:solidFill>
              </a:rPr>
              <a:t>The AI made half as many mistakes as older OCR, but its mistakes were real words.</a:t>
            </a:r>
            <a:endParaRPr lang="en-US" sz="1400" dirty="0"/>
          </a:p>
        </p:txBody>
      </p:sp>
      <p:sp>
        <p:nvSpPr>
          <p:cNvPr id="21" name="card"/>
          <p:cNvSpPr/>
          <p:nvPr/>
        </p:nvSpPr>
        <p:spPr>
          <a:xfrm>
            <a:off x="6217920" y="3200400"/>
            <a:ext cx="5394960" cy="1664208"/>
          </a:xfrm>
          <a:prstGeom prst="roundRect">
            <a:avLst>
              <a:gd name="adj" fmla="val 4396"/>
            </a:avLst>
          </a:prstGeom>
          <a:solidFill>
            <a:schemeClr val="bg2"/>
          </a:solidFill>
          <a:ln/>
        </p:spPr>
      </p:sp>
      <p:sp>
        <p:nvSpPr>
          <p:cNvPr id="22" name="seal"/>
          <p:cNvSpPr/>
          <p:nvPr/>
        </p:nvSpPr>
        <p:spPr>
          <a:xfrm>
            <a:off x="6492240" y="3474720"/>
            <a:ext cx="548640" cy="548640"/>
          </a:xfrm>
          <a:prstGeom prst="roundRect">
            <a:avLst>
              <a:gd name="adj" fmla="val 18000"/>
            </a:avLst>
          </a:prstGeom>
          <a:solidFill>
            <a:schemeClr val="accent1"/>
          </a:solidFill>
          <a:ln/>
        </p:spPr>
      </p:sp>
      <p:pic>
        <p:nvPicPr>
          <p:cNvPr id="23" name="Image 3" descr="preencoded.png">    </p:cNvPr>
          <p:cNvPicPr>
            <a:picLocks noChangeAspect="1"/>
          </p:cNvPicPr>
          <p:nvPr/>
        </p:nvPicPr>
        <p:blipFill>
          <a:blip r:embed="rId4"/>
          <a:stretch>
            <a:fillRect/>
          </a:stretch>
        </p:blipFill>
        <p:spPr>
          <a:xfrm>
            <a:off x="6612941" y="3595421"/>
            <a:ext cx="307238" cy="307238"/>
          </a:xfrm>
          <a:prstGeom prst="rect">
            <a:avLst/>
          </a:prstGeom>
        </p:spPr>
      </p:pic>
      <p:sp>
        <p:nvSpPr>
          <p:cNvPr id="24" name="Text 18"/>
          <p:cNvSpPr txBox="1"/>
          <p:nvPr/>
        </p:nvSpPr>
        <p:spPr>
          <a:xfrm>
            <a:off x="7223760" y="3383280"/>
            <a:ext cx="4206240" cy="54864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A failing answer → a perfect one</a:t>
            </a:r>
            <a:endParaRPr lang="en-US" sz="1700" dirty="0"/>
          </a:p>
        </p:txBody>
      </p:sp>
      <p:sp>
        <p:nvSpPr>
          <p:cNvPr id="25" name="Text 19"/>
          <p:cNvSpPr txBox="1"/>
          <p:nvPr/>
        </p:nvSpPr>
        <p:spPr>
          <a:xfrm>
            <a:off x="7223760" y="3950208"/>
            <a:ext cx="4206240" cy="274320"/>
          </a:xfrm>
          <a:prstGeom prst="rect">
            <a:avLst/>
          </a:prstGeom>
          <a:noFill/>
          <a:ln/>
        </p:spPr>
        <p:txBody>
          <a:bodyPr wrap="square" lIns="0" tIns="0" rIns="0" bIns="0" rtlCol="0" anchor="t"/>
          <a:lstStyle/>
          <a:p>
            <a:pPr indent="0" marL="0">
              <a:buNone/>
            </a:pPr>
            <a:r>
              <a:rPr lang="en-US" sz="1200" dirty="0">
                <a:solidFill>
                  <a:schemeClr val="accent3"/>
                </a:solidFill>
              </a:rPr>
              <a:t>Transcribing students' handwritten maths · 2026</a:t>
            </a:r>
            <a:endParaRPr lang="en-US" sz="1200" dirty="0"/>
          </a:p>
        </p:txBody>
      </p:sp>
      <p:sp>
        <p:nvSpPr>
          <p:cNvPr id="26" name="Text 20"/>
          <p:cNvSpPr txBox="1"/>
          <p:nvPr/>
        </p:nvSpPr>
        <p:spPr>
          <a:xfrm>
            <a:off x="7223760" y="4233672"/>
            <a:ext cx="4206240" cy="566928"/>
          </a:xfrm>
          <a:prstGeom prst="rect">
            <a:avLst/>
          </a:prstGeom>
          <a:noFill/>
          <a:ln/>
        </p:spPr>
        <p:txBody>
          <a:bodyPr wrap="square" lIns="0" tIns="0" rIns="0" bIns="0" rtlCol="0" anchor="t"/>
          <a:lstStyle/>
          <a:p>
            <a:pPr indent="0" marL="0">
              <a:buNone/>
            </a:pPr>
            <a:r>
              <a:rPr lang="en-US" sz="1400" dirty="0">
                <a:solidFill>
                  <a:schemeClr val="tx1"/>
                </a:solidFill>
              </a:rPr>
              <a:t>GPT-4o silently corrected the student's working: 14/100 became 100/100.</a:t>
            </a:r>
            <a:endParaRPr lang="en-US" sz="1400" dirty="0"/>
          </a:p>
        </p:txBody>
      </p:sp>
      <p:sp>
        <p:nvSpPr>
          <p:cNvPr id="27" name="card"/>
          <p:cNvSpPr/>
          <p:nvPr/>
        </p:nvSpPr>
        <p:spPr>
          <a:xfrm>
            <a:off x="548640" y="5120640"/>
            <a:ext cx="11094415" cy="914400"/>
          </a:xfrm>
          <a:prstGeom prst="roundRect">
            <a:avLst>
              <a:gd name="adj" fmla="val 8000"/>
            </a:avLst>
          </a:prstGeom>
          <a:solidFill>
            <a:schemeClr val="tx1"/>
          </a:solidFill>
          <a:ln/>
        </p:spPr>
      </p:sp>
      <p:sp>
        <p:nvSpPr>
          <p:cNvPr id="28" name="Text 22"/>
          <p:cNvSpPr txBox="1"/>
          <p:nvPr/>
        </p:nvSpPr>
        <p:spPr>
          <a:xfrm>
            <a:off x="868680" y="5120640"/>
            <a:ext cx="10454335" cy="914400"/>
          </a:xfrm>
          <a:prstGeom prst="rect">
            <a:avLst/>
          </a:prstGeom>
          <a:noFill/>
          <a:ln/>
        </p:spPr>
        <p:txBody>
          <a:bodyPr wrap="square" lIns="0" tIns="0" rIns="0" bIns="0" rtlCol="0" anchor="ctr"/>
          <a:lstStyle/>
          <a:p>
            <a:pPr indent="0" marL="0">
              <a:buNone/>
            </a:pPr>
            <a:r>
              <a:rPr lang="en-US" sz="1800" dirty="0">
                <a:solidFill>
                  <a:schemeClr val="bg1"/>
                </a:solidFill>
                <a:latin typeface="Cambria" pitchFamily="34" charset="0"/>
                <a:ea typeface="Cambria" pitchFamily="34" charset="-122"/>
                <a:cs typeface="Cambria" pitchFamily="34" charset="-120"/>
              </a:rPr>
              <a:t>Old OCR failed with garbage, which anyone notices. </a:t>
            </a:r>
            <a:pPr indent="0" marL="0">
              <a:buNone/>
            </a:pPr>
            <a:r>
              <a:rPr lang="en-US" sz="1800" b="1" dirty="0">
                <a:solidFill>
                  <a:srgbClr val="F08A7C"/>
                </a:solidFill>
                <a:latin typeface="Cambria" pitchFamily="34" charset="0"/>
                <a:ea typeface="Cambria" pitchFamily="34" charset="-122"/>
                <a:cs typeface="Cambria" pitchFamily="34" charset="-120"/>
              </a:rPr>
              <a:t>Today it fails with something plausible. That's the thread through this talk.</a:t>
            </a:r>
            <a:endParaRPr lang="en-US" sz="1800" dirty="0"/>
          </a:p>
        </p:txBody>
      </p:sp>
      <p:sp>
        <p:nvSpPr>
          <p:cNvPr id="29" name="Text 23"/>
          <p:cNvSpPr txBox="1"/>
          <p:nvPr/>
        </p:nvSpPr>
        <p:spPr>
          <a:xfrm>
            <a:off x="548640" y="6053328"/>
            <a:ext cx="10271455" cy="256032"/>
          </a:xfrm>
          <a:prstGeom prst="rect">
            <a:avLst/>
          </a:prstGeom>
          <a:noFill/>
          <a:ln/>
        </p:spPr>
        <p:txBody>
          <a:bodyPr wrap="square" lIns="0" tIns="0" rIns="0" bIns="0" rtlCol="0" anchor="t"/>
          <a:lstStyle/>
          <a:p>
            <a:pPr indent="0" marL="0">
              <a:buNone/>
            </a:pPr>
            <a:r>
              <a:rPr lang="en-US" sz="950" dirty="0">
                <a:solidFill>
                  <a:schemeClr val="accent3"/>
                </a:solidFill>
              </a:rPr>
              <a:t>BanglaWild 2026 · KIE-HVQA (He et al.) 2025 · Vesalainen et al. 2026 · Seong et al. 2026</a:t>
            </a:r>
            <a:endParaRPr lang="en-US" sz="95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When translation goes wrong, people pay</a:t>
            </a:r>
            <a:endParaRPr lang="en-US" sz="3200" dirty="0"/>
          </a:p>
        </p:txBody>
      </p:sp>
      <p:sp>
        <p:nvSpPr>
          <p:cNvPr id="3" name="card"/>
          <p:cNvSpPr/>
          <p:nvPr/>
        </p:nvSpPr>
        <p:spPr>
          <a:xfrm>
            <a:off x="548640" y="1371600"/>
            <a:ext cx="5394960" cy="1874520"/>
          </a:xfrm>
          <a:prstGeom prst="roundRect">
            <a:avLst>
              <a:gd name="adj" fmla="val 3902"/>
            </a:avLst>
          </a:prstGeom>
          <a:solidFill>
            <a:schemeClr val="bg2"/>
          </a:solidFill>
          <a:ln/>
        </p:spPr>
      </p:sp>
      <p:sp>
        <p:nvSpPr>
          <p:cNvPr id="4" name="seal"/>
          <p:cNvSpPr/>
          <p:nvPr/>
        </p:nvSpPr>
        <p:spPr>
          <a:xfrm>
            <a:off x="822960" y="1645920"/>
            <a:ext cx="548640" cy="548640"/>
          </a:xfrm>
          <a:prstGeom prst="roundRect">
            <a:avLst>
              <a:gd name="adj" fmla="val 18000"/>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43661" y="1766621"/>
            <a:ext cx="307238" cy="307238"/>
          </a:xfrm>
          <a:prstGeom prst="rect">
            <a:avLst/>
          </a:prstGeom>
        </p:spPr>
      </p:pic>
      <p:sp>
        <p:nvSpPr>
          <p:cNvPr id="6" name="Text 3"/>
          <p:cNvSpPr txBox="1"/>
          <p:nvPr/>
        </p:nvSpPr>
        <p:spPr>
          <a:xfrm>
            <a:off x="1554480" y="1572768"/>
            <a:ext cx="4206240" cy="68580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“Good morning” → “attack them”</a:t>
            </a:r>
            <a:endParaRPr lang="en-US" sz="1700" dirty="0"/>
          </a:p>
        </p:txBody>
      </p:sp>
      <p:sp>
        <p:nvSpPr>
          <p:cNvPr id="7" name="Text 4"/>
          <p:cNvSpPr txBox="1"/>
          <p:nvPr/>
        </p:nvSpPr>
        <p:spPr>
          <a:xfrm>
            <a:off x="1554480" y="2258568"/>
            <a:ext cx="4206240" cy="274320"/>
          </a:xfrm>
          <a:prstGeom prst="rect">
            <a:avLst/>
          </a:prstGeom>
          <a:noFill/>
          <a:ln/>
        </p:spPr>
        <p:txBody>
          <a:bodyPr wrap="square" lIns="0" tIns="0" rIns="0" bIns="0" rtlCol="0" anchor="t"/>
          <a:lstStyle/>
          <a:p>
            <a:pPr indent="0" marL="0">
              <a:buNone/>
            </a:pPr>
            <a:r>
              <a:rPr lang="en-US" sz="1200" dirty="0">
                <a:solidFill>
                  <a:schemeClr val="accent3"/>
                </a:solidFill>
              </a:rPr>
              <a:t>Arabic → Hebrew · Facebook · Israel, 2017</a:t>
            </a:r>
            <a:endParaRPr lang="en-US" sz="1200" dirty="0"/>
          </a:p>
        </p:txBody>
      </p:sp>
      <p:sp>
        <p:nvSpPr>
          <p:cNvPr id="8" name="Text 5"/>
          <p:cNvSpPr txBox="1"/>
          <p:nvPr/>
        </p:nvSpPr>
        <p:spPr>
          <a:xfrm>
            <a:off x="1554480" y="2560320"/>
            <a:ext cx="4206240" cy="640080"/>
          </a:xfrm>
          <a:prstGeom prst="rect">
            <a:avLst/>
          </a:prstGeom>
          <a:noFill/>
          <a:ln/>
        </p:spPr>
        <p:txBody>
          <a:bodyPr wrap="square" lIns="0" tIns="0" rIns="0" bIns="0" rtlCol="0" anchor="t"/>
          <a:lstStyle/>
          <a:p>
            <a:pPr indent="0" marL="0">
              <a:buNone/>
            </a:pPr>
            <a:r>
              <a:rPr lang="en-US" sz="1400" dirty="0">
                <a:solidFill>
                  <a:schemeClr val="tx1"/>
                </a:solidFill>
              </a:rPr>
              <a:t>A worker's photo caption was auto-translated. He was arrested before anyone who reads Arabic looked at it.</a:t>
            </a:r>
            <a:endParaRPr lang="en-US" sz="1400" dirty="0"/>
          </a:p>
        </p:txBody>
      </p:sp>
      <p:sp>
        <p:nvSpPr>
          <p:cNvPr id="9" name="card"/>
          <p:cNvSpPr/>
          <p:nvPr/>
        </p:nvSpPr>
        <p:spPr>
          <a:xfrm>
            <a:off x="6217920" y="1371600"/>
            <a:ext cx="5394960" cy="1874520"/>
          </a:xfrm>
          <a:prstGeom prst="roundRect">
            <a:avLst>
              <a:gd name="adj" fmla="val 3902"/>
            </a:avLst>
          </a:prstGeom>
          <a:solidFill>
            <a:schemeClr val="bg2"/>
          </a:solidFill>
          <a:ln/>
        </p:spPr>
      </p:sp>
      <p:sp>
        <p:nvSpPr>
          <p:cNvPr id="10" name="seal"/>
          <p:cNvSpPr/>
          <p:nvPr/>
        </p:nvSpPr>
        <p:spPr>
          <a:xfrm>
            <a:off x="6492240" y="1645920"/>
            <a:ext cx="548640" cy="548640"/>
          </a:xfrm>
          <a:prstGeom prst="roundRect">
            <a:avLst>
              <a:gd name="adj" fmla="val 18000"/>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6612941" y="1766621"/>
            <a:ext cx="307238" cy="307238"/>
          </a:xfrm>
          <a:prstGeom prst="rect">
            <a:avLst/>
          </a:prstGeom>
        </p:spPr>
      </p:pic>
      <p:sp>
        <p:nvSpPr>
          <p:cNvPr id="12" name="Text 8"/>
          <p:cNvSpPr txBox="1"/>
          <p:nvPr/>
        </p:nvSpPr>
        <p:spPr>
          <a:xfrm>
            <a:off x="7223760" y="1572768"/>
            <a:ext cx="4206240" cy="68580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“Hold the kidney medicine” → “keep taking it”</a:t>
            </a:r>
            <a:endParaRPr lang="en-US" sz="1700" dirty="0"/>
          </a:p>
        </p:txBody>
      </p:sp>
      <p:sp>
        <p:nvSpPr>
          <p:cNvPr id="13" name="Text 9"/>
          <p:cNvSpPr txBox="1"/>
          <p:nvPr/>
        </p:nvSpPr>
        <p:spPr>
          <a:xfrm>
            <a:off x="7223760" y="2258568"/>
            <a:ext cx="4206240" cy="274320"/>
          </a:xfrm>
          <a:prstGeom prst="rect">
            <a:avLst/>
          </a:prstGeom>
          <a:noFill/>
          <a:ln/>
        </p:spPr>
        <p:txBody>
          <a:bodyPr wrap="square" lIns="0" tIns="0" rIns="0" bIns="0" rtlCol="0" anchor="t"/>
          <a:lstStyle/>
          <a:p>
            <a:pPr indent="0" marL="0">
              <a:buNone/>
            </a:pPr>
            <a:r>
              <a:rPr lang="en-US" sz="1200" dirty="0">
                <a:solidFill>
                  <a:schemeClr val="accent3"/>
                </a:solidFill>
              </a:rPr>
              <a:t>Google Translate · Spanish and Chinese · hospital study, 2019</a:t>
            </a:r>
            <a:endParaRPr lang="en-US" sz="1200" dirty="0"/>
          </a:p>
        </p:txBody>
      </p:sp>
      <p:sp>
        <p:nvSpPr>
          <p:cNvPr id="14" name="Text 10"/>
          <p:cNvSpPr txBox="1"/>
          <p:nvPr/>
        </p:nvSpPr>
        <p:spPr>
          <a:xfrm>
            <a:off x="7223760" y="2560320"/>
            <a:ext cx="4206240" cy="640080"/>
          </a:xfrm>
          <a:prstGeom prst="rect">
            <a:avLst/>
          </a:prstGeom>
          <a:noFill/>
          <a:ln/>
        </p:spPr>
        <p:txBody>
          <a:bodyPr wrap="square" lIns="0" tIns="0" rIns="0" bIns="0" rtlCol="0" anchor="t"/>
          <a:lstStyle/>
          <a:p>
            <a:pPr indent="0" marL="0">
              <a:buNone/>
            </a:pPr>
            <a:r>
              <a:rPr lang="en-US" sz="1400" dirty="0">
                <a:solidFill>
                  <a:schemeClr val="tx1"/>
                </a:solidFill>
              </a:rPr>
              <a:t>Reviewers rated it life-threatening. “Hold” means pause.</a:t>
            </a:r>
            <a:endParaRPr lang="en-US" sz="1400" dirty="0"/>
          </a:p>
        </p:txBody>
      </p:sp>
      <p:sp>
        <p:nvSpPr>
          <p:cNvPr id="15" name="card"/>
          <p:cNvSpPr/>
          <p:nvPr/>
        </p:nvSpPr>
        <p:spPr>
          <a:xfrm>
            <a:off x="548640" y="3429000"/>
            <a:ext cx="5394960" cy="1874520"/>
          </a:xfrm>
          <a:prstGeom prst="roundRect">
            <a:avLst>
              <a:gd name="adj" fmla="val 3902"/>
            </a:avLst>
          </a:prstGeom>
          <a:solidFill>
            <a:schemeClr val="bg2"/>
          </a:solidFill>
          <a:ln/>
        </p:spPr>
      </p:sp>
      <p:sp>
        <p:nvSpPr>
          <p:cNvPr id="16" name="seal"/>
          <p:cNvSpPr/>
          <p:nvPr/>
        </p:nvSpPr>
        <p:spPr>
          <a:xfrm>
            <a:off x="822960" y="3703320"/>
            <a:ext cx="548640" cy="548640"/>
          </a:xfrm>
          <a:prstGeom prst="roundRect">
            <a:avLst>
              <a:gd name="adj" fmla="val 18000"/>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943661" y="3824021"/>
            <a:ext cx="307238" cy="307238"/>
          </a:xfrm>
          <a:prstGeom prst="rect">
            <a:avLst/>
          </a:prstGeom>
        </p:spPr>
      </p:pic>
      <p:sp>
        <p:nvSpPr>
          <p:cNvPr id="18" name="Text 13"/>
          <p:cNvSpPr txBox="1"/>
          <p:nvPr/>
        </p:nvSpPr>
        <p:spPr>
          <a:xfrm>
            <a:off x="1554480" y="3630168"/>
            <a:ext cx="4206240" cy="68580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“I” → “we”</a:t>
            </a:r>
            <a:endParaRPr lang="en-US" sz="1700" dirty="0"/>
          </a:p>
        </p:txBody>
      </p:sp>
      <p:sp>
        <p:nvSpPr>
          <p:cNvPr id="19" name="Text 14"/>
          <p:cNvSpPr txBox="1"/>
          <p:nvPr/>
        </p:nvSpPr>
        <p:spPr>
          <a:xfrm>
            <a:off x="1554480" y="4315968"/>
            <a:ext cx="4206240" cy="274320"/>
          </a:xfrm>
          <a:prstGeom prst="rect">
            <a:avLst/>
          </a:prstGeom>
          <a:noFill/>
          <a:ln/>
        </p:spPr>
        <p:txBody>
          <a:bodyPr wrap="square" lIns="0" tIns="0" rIns="0" bIns="0" rtlCol="0" anchor="t"/>
          <a:lstStyle/>
          <a:p>
            <a:pPr indent="0" marL="0">
              <a:buNone/>
            </a:pPr>
            <a:r>
              <a:rPr lang="en-US" sz="1200" dirty="0">
                <a:solidFill>
                  <a:schemeClr val="accent3"/>
                </a:solidFill>
              </a:rPr>
              <a:t>Pashto · an asylum statement · USA, 2023</a:t>
            </a:r>
            <a:endParaRPr lang="en-US" sz="1200" dirty="0"/>
          </a:p>
        </p:txBody>
      </p:sp>
      <p:sp>
        <p:nvSpPr>
          <p:cNvPr id="20" name="Text 15"/>
          <p:cNvSpPr txBox="1"/>
          <p:nvPr/>
        </p:nvSpPr>
        <p:spPr>
          <a:xfrm>
            <a:off x="1554480" y="4617720"/>
            <a:ext cx="4206240" cy="640080"/>
          </a:xfrm>
          <a:prstGeom prst="rect">
            <a:avLst/>
          </a:prstGeom>
          <a:noFill/>
          <a:ln/>
        </p:spPr>
        <p:txBody>
          <a:bodyPr wrap="square" lIns="0" tIns="0" rIns="0" bIns="0" rtlCol="0" anchor="t"/>
          <a:lstStyle/>
          <a:p>
            <a:pPr indent="0" marL="0">
              <a:buNone/>
            </a:pPr>
            <a:r>
              <a:rPr lang="en-US" sz="1400" dirty="0">
                <a:solidFill>
                  <a:schemeClr val="tx1"/>
                </a:solidFill>
              </a:rPr>
              <a:t>Her written story no longer matched her interview. The claim was denied.</a:t>
            </a:r>
            <a:endParaRPr lang="en-US" sz="1400" dirty="0"/>
          </a:p>
        </p:txBody>
      </p:sp>
      <p:sp>
        <p:nvSpPr>
          <p:cNvPr id="21" name="card"/>
          <p:cNvSpPr/>
          <p:nvPr/>
        </p:nvSpPr>
        <p:spPr>
          <a:xfrm>
            <a:off x="6217920" y="3429000"/>
            <a:ext cx="5394960" cy="1874520"/>
          </a:xfrm>
          <a:prstGeom prst="roundRect">
            <a:avLst>
              <a:gd name="adj" fmla="val 3902"/>
            </a:avLst>
          </a:prstGeom>
          <a:solidFill>
            <a:schemeClr val="bg2"/>
          </a:solidFill>
          <a:ln/>
        </p:spPr>
      </p:sp>
      <p:sp>
        <p:nvSpPr>
          <p:cNvPr id="22" name="seal"/>
          <p:cNvSpPr/>
          <p:nvPr/>
        </p:nvSpPr>
        <p:spPr>
          <a:xfrm>
            <a:off x="6492240" y="3703320"/>
            <a:ext cx="548640" cy="548640"/>
          </a:xfrm>
          <a:prstGeom prst="roundRect">
            <a:avLst>
              <a:gd name="adj" fmla="val 18000"/>
            </a:avLst>
          </a:prstGeom>
          <a:solidFill>
            <a:schemeClr val="accent1"/>
          </a:solidFill>
          <a:ln/>
        </p:spPr>
      </p:sp>
      <p:pic>
        <p:nvPicPr>
          <p:cNvPr id="23" name="Image 3" descr="preencoded.png">    </p:cNvPr>
          <p:cNvPicPr>
            <a:picLocks noChangeAspect="1"/>
          </p:cNvPicPr>
          <p:nvPr/>
        </p:nvPicPr>
        <p:blipFill>
          <a:blip r:embed="rId4"/>
          <a:stretch>
            <a:fillRect/>
          </a:stretch>
        </p:blipFill>
        <p:spPr>
          <a:xfrm>
            <a:off x="6612941" y="3824021"/>
            <a:ext cx="307238" cy="307238"/>
          </a:xfrm>
          <a:prstGeom prst="rect">
            <a:avLst/>
          </a:prstGeom>
        </p:spPr>
      </p:pic>
      <p:sp>
        <p:nvSpPr>
          <p:cNvPr id="24" name="Text 18"/>
          <p:cNvSpPr txBox="1"/>
          <p:nvPr/>
        </p:nvSpPr>
        <p:spPr>
          <a:xfrm>
            <a:off x="7223760" y="3630168"/>
            <a:ext cx="4206240" cy="685800"/>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“Can I search your car?” → “Can I find the car?”</a:t>
            </a:r>
            <a:endParaRPr lang="en-US" sz="1700" dirty="0"/>
          </a:p>
        </p:txBody>
      </p:sp>
      <p:sp>
        <p:nvSpPr>
          <p:cNvPr id="25" name="Text 19"/>
          <p:cNvSpPr txBox="1"/>
          <p:nvPr/>
        </p:nvSpPr>
        <p:spPr>
          <a:xfrm>
            <a:off x="7223760" y="4315968"/>
            <a:ext cx="4206240" cy="274320"/>
          </a:xfrm>
          <a:prstGeom prst="rect">
            <a:avLst/>
          </a:prstGeom>
          <a:noFill/>
          <a:ln/>
        </p:spPr>
        <p:txBody>
          <a:bodyPr wrap="square" lIns="0" tIns="0" rIns="0" bIns="0" rtlCol="0" anchor="t"/>
          <a:lstStyle/>
          <a:p>
            <a:pPr indent="0" marL="0">
              <a:buNone/>
            </a:pPr>
            <a:r>
              <a:rPr lang="en-US" sz="1200" dirty="0">
                <a:solidFill>
                  <a:schemeClr val="accent3"/>
                </a:solidFill>
              </a:rPr>
              <a:t>Spanish · a police stop · Kansas, 2018</a:t>
            </a:r>
            <a:endParaRPr lang="en-US" sz="1200" dirty="0"/>
          </a:p>
        </p:txBody>
      </p:sp>
      <p:sp>
        <p:nvSpPr>
          <p:cNvPr id="26" name="Text 20"/>
          <p:cNvSpPr txBox="1"/>
          <p:nvPr/>
        </p:nvSpPr>
        <p:spPr>
          <a:xfrm>
            <a:off x="7223760" y="4617720"/>
            <a:ext cx="4206240" cy="640080"/>
          </a:xfrm>
          <a:prstGeom prst="rect">
            <a:avLst/>
          </a:prstGeom>
          <a:noFill/>
          <a:ln/>
        </p:spPr>
        <p:txBody>
          <a:bodyPr wrap="square" lIns="0" tIns="0" rIns="0" bIns="0" rtlCol="0" anchor="t"/>
          <a:lstStyle/>
          <a:p>
            <a:pPr indent="0" marL="0">
              <a:buNone/>
            </a:pPr>
            <a:r>
              <a:rPr lang="en-US" sz="1400" dirty="0">
                <a:solidFill>
                  <a:schemeClr val="tx1"/>
                </a:solidFill>
              </a:rPr>
              <a:t>The judge ruled the driver hadn't consented and threw out the evidence.</a:t>
            </a:r>
            <a:endParaRPr lang="en-US" sz="1400" dirty="0"/>
          </a:p>
        </p:txBody>
      </p:sp>
      <p:sp>
        <p:nvSpPr>
          <p:cNvPr id="27" name="card"/>
          <p:cNvSpPr/>
          <p:nvPr/>
        </p:nvSpPr>
        <p:spPr>
          <a:xfrm>
            <a:off x="548640" y="5486400"/>
            <a:ext cx="11094415" cy="548640"/>
          </a:xfrm>
          <a:prstGeom prst="roundRect">
            <a:avLst>
              <a:gd name="adj" fmla="val 13333"/>
            </a:avLst>
          </a:prstGeom>
          <a:solidFill>
            <a:schemeClr val="tx1"/>
          </a:solidFill>
          <a:ln/>
        </p:spPr>
      </p:sp>
      <p:sp>
        <p:nvSpPr>
          <p:cNvPr id="28" name="Text 22"/>
          <p:cNvSpPr txBox="1"/>
          <p:nvPr/>
        </p:nvSpPr>
        <p:spPr>
          <a:xfrm>
            <a:off x="868680" y="5486400"/>
            <a:ext cx="10454335" cy="548640"/>
          </a:xfrm>
          <a:prstGeom prst="rect">
            <a:avLst/>
          </a:prstGeom>
          <a:noFill/>
          <a:ln/>
        </p:spPr>
        <p:txBody>
          <a:bodyPr wrap="square" lIns="0" tIns="0" rIns="0" bIns="0" rtlCol="0" anchor="ctr"/>
          <a:lstStyle/>
          <a:p>
            <a:pPr indent="0" marL="0">
              <a:buNone/>
            </a:pPr>
            <a:r>
              <a:rPr lang="en-US" sz="1700" dirty="0">
                <a:solidFill>
                  <a:schemeClr val="bg1"/>
                </a:solidFill>
                <a:latin typeface="Cambria" pitchFamily="34" charset="0"/>
                <a:ea typeface="Cambria" pitchFamily="34" charset="-122"/>
                <a:cs typeface="Cambria" pitchFamily="34" charset="-120"/>
              </a:rPr>
              <a:t>Every one of these outputs was fluent. </a:t>
            </a:r>
            <a:pPr indent="0" marL="0">
              <a:buNone/>
            </a:pPr>
            <a:r>
              <a:rPr lang="en-US" sz="1700" b="1" dirty="0">
                <a:solidFill>
                  <a:srgbClr val="F08A7C"/>
                </a:solidFill>
                <a:latin typeface="Cambria" pitchFamily="34" charset="0"/>
                <a:ea typeface="Cambria" pitchFamily="34" charset="-122"/>
                <a:cs typeface="Cambria" pitchFamily="34" charset="-120"/>
              </a:rPr>
              <a:t>Nothing on the screen said it was wrong.</a:t>
            </a:r>
            <a:endParaRPr lang="en-US" sz="17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What we'll cover</a:t>
            </a:r>
            <a:endParaRPr lang="en-US" sz="3200" dirty="0"/>
          </a:p>
        </p:txBody>
      </p:sp>
      <p:sp>
        <p:nvSpPr>
          <p:cNvPr id="3" name="card"/>
          <p:cNvSpPr/>
          <p:nvPr/>
        </p:nvSpPr>
        <p:spPr>
          <a:xfrm>
            <a:off x="548640" y="1508760"/>
            <a:ext cx="5394960" cy="1920240"/>
          </a:xfrm>
          <a:prstGeom prst="roundRect">
            <a:avLst>
              <a:gd name="adj" fmla="val 3810"/>
            </a:avLst>
          </a:prstGeom>
          <a:solidFill>
            <a:schemeClr val="bg2"/>
          </a:solidFill>
          <a:ln/>
        </p:spPr>
      </p:sp>
      <p:sp>
        <p:nvSpPr>
          <p:cNvPr id="4" name="seal"/>
          <p:cNvSpPr/>
          <p:nvPr/>
        </p:nvSpPr>
        <p:spPr>
          <a:xfrm>
            <a:off x="914400" y="1920240"/>
            <a:ext cx="685800" cy="685800"/>
          </a:xfrm>
          <a:prstGeom prst="roundRect">
            <a:avLst>
              <a:gd name="adj" fmla="val 18000"/>
            </a:avLst>
          </a:prstGeom>
          <a:solidFill>
            <a:schemeClr val="accent1"/>
          </a:solidFill>
          <a:ln/>
        </p:spPr>
      </p:sp>
      <p:sp>
        <p:nvSpPr>
          <p:cNvPr id="5" name="Text 3"/>
          <p:cNvSpPr txBox="1"/>
          <p:nvPr/>
        </p:nvSpPr>
        <p:spPr>
          <a:xfrm>
            <a:off x="914400" y="1920240"/>
            <a:ext cx="68580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01</a:t>
            </a:r>
            <a:endParaRPr lang="en-US" sz="2000" dirty="0"/>
          </a:p>
        </p:txBody>
      </p:sp>
      <p:sp>
        <p:nvSpPr>
          <p:cNvPr id="6" name="Text 4"/>
          <p:cNvSpPr txBox="1"/>
          <p:nvPr/>
        </p:nvSpPr>
        <p:spPr>
          <a:xfrm>
            <a:off x="1874520" y="1892808"/>
            <a:ext cx="384048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How we got here</a:t>
            </a:r>
            <a:endParaRPr lang="en-US" sz="2400" dirty="0"/>
          </a:p>
        </p:txBody>
      </p:sp>
      <p:sp>
        <p:nvSpPr>
          <p:cNvPr id="7" name="Text 5"/>
          <p:cNvSpPr txBox="1"/>
          <p:nvPr/>
        </p:nvSpPr>
        <p:spPr>
          <a:xfrm>
            <a:off x="1874520" y="2404872"/>
            <a:ext cx="3840480" cy="731520"/>
          </a:xfrm>
          <a:prstGeom prst="rect">
            <a:avLst/>
          </a:prstGeom>
          <a:noFill/>
          <a:ln/>
        </p:spPr>
        <p:txBody>
          <a:bodyPr wrap="square" lIns="0" tIns="0" rIns="0" bIns="0" rtlCol="0" anchor="t"/>
          <a:lstStyle/>
          <a:p>
            <a:pPr indent="0" marL="0">
              <a:buNone/>
            </a:pPr>
            <a:r>
              <a:rPr lang="en-US" sz="1600" dirty="0">
                <a:solidFill>
                  <a:schemeClr val="accent3"/>
                </a:solidFill>
              </a:rPr>
              <a:t>Reading and translating, 2012 to now</a:t>
            </a:r>
            <a:endParaRPr lang="en-US" sz="1600" dirty="0"/>
          </a:p>
        </p:txBody>
      </p:sp>
      <p:sp>
        <p:nvSpPr>
          <p:cNvPr id="8" name="card"/>
          <p:cNvSpPr/>
          <p:nvPr/>
        </p:nvSpPr>
        <p:spPr>
          <a:xfrm>
            <a:off x="6217920" y="1508760"/>
            <a:ext cx="5394960" cy="1920240"/>
          </a:xfrm>
          <a:prstGeom prst="roundRect">
            <a:avLst>
              <a:gd name="adj" fmla="val 3810"/>
            </a:avLst>
          </a:prstGeom>
          <a:solidFill>
            <a:schemeClr val="bg2"/>
          </a:solidFill>
          <a:ln/>
        </p:spPr>
      </p:sp>
      <p:sp>
        <p:nvSpPr>
          <p:cNvPr id="9" name="seal"/>
          <p:cNvSpPr/>
          <p:nvPr/>
        </p:nvSpPr>
        <p:spPr>
          <a:xfrm>
            <a:off x="6583680" y="1920240"/>
            <a:ext cx="685800" cy="685800"/>
          </a:xfrm>
          <a:prstGeom prst="roundRect">
            <a:avLst>
              <a:gd name="adj" fmla="val 18000"/>
            </a:avLst>
          </a:prstGeom>
          <a:solidFill>
            <a:schemeClr val="accent1"/>
          </a:solidFill>
          <a:ln/>
        </p:spPr>
      </p:sp>
      <p:sp>
        <p:nvSpPr>
          <p:cNvPr id="10" name="Text 8"/>
          <p:cNvSpPr txBox="1"/>
          <p:nvPr/>
        </p:nvSpPr>
        <p:spPr>
          <a:xfrm>
            <a:off x="6583680" y="1920240"/>
            <a:ext cx="68580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02</a:t>
            </a:r>
            <a:endParaRPr lang="en-US" sz="2000" dirty="0"/>
          </a:p>
        </p:txBody>
      </p:sp>
      <p:sp>
        <p:nvSpPr>
          <p:cNvPr id="11" name="Text 9"/>
          <p:cNvSpPr txBox="1"/>
          <p:nvPr/>
        </p:nvSpPr>
        <p:spPr>
          <a:xfrm>
            <a:off x="7543800" y="1892808"/>
            <a:ext cx="384048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Where it breaks</a:t>
            </a:r>
            <a:endParaRPr lang="en-US" sz="2400" dirty="0"/>
          </a:p>
        </p:txBody>
      </p:sp>
      <p:sp>
        <p:nvSpPr>
          <p:cNvPr id="12" name="Text 10"/>
          <p:cNvSpPr txBox="1"/>
          <p:nvPr/>
        </p:nvSpPr>
        <p:spPr>
          <a:xfrm>
            <a:off x="7543800" y="2404872"/>
            <a:ext cx="3840480" cy="731520"/>
          </a:xfrm>
          <a:prstGeom prst="rect">
            <a:avLst/>
          </a:prstGeom>
          <a:noFill/>
          <a:ln/>
        </p:spPr>
        <p:txBody>
          <a:bodyPr wrap="square" lIns="0" tIns="0" rIns="0" bIns="0" rtlCol="0" anchor="t"/>
          <a:lstStyle/>
          <a:p>
            <a:pPr indent="0" marL="0">
              <a:buNone/>
            </a:pPr>
            <a:r>
              <a:rPr lang="en-US" sz="1600" dirty="0">
                <a:solidFill>
                  <a:schemeClr val="accent3"/>
                </a:solidFill>
              </a:rPr>
              <a:t>Around the world, language by language</a:t>
            </a:r>
            <a:endParaRPr lang="en-US" sz="1600" dirty="0"/>
          </a:p>
        </p:txBody>
      </p:sp>
      <p:sp>
        <p:nvSpPr>
          <p:cNvPr id="13" name="card"/>
          <p:cNvSpPr/>
          <p:nvPr/>
        </p:nvSpPr>
        <p:spPr>
          <a:xfrm>
            <a:off x="548640" y="3749040"/>
            <a:ext cx="5394960" cy="1920240"/>
          </a:xfrm>
          <a:prstGeom prst="roundRect">
            <a:avLst>
              <a:gd name="adj" fmla="val 3810"/>
            </a:avLst>
          </a:prstGeom>
          <a:solidFill>
            <a:schemeClr val="bg2"/>
          </a:solidFill>
          <a:ln/>
        </p:spPr>
      </p:sp>
      <p:sp>
        <p:nvSpPr>
          <p:cNvPr id="14" name="seal"/>
          <p:cNvSpPr/>
          <p:nvPr/>
        </p:nvSpPr>
        <p:spPr>
          <a:xfrm>
            <a:off x="914400" y="4160520"/>
            <a:ext cx="685800" cy="685800"/>
          </a:xfrm>
          <a:prstGeom prst="roundRect">
            <a:avLst>
              <a:gd name="adj" fmla="val 18000"/>
            </a:avLst>
          </a:prstGeom>
          <a:solidFill>
            <a:schemeClr val="accent1"/>
          </a:solidFill>
          <a:ln/>
        </p:spPr>
      </p:sp>
      <p:sp>
        <p:nvSpPr>
          <p:cNvPr id="15" name="Text 13"/>
          <p:cNvSpPr txBox="1"/>
          <p:nvPr/>
        </p:nvSpPr>
        <p:spPr>
          <a:xfrm>
            <a:off x="914400" y="4160520"/>
            <a:ext cx="68580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03</a:t>
            </a:r>
            <a:endParaRPr lang="en-US" sz="2000" dirty="0"/>
          </a:p>
        </p:txBody>
      </p:sp>
      <p:sp>
        <p:nvSpPr>
          <p:cNvPr id="16" name="Text 14"/>
          <p:cNvSpPr txBox="1"/>
          <p:nvPr/>
        </p:nvSpPr>
        <p:spPr>
          <a:xfrm>
            <a:off x="1874520" y="4133088"/>
            <a:ext cx="384048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Doing better</a:t>
            </a:r>
            <a:endParaRPr lang="en-US" sz="2400" dirty="0"/>
          </a:p>
        </p:txBody>
      </p:sp>
      <p:sp>
        <p:nvSpPr>
          <p:cNvPr id="17" name="Text 15"/>
          <p:cNvSpPr txBox="1"/>
          <p:nvPr/>
        </p:nvSpPr>
        <p:spPr>
          <a:xfrm>
            <a:off x="1874520" y="4645152"/>
            <a:ext cx="3840480" cy="731520"/>
          </a:xfrm>
          <a:prstGeom prst="rect">
            <a:avLst/>
          </a:prstGeom>
          <a:noFill/>
          <a:ln/>
        </p:spPr>
        <p:txBody>
          <a:bodyPr wrap="square" lIns="0" tIns="0" rIns="0" bIns="0" rtlCol="0" anchor="t"/>
          <a:lstStyle/>
          <a:p>
            <a:pPr indent="0" marL="0">
              <a:buNone/>
            </a:pPr>
            <a:r>
              <a:rPr lang="en-US" sz="1600" dirty="0">
                <a:solidFill>
                  <a:schemeClr val="accent3"/>
                </a:solidFill>
              </a:rPr>
              <a:t>Seven methods, and what the studies found</a:t>
            </a:r>
            <a:endParaRPr lang="en-US" sz="1600" dirty="0"/>
          </a:p>
        </p:txBody>
      </p:sp>
      <p:sp>
        <p:nvSpPr>
          <p:cNvPr id="18" name="card"/>
          <p:cNvSpPr/>
          <p:nvPr/>
        </p:nvSpPr>
        <p:spPr>
          <a:xfrm>
            <a:off x="6217920" y="3749040"/>
            <a:ext cx="5394960" cy="1920240"/>
          </a:xfrm>
          <a:prstGeom prst="roundRect">
            <a:avLst>
              <a:gd name="adj" fmla="val 3810"/>
            </a:avLst>
          </a:prstGeom>
          <a:solidFill>
            <a:schemeClr val="bg2"/>
          </a:solidFill>
          <a:ln/>
        </p:spPr>
      </p:sp>
      <p:sp>
        <p:nvSpPr>
          <p:cNvPr id="19" name="seal"/>
          <p:cNvSpPr/>
          <p:nvPr/>
        </p:nvSpPr>
        <p:spPr>
          <a:xfrm>
            <a:off x="6583680" y="4160520"/>
            <a:ext cx="685800" cy="685800"/>
          </a:xfrm>
          <a:prstGeom prst="roundRect">
            <a:avLst>
              <a:gd name="adj" fmla="val 18000"/>
            </a:avLst>
          </a:prstGeom>
          <a:solidFill>
            <a:schemeClr val="accent1"/>
          </a:solidFill>
          <a:ln/>
        </p:spPr>
      </p:sp>
      <p:sp>
        <p:nvSpPr>
          <p:cNvPr id="20" name="Text 18"/>
          <p:cNvSpPr txBox="1"/>
          <p:nvPr/>
        </p:nvSpPr>
        <p:spPr>
          <a:xfrm>
            <a:off x="6583680" y="4160520"/>
            <a:ext cx="68580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04</a:t>
            </a:r>
            <a:endParaRPr lang="en-US" sz="2000" dirty="0"/>
          </a:p>
        </p:txBody>
      </p:sp>
      <p:sp>
        <p:nvSpPr>
          <p:cNvPr id="21" name="Text 19"/>
          <p:cNvSpPr txBox="1"/>
          <p:nvPr/>
        </p:nvSpPr>
        <p:spPr>
          <a:xfrm>
            <a:off x="7543800" y="4133088"/>
            <a:ext cx="384048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Our approach</a:t>
            </a:r>
            <a:endParaRPr lang="en-US" sz="2400" dirty="0"/>
          </a:p>
        </p:txBody>
      </p:sp>
      <p:sp>
        <p:nvSpPr>
          <p:cNvPr id="22" name="Text 20"/>
          <p:cNvSpPr txBox="1"/>
          <p:nvPr/>
        </p:nvSpPr>
        <p:spPr>
          <a:xfrm>
            <a:off x="7543800" y="4645152"/>
            <a:ext cx="3840480" cy="731520"/>
          </a:xfrm>
          <a:prstGeom prst="rect">
            <a:avLst/>
          </a:prstGeom>
          <a:noFill/>
          <a:ln/>
        </p:spPr>
        <p:txBody>
          <a:bodyPr wrap="square" lIns="0" tIns="0" rIns="0" bIns="0" rtlCol="0" anchor="t"/>
          <a:lstStyle/>
          <a:p>
            <a:pPr indent="0" marL="0">
              <a:buNone/>
            </a:pPr>
            <a:r>
              <a:rPr lang="en-US" sz="1600" dirty="0">
                <a:solidFill>
                  <a:schemeClr val="accent3"/>
                </a:solidFill>
              </a:rPr>
              <a:t>Agentic Translator, then a live demo</a:t>
            </a:r>
            <a:endParaRPr lang="en-US" sz="16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2788920"/>
            <a:ext cx="10424160" cy="1005840"/>
          </a:xfrm>
          <a:prstGeom prst="rect">
            <a:avLst/>
          </a:prstGeom>
          <a:noFill/>
          <a:ln/>
        </p:spPr>
        <p:txBody>
          <a:bodyPr wrap="square" lIns="0" tIns="0" rIns="0" bIns="0" rtlCol="0" anchor="b"/>
          <a:lstStyle/>
          <a:p>
            <a:pPr algn="l" indent="0" marL="0">
              <a:buNone/>
            </a:pPr>
            <a:r>
              <a:rPr lang="en-US" sz="4400" b="1" dirty="0">
                <a:solidFill>
                  <a:schemeClr val="bg1"/>
                </a:solidFill>
              </a:rPr>
              <a:t>How we got here</a:t>
            </a:r>
            <a:endParaRPr lang="en-US" sz="4400" dirty="0"/>
          </a:p>
        </p:txBody>
      </p:sp>
      <p:sp>
        <p:nvSpPr>
          <p:cNvPr id="3" name="Text 0"/>
          <p:cNvSpPr/>
          <p:nvPr>
            <p:ph idx="101" type="body" hasCustomPrompt="1"/>
          </p:nvPr>
        </p:nvSpPr>
        <p:spPr>
          <a:xfrm>
            <a:off x="731520" y="3931920"/>
            <a:ext cx="10058400" cy="731520"/>
          </a:xfrm>
          <a:prstGeom prst="rect">
            <a:avLst/>
          </a:prstGeom>
          <a:noFill/>
          <a:ln/>
        </p:spPr>
        <p:txBody>
          <a:bodyPr wrap="square" lIns="0" tIns="0" rIns="0" bIns="0" rtlCol="0" anchor="t"/>
          <a:lstStyle/>
          <a:p>
            <a:pPr indent="0" marL="0">
              <a:buNone/>
            </a:pPr>
            <a:r>
              <a:rPr lang="en-US" sz="2000" dirty="0">
                <a:solidFill>
                  <a:schemeClr val="accent4"/>
                </a:solidFill>
              </a:rPr>
              <a:t>Reading and translating, from deep learning to vision-LLMs</a:t>
            </a:r>
            <a:endParaRPr lang="en-US" sz="2000" dirty="0"/>
          </a:p>
        </p:txBody>
      </p:sp>
      <p:sp>
        <p:nvSpPr>
          <p:cNvPr id="4" name="seal"/>
          <p:cNvSpPr/>
          <p:nvPr/>
        </p:nvSpPr>
        <p:spPr>
          <a:xfrm>
            <a:off x="731520" y="1737360"/>
            <a:ext cx="822960" cy="822960"/>
          </a:xfrm>
          <a:prstGeom prst="roundRect">
            <a:avLst>
              <a:gd name="adj" fmla="val 18000"/>
            </a:avLst>
          </a:prstGeom>
          <a:solidFill>
            <a:schemeClr val="accent1"/>
          </a:solidFill>
          <a:ln/>
        </p:spPr>
      </p:sp>
      <p:sp>
        <p:nvSpPr>
          <p:cNvPr id="5" name="Text 3"/>
          <p:cNvSpPr txBox="1"/>
          <p:nvPr/>
        </p:nvSpPr>
        <p:spPr>
          <a:xfrm>
            <a:off x="731520" y="173736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01</a:t>
            </a:r>
            <a:endParaRPr lang="en-US" sz="2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2012 to now: two technologies, one direction</a:t>
            </a:r>
            <a:endParaRPr lang="en-US" sz="3200" dirty="0"/>
          </a:p>
        </p:txBody>
      </p:sp>
      <p:sp>
        <p:nvSpPr>
          <p:cNvPr id="3" name="Shape 1"/>
          <p:cNvSpPr/>
          <p:nvPr/>
        </p:nvSpPr>
        <p:spPr>
          <a:xfrm>
            <a:off x="2148840" y="1371600"/>
            <a:ext cx="2380412" cy="731520"/>
          </a:xfrm>
          <a:prstGeom prst="homePlate">
            <a:avLst/>
          </a:prstGeom>
          <a:solidFill>
            <a:schemeClr val="tx2"/>
          </a:solidFill>
          <a:ln/>
        </p:spPr>
      </p:sp>
      <p:sp>
        <p:nvSpPr>
          <p:cNvPr id="4" name="Text 2"/>
          <p:cNvSpPr txBox="1"/>
          <p:nvPr/>
        </p:nvSpPr>
        <p:spPr>
          <a:xfrm>
            <a:off x="2286000" y="1371600"/>
            <a:ext cx="1859204" cy="731520"/>
          </a:xfrm>
          <a:prstGeom prst="rect">
            <a:avLst/>
          </a:prstGeom>
          <a:noFill/>
          <a:ln/>
        </p:spPr>
        <p:txBody>
          <a:bodyPr wrap="square" lIns="0" tIns="0" rIns="0" bIns="0" rtlCol="0" anchor="ctr"/>
          <a:lstStyle/>
          <a:p>
            <a:pPr algn="ctr" indent="0" marL="0">
              <a:buNone/>
            </a:pPr>
            <a:r>
              <a:rPr lang="en-US" sz="1500" b="1" dirty="0">
                <a:solidFill>
                  <a:schemeClr val="bg1"/>
                </a:solidFill>
              </a:rPr>
              <a:t>2012–15</a:t>
            </a:r>
            <a:endParaRPr lang="en-US" sz="1500" dirty="0"/>
          </a:p>
          <a:p>
            <a:pPr algn="ctr" indent="0" marL="0">
              <a:buNone/>
            </a:pPr>
            <a:r>
              <a:rPr lang="en-US" sz="1200" dirty="0">
                <a:solidFill>
                  <a:schemeClr val="bg1"/>
                </a:solidFill>
              </a:rPr>
              <a:t>Computers learn to see</a:t>
            </a:r>
            <a:endParaRPr lang="en-US" sz="1500" dirty="0"/>
          </a:p>
        </p:txBody>
      </p:sp>
      <p:sp>
        <p:nvSpPr>
          <p:cNvPr id="5" name="Shape 3"/>
          <p:cNvSpPr/>
          <p:nvPr/>
        </p:nvSpPr>
        <p:spPr>
          <a:xfrm>
            <a:off x="4556684" y="1371600"/>
            <a:ext cx="2380412" cy="731520"/>
          </a:xfrm>
          <a:prstGeom prst="chevron">
            <a:avLst/>
          </a:prstGeom>
          <a:solidFill>
            <a:schemeClr val="tx2"/>
          </a:solidFill>
          <a:ln/>
        </p:spPr>
      </p:sp>
      <p:sp>
        <p:nvSpPr>
          <p:cNvPr id="6" name="Text 4"/>
          <p:cNvSpPr txBox="1"/>
          <p:nvPr/>
        </p:nvSpPr>
        <p:spPr>
          <a:xfrm>
            <a:off x="4876724" y="1371600"/>
            <a:ext cx="1859204" cy="731520"/>
          </a:xfrm>
          <a:prstGeom prst="rect">
            <a:avLst/>
          </a:prstGeom>
          <a:noFill/>
          <a:ln/>
        </p:spPr>
        <p:txBody>
          <a:bodyPr wrap="square" lIns="0" tIns="0" rIns="0" bIns="0" rtlCol="0" anchor="ctr"/>
          <a:lstStyle/>
          <a:p>
            <a:pPr algn="ctr" indent="0" marL="0">
              <a:buNone/>
            </a:pPr>
            <a:r>
              <a:rPr lang="en-US" sz="1500" b="1" dirty="0">
                <a:solidFill>
                  <a:schemeClr val="bg1"/>
                </a:solidFill>
              </a:rPr>
              <a:t>2016–19</a:t>
            </a:r>
            <a:endParaRPr lang="en-US" sz="1500" dirty="0"/>
          </a:p>
          <a:p>
            <a:pPr algn="ctr" indent="0" marL="0">
              <a:buNone/>
            </a:pPr>
            <a:r>
              <a:rPr lang="en-US" sz="1200" dirty="0">
                <a:solidFill>
                  <a:schemeClr val="bg1"/>
                </a:solidFill>
              </a:rPr>
              <a:t>Neural everything</a:t>
            </a:r>
            <a:endParaRPr lang="en-US" sz="1500" dirty="0"/>
          </a:p>
        </p:txBody>
      </p:sp>
      <p:sp>
        <p:nvSpPr>
          <p:cNvPr id="7" name="Shape 5"/>
          <p:cNvSpPr/>
          <p:nvPr/>
        </p:nvSpPr>
        <p:spPr>
          <a:xfrm>
            <a:off x="6964528" y="1371600"/>
            <a:ext cx="2380412" cy="731520"/>
          </a:xfrm>
          <a:prstGeom prst="chevron">
            <a:avLst/>
          </a:prstGeom>
          <a:solidFill>
            <a:schemeClr val="tx2"/>
          </a:solidFill>
          <a:ln/>
        </p:spPr>
      </p:sp>
      <p:sp>
        <p:nvSpPr>
          <p:cNvPr id="8" name="Text 6"/>
          <p:cNvSpPr txBox="1"/>
          <p:nvPr/>
        </p:nvSpPr>
        <p:spPr>
          <a:xfrm>
            <a:off x="7284568" y="1371600"/>
            <a:ext cx="1859204" cy="731520"/>
          </a:xfrm>
          <a:prstGeom prst="rect">
            <a:avLst/>
          </a:prstGeom>
          <a:noFill/>
          <a:ln/>
        </p:spPr>
        <p:txBody>
          <a:bodyPr wrap="square" lIns="0" tIns="0" rIns="0" bIns="0" rtlCol="0" anchor="ctr"/>
          <a:lstStyle/>
          <a:p>
            <a:pPr algn="ctr" indent="0" marL="0">
              <a:buNone/>
            </a:pPr>
            <a:r>
              <a:rPr lang="en-US" sz="1500" b="1" dirty="0">
                <a:solidFill>
                  <a:schemeClr val="bg1"/>
                </a:solidFill>
              </a:rPr>
              <a:t>2020–22</a:t>
            </a:r>
            <a:endParaRPr lang="en-US" sz="1500" dirty="0"/>
          </a:p>
          <a:p>
            <a:pPr algn="ctr" indent="0" marL="0">
              <a:buNone/>
            </a:pPr>
            <a:r>
              <a:rPr lang="en-US" sz="1200" dirty="0">
                <a:solidFill>
                  <a:schemeClr val="bg1"/>
                </a:solidFill>
              </a:rPr>
              <a:t>Language models</a:t>
            </a:r>
            <a:endParaRPr lang="en-US" sz="1500" dirty="0"/>
          </a:p>
        </p:txBody>
      </p:sp>
      <p:sp>
        <p:nvSpPr>
          <p:cNvPr id="9" name="Shape 7"/>
          <p:cNvSpPr/>
          <p:nvPr/>
        </p:nvSpPr>
        <p:spPr>
          <a:xfrm>
            <a:off x="9372371" y="1371600"/>
            <a:ext cx="2380412" cy="731520"/>
          </a:xfrm>
          <a:prstGeom prst="chevron">
            <a:avLst/>
          </a:prstGeom>
          <a:solidFill>
            <a:schemeClr val="accent1"/>
          </a:solidFill>
          <a:ln/>
        </p:spPr>
      </p:sp>
      <p:sp>
        <p:nvSpPr>
          <p:cNvPr id="10" name="Text 8"/>
          <p:cNvSpPr txBox="1"/>
          <p:nvPr/>
        </p:nvSpPr>
        <p:spPr>
          <a:xfrm>
            <a:off x="9692411" y="1371600"/>
            <a:ext cx="1859204" cy="731520"/>
          </a:xfrm>
          <a:prstGeom prst="rect">
            <a:avLst/>
          </a:prstGeom>
          <a:noFill/>
          <a:ln/>
        </p:spPr>
        <p:txBody>
          <a:bodyPr wrap="square" lIns="0" tIns="0" rIns="0" bIns="0" rtlCol="0" anchor="ctr"/>
          <a:lstStyle/>
          <a:p>
            <a:pPr algn="ctr" indent="0" marL="0">
              <a:buNone/>
            </a:pPr>
            <a:r>
              <a:rPr lang="en-US" sz="1500" b="1" dirty="0">
                <a:solidFill>
                  <a:schemeClr val="bg1"/>
                </a:solidFill>
              </a:rPr>
              <a:t>2023–26</a:t>
            </a:r>
            <a:endParaRPr lang="en-US" sz="1500" dirty="0"/>
          </a:p>
          <a:p>
            <a:pPr algn="ctr" indent="0" marL="0">
              <a:buNone/>
            </a:pPr>
            <a:r>
              <a:rPr lang="en-US" sz="1200" dirty="0">
                <a:solidFill>
                  <a:schemeClr val="bg1"/>
                </a:solidFill>
              </a:rPr>
              <a:t>Vision-LLMs and agents</a:t>
            </a:r>
            <a:endParaRPr lang="en-US" sz="1500" dirty="0"/>
          </a:p>
        </p:txBody>
      </p:sp>
      <p:sp>
        <p:nvSpPr>
          <p:cNvPr id="11" name="seal"/>
          <p:cNvSpPr/>
          <p:nvPr/>
        </p:nvSpPr>
        <p:spPr>
          <a:xfrm>
            <a:off x="548640" y="2423160"/>
            <a:ext cx="548640" cy="548640"/>
          </a:xfrm>
          <a:prstGeom prst="roundRect">
            <a:avLst>
              <a:gd name="adj" fmla="val 18000"/>
            </a:avLst>
          </a:prstGeom>
          <a:solidFill>
            <a:schemeClr val="tx2"/>
          </a:solidFill>
          <a:ln/>
        </p:spPr>
      </p:sp>
      <p:pic>
        <p:nvPicPr>
          <p:cNvPr id="12" name="Image 0" descr="preencoded.png">    </p:cNvPr>
          <p:cNvPicPr>
            <a:picLocks noChangeAspect="1"/>
          </p:cNvPicPr>
          <p:nvPr/>
        </p:nvPicPr>
        <p:blipFill>
          <a:blip r:embed="rId1"/>
          <a:stretch>
            <a:fillRect/>
          </a:stretch>
        </p:blipFill>
        <p:spPr>
          <a:xfrm>
            <a:off x="669341" y="2543861"/>
            <a:ext cx="307238" cy="307238"/>
          </a:xfrm>
          <a:prstGeom prst="rect">
            <a:avLst/>
          </a:prstGeom>
        </p:spPr>
      </p:pic>
      <p:sp>
        <p:nvSpPr>
          <p:cNvPr id="13" name="Text 10"/>
          <p:cNvSpPr txBox="1"/>
          <p:nvPr/>
        </p:nvSpPr>
        <p:spPr>
          <a:xfrm>
            <a:off x="548640" y="3063240"/>
            <a:ext cx="1463040" cy="640080"/>
          </a:xfrm>
          <a:prstGeom prst="rect">
            <a:avLst/>
          </a:prstGeom>
          <a:noFill/>
          <a:ln/>
        </p:spPr>
        <p:txBody>
          <a:bodyPr wrap="square" lIns="0" tIns="0" rIns="0" bIns="0" rtlCol="0" anchor="t"/>
          <a:lstStyle/>
          <a:p>
            <a:pPr indent="0" marL="0">
              <a:buNone/>
            </a:pPr>
            <a:r>
              <a:rPr lang="en-US" sz="1500" b="1" dirty="0">
                <a:solidFill>
                  <a:schemeClr val="tx1"/>
                </a:solidFill>
              </a:rPr>
              <a:t>Translation</a:t>
            </a:r>
            <a:endParaRPr lang="en-US" sz="1500" dirty="0"/>
          </a:p>
        </p:txBody>
      </p:sp>
      <p:sp>
        <p:nvSpPr>
          <p:cNvPr id="14" name="card"/>
          <p:cNvSpPr/>
          <p:nvPr/>
        </p:nvSpPr>
        <p:spPr>
          <a:xfrm>
            <a:off x="2148840" y="2286000"/>
            <a:ext cx="2270684" cy="1828800"/>
          </a:xfrm>
          <a:prstGeom prst="roundRect">
            <a:avLst>
              <a:gd name="adj" fmla="val 4000"/>
            </a:avLst>
          </a:prstGeom>
          <a:solidFill>
            <a:schemeClr val="bg2"/>
          </a:solidFill>
          <a:ln/>
        </p:spPr>
      </p:sp>
      <p:sp>
        <p:nvSpPr>
          <p:cNvPr id="15" name="Text 12"/>
          <p:cNvSpPr txBox="1"/>
          <p:nvPr/>
        </p:nvSpPr>
        <p:spPr>
          <a:xfrm>
            <a:off x="2331720" y="2441448"/>
            <a:ext cx="1904924" cy="1554480"/>
          </a:xfrm>
          <a:prstGeom prst="rect">
            <a:avLst/>
          </a:prstGeom>
          <a:noFill/>
          <a:ln/>
        </p:spPr>
        <p:txBody>
          <a:bodyPr wrap="square" lIns="0" tIns="0" rIns="0" bIns="0" rtlCol="0" anchor="t"/>
          <a:lstStyle/>
          <a:p>
            <a:pPr indent="0" marL="0">
              <a:buNone/>
            </a:pPr>
            <a:r>
              <a:rPr lang="en-US" sz="1350" b="1" dirty="0">
                <a:solidFill>
                  <a:schemeClr val="accent1"/>
                </a:solidFill>
              </a:rPr>
              <a:t>2014  </a:t>
            </a:r>
            <a:pPr indent="0" marL="0">
              <a:spcAft>
                <a:spcPts val="800"/>
              </a:spcAft>
              <a:buNone/>
            </a:pPr>
            <a:r>
              <a:rPr lang="en-US" sz="1350" dirty="0">
                <a:solidFill>
                  <a:schemeClr val="tx1"/>
                </a:solidFill>
              </a:rPr>
              <a:t>Neural networks learn to translate whole sentences</a:t>
            </a:r>
            <a:endParaRPr lang="en-US" sz="1350" dirty="0"/>
          </a:p>
        </p:txBody>
      </p:sp>
      <p:sp>
        <p:nvSpPr>
          <p:cNvPr id="16" name="card"/>
          <p:cNvSpPr/>
          <p:nvPr/>
        </p:nvSpPr>
        <p:spPr>
          <a:xfrm>
            <a:off x="4556684" y="2286000"/>
            <a:ext cx="2270684" cy="1828800"/>
          </a:xfrm>
          <a:prstGeom prst="roundRect">
            <a:avLst>
              <a:gd name="adj" fmla="val 4000"/>
            </a:avLst>
          </a:prstGeom>
          <a:solidFill>
            <a:schemeClr val="bg2"/>
          </a:solidFill>
          <a:ln/>
        </p:spPr>
      </p:sp>
      <p:sp>
        <p:nvSpPr>
          <p:cNvPr id="17" name="Text 14"/>
          <p:cNvSpPr txBox="1"/>
          <p:nvPr/>
        </p:nvSpPr>
        <p:spPr>
          <a:xfrm>
            <a:off x="4739564" y="2441448"/>
            <a:ext cx="1904924" cy="1554480"/>
          </a:xfrm>
          <a:prstGeom prst="rect">
            <a:avLst/>
          </a:prstGeom>
          <a:noFill/>
          <a:ln/>
        </p:spPr>
        <p:txBody>
          <a:bodyPr wrap="square" lIns="0" tIns="0" rIns="0" bIns="0" rtlCol="0" anchor="t"/>
          <a:lstStyle/>
          <a:p>
            <a:pPr indent="0" marL="0">
              <a:buNone/>
            </a:pPr>
            <a:r>
              <a:rPr lang="en-US" sz="1350" b="1" dirty="0">
                <a:solidFill>
                  <a:schemeClr val="accent1"/>
                </a:solidFill>
              </a:rPr>
              <a:t>2016  </a:t>
            </a:r>
            <a:pPr indent="0" marL="0">
              <a:spcAft>
                <a:spcPts val="800"/>
              </a:spcAft>
              <a:buNone/>
            </a:pPr>
            <a:r>
              <a:rPr lang="en-US" sz="1350" dirty="0">
                <a:solidFill>
                  <a:schemeClr val="tx1"/>
                </a:solidFill>
              </a:rPr>
              <a:t>Google switches to neural translation: ~60% fewer errors</a:t>
            </a:r>
            <a:endParaRPr lang="en-US" sz="1350" dirty="0"/>
          </a:p>
          <a:p>
            <a:pPr indent="0" marL="0">
              <a:buNone/>
            </a:pPr>
            <a:r>
              <a:rPr lang="en-US" sz="1350" b="1" dirty="0">
                <a:solidFill>
                  <a:schemeClr val="accent1"/>
                </a:solidFill>
              </a:rPr>
              <a:t>2017  </a:t>
            </a:r>
            <a:pPr indent="0" marL="0">
              <a:spcAft>
                <a:spcPts val="800"/>
              </a:spcAft>
              <a:buNone/>
            </a:pPr>
            <a:r>
              <a:rPr lang="en-US" sz="1350" dirty="0">
                <a:solidFill>
                  <a:schemeClr val="tx1"/>
                </a:solidFill>
              </a:rPr>
              <a:t>The Transformer, the design behind today's AI; DeepL launches</a:t>
            </a:r>
            <a:endParaRPr lang="en-US" sz="1350" dirty="0"/>
          </a:p>
        </p:txBody>
      </p:sp>
      <p:sp>
        <p:nvSpPr>
          <p:cNvPr id="18" name="card"/>
          <p:cNvSpPr/>
          <p:nvPr/>
        </p:nvSpPr>
        <p:spPr>
          <a:xfrm>
            <a:off x="6964528" y="2286000"/>
            <a:ext cx="2270684" cy="1828800"/>
          </a:xfrm>
          <a:prstGeom prst="roundRect">
            <a:avLst>
              <a:gd name="adj" fmla="val 4000"/>
            </a:avLst>
          </a:prstGeom>
          <a:solidFill>
            <a:schemeClr val="bg2"/>
          </a:solidFill>
          <a:ln/>
        </p:spPr>
      </p:sp>
      <p:sp>
        <p:nvSpPr>
          <p:cNvPr id="19" name="Text 16"/>
          <p:cNvSpPr txBox="1"/>
          <p:nvPr/>
        </p:nvSpPr>
        <p:spPr>
          <a:xfrm>
            <a:off x="7147408" y="2441448"/>
            <a:ext cx="1904924" cy="1554480"/>
          </a:xfrm>
          <a:prstGeom prst="rect">
            <a:avLst/>
          </a:prstGeom>
          <a:noFill/>
          <a:ln/>
        </p:spPr>
        <p:txBody>
          <a:bodyPr wrap="square" lIns="0" tIns="0" rIns="0" bIns="0" rtlCol="0" anchor="t"/>
          <a:lstStyle/>
          <a:p>
            <a:pPr indent="0" marL="0">
              <a:buNone/>
            </a:pPr>
            <a:r>
              <a:rPr lang="en-US" sz="1350" b="1" dirty="0">
                <a:solidFill>
                  <a:schemeClr val="accent1"/>
                </a:solidFill>
              </a:rPr>
              <a:t>2022  </a:t>
            </a:r>
            <a:pPr indent="0" marL="0">
              <a:spcAft>
                <a:spcPts val="800"/>
              </a:spcAft>
              <a:buNone/>
            </a:pPr>
            <a:r>
              <a:rPr lang="en-US" sz="1350" dirty="0">
                <a:solidFill>
                  <a:schemeClr val="tx1"/>
                </a:solidFill>
              </a:rPr>
              <a:t>One model for 200 languages (Meta); ChatGPT: translate by asking</a:t>
            </a:r>
            <a:endParaRPr lang="en-US" sz="1350" dirty="0"/>
          </a:p>
        </p:txBody>
      </p:sp>
      <p:sp>
        <p:nvSpPr>
          <p:cNvPr id="20" name="card"/>
          <p:cNvSpPr/>
          <p:nvPr/>
        </p:nvSpPr>
        <p:spPr>
          <a:xfrm>
            <a:off x="9372371" y="2286000"/>
            <a:ext cx="2270684" cy="1828800"/>
          </a:xfrm>
          <a:prstGeom prst="roundRect">
            <a:avLst>
              <a:gd name="adj" fmla="val 4000"/>
            </a:avLst>
          </a:prstGeom>
          <a:solidFill>
            <a:schemeClr val="tx1"/>
          </a:solidFill>
          <a:ln/>
        </p:spPr>
      </p:sp>
      <p:sp>
        <p:nvSpPr>
          <p:cNvPr id="21" name="Text 18"/>
          <p:cNvSpPr txBox="1"/>
          <p:nvPr/>
        </p:nvSpPr>
        <p:spPr>
          <a:xfrm>
            <a:off x="9555251" y="2441448"/>
            <a:ext cx="1904924" cy="1554480"/>
          </a:xfrm>
          <a:prstGeom prst="rect">
            <a:avLst/>
          </a:prstGeom>
          <a:noFill/>
          <a:ln/>
        </p:spPr>
        <p:txBody>
          <a:bodyPr wrap="square" lIns="0" tIns="0" rIns="0" bIns="0" rtlCol="0" anchor="t"/>
          <a:lstStyle/>
          <a:p>
            <a:pPr indent="0" marL="0">
              <a:buNone/>
            </a:pPr>
            <a:r>
              <a:rPr lang="en-US" sz="1350" b="1" dirty="0">
                <a:solidFill>
                  <a:srgbClr val="F08A7C"/>
                </a:solidFill>
              </a:rPr>
              <a:t>2024  </a:t>
            </a:r>
            <a:pPr indent="0" marL="0">
              <a:spcAft>
                <a:spcPts val="800"/>
              </a:spcAft>
              <a:buNone/>
            </a:pPr>
            <a:r>
              <a:rPr lang="en-US" sz="1350" dirty="0">
                <a:solidFill>
                  <a:schemeClr val="bg1"/>
                </a:solidFill>
              </a:rPr>
              <a:t>Translation agents: translate, critique, improve</a:t>
            </a:r>
            <a:endParaRPr lang="en-US" sz="1350" dirty="0"/>
          </a:p>
        </p:txBody>
      </p:sp>
      <p:sp>
        <p:nvSpPr>
          <p:cNvPr id="22" name="seal"/>
          <p:cNvSpPr/>
          <p:nvPr/>
        </p:nvSpPr>
        <p:spPr>
          <a:xfrm>
            <a:off x="548640" y="4434840"/>
            <a:ext cx="548640" cy="548640"/>
          </a:xfrm>
          <a:prstGeom prst="roundRect">
            <a:avLst>
              <a:gd name="adj" fmla="val 18000"/>
            </a:avLst>
          </a:prstGeom>
          <a:solidFill>
            <a:schemeClr val="accent2"/>
          </a:solidFill>
          <a:ln/>
        </p:spPr>
      </p:sp>
      <p:pic>
        <p:nvPicPr>
          <p:cNvPr id="23" name="Image 1" descr="preencoded.png">    </p:cNvPr>
          <p:cNvPicPr>
            <a:picLocks noChangeAspect="1"/>
          </p:cNvPicPr>
          <p:nvPr/>
        </p:nvPicPr>
        <p:blipFill>
          <a:blip r:embed="rId2"/>
          <a:stretch>
            <a:fillRect/>
          </a:stretch>
        </p:blipFill>
        <p:spPr>
          <a:xfrm>
            <a:off x="669341" y="4555541"/>
            <a:ext cx="307238" cy="307238"/>
          </a:xfrm>
          <a:prstGeom prst="rect">
            <a:avLst/>
          </a:prstGeom>
        </p:spPr>
      </p:pic>
      <p:sp>
        <p:nvSpPr>
          <p:cNvPr id="24" name="Text 20"/>
          <p:cNvSpPr txBox="1"/>
          <p:nvPr/>
        </p:nvSpPr>
        <p:spPr>
          <a:xfrm>
            <a:off x="548640" y="5074920"/>
            <a:ext cx="1463040" cy="640080"/>
          </a:xfrm>
          <a:prstGeom prst="rect">
            <a:avLst/>
          </a:prstGeom>
          <a:noFill/>
          <a:ln/>
        </p:spPr>
        <p:txBody>
          <a:bodyPr wrap="square" lIns="0" tIns="0" rIns="0" bIns="0" rtlCol="0" anchor="t"/>
          <a:lstStyle/>
          <a:p>
            <a:pPr indent="0" marL="0">
              <a:buNone/>
            </a:pPr>
            <a:r>
              <a:rPr lang="en-US" sz="1500" b="1" dirty="0">
                <a:solidFill>
                  <a:schemeClr val="tx1"/>
                </a:solidFill>
              </a:rPr>
              <a:t>Reading (OCR)</a:t>
            </a:r>
            <a:endParaRPr lang="en-US" sz="1500" dirty="0"/>
          </a:p>
        </p:txBody>
      </p:sp>
      <p:sp>
        <p:nvSpPr>
          <p:cNvPr id="25" name="card"/>
          <p:cNvSpPr/>
          <p:nvPr/>
        </p:nvSpPr>
        <p:spPr>
          <a:xfrm>
            <a:off x="2148840" y="4297680"/>
            <a:ext cx="2270684" cy="1828800"/>
          </a:xfrm>
          <a:prstGeom prst="roundRect">
            <a:avLst>
              <a:gd name="adj" fmla="val 4000"/>
            </a:avLst>
          </a:prstGeom>
          <a:solidFill>
            <a:schemeClr val="bg2"/>
          </a:solidFill>
          <a:ln/>
        </p:spPr>
      </p:sp>
      <p:sp>
        <p:nvSpPr>
          <p:cNvPr id="26" name="Text 22"/>
          <p:cNvSpPr txBox="1"/>
          <p:nvPr/>
        </p:nvSpPr>
        <p:spPr>
          <a:xfrm>
            <a:off x="2331720" y="4453128"/>
            <a:ext cx="1904924" cy="1554480"/>
          </a:xfrm>
          <a:prstGeom prst="rect">
            <a:avLst/>
          </a:prstGeom>
          <a:noFill/>
          <a:ln/>
        </p:spPr>
        <p:txBody>
          <a:bodyPr wrap="square" lIns="0" tIns="0" rIns="0" bIns="0" rtlCol="0" anchor="t"/>
          <a:lstStyle/>
          <a:p>
            <a:pPr indent="0" marL="0">
              <a:buNone/>
            </a:pPr>
            <a:r>
              <a:rPr lang="en-US" sz="1350" b="1" dirty="0">
                <a:solidFill>
                  <a:schemeClr val="accent1"/>
                </a:solidFill>
              </a:rPr>
              <a:t>2012  </a:t>
            </a:r>
            <a:pPr indent="0" marL="0">
              <a:spcAft>
                <a:spcPts val="800"/>
              </a:spcAft>
              <a:buNone/>
            </a:pPr>
            <a:r>
              <a:rPr lang="en-US" sz="1350" dirty="0">
                <a:solidFill>
                  <a:schemeClr val="tx1"/>
                </a:solidFill>
              </a:rPr>
              <a:t>A neural network that sees (AlexNet) wins the big image contest</a:t>
            </a:r>
            <a:endParaRPr lang="en-US" sz="1350" dirty="0"/>
          </a:p>
          <a:p>
            <a:pPr indent="0" marL="0">
              <a:buNone/>
            </a:pPr>
            <a:r>
              <a:rPr lang="en-US" sz="1350" b="1" dirty="0">
                <a:solidFill>
                  <a:schemeClr val="accent1"/>
                </a:solidFill>
              </a:rPr>
              <a:t>2015  </a:t>
            </a:r>
            <a:pPr indent="0" marL="0">
              <a:spcAft>
                <a:spcPts val="800"/>
              </a:spcAft>
              <a:buNone/>
            </a:pPr>
            <a:r>
              <a:rPr lang="en-US" sz="1350" dirty="0">
                <a:solidFill>
                  <a:schemeClr val="tx1"/>
                </a:solidFill>
              </a:rPr>
              <a:t>Point your phone at a sign: camera translation</a:t>
            </a:r>
            <a:endParaRPr lang="en-US" sz="1350" dirty="0"/>
          </a:p>
        </p:txBody>
      </p:sp>
      <p:sp>
        <p:nvSpPr>
          <p:cNvPr id="27" name="card"/>
          <p:cNvSpPr/>
          <p:nvPr/>
        </p:nvSpPr>
        <p:spPr>
          <a:xfrm>
            <a:off x="4556684" y="4297680"/>
            <a:ext cx="2270684" cy="1828800"/>
          </a:xfrm>
          <a:prstGeom prst="roundRect">
            <a:avLst>
              <a:gd name="adj" fmla="val 4000"/>
            </a:avLst>
          </a:prstGeom>
          <a:solidFill>
            <a:schemeClr val="bg2"/>
          </a:solidFill>
          <a:ln/>
        </p:spPr>
      </p:sp>
      <p:sp>
        <p:nvSpPr>
          <p:cNvPr id="28" name="Text 24"/>
          <p:cNvSpPr txBox="1"/>
          <p:nvPr/>
        </p:nvSpPr>
        <p:spPr>
          <a:xfrm>
            <a:off x="4739564" y="4453128"/>
            <a:ext cx="1904924" cy="1554480"/>
          </a:xfrm>
          <a:prstGeom prst="rect">
            <a:avLst/>
          </a:prstGeom>
          <a:noFill/>
          <a:ln/>
        </p:spPr>
        <p:txBody>
          <a:bodyPr wrap="square" lIns="0" tIns="0" rIns="0" bIns="0" rtlCol="0" anchor="t"/>
          <a:lstStyle/>
          <a:p>
            <a:pPr indent="0" marL="0">
              <a:buNone/>
            </a:pPr>
            <a:r>
              <a:rPr lang="en-US" sz="1350" b="1" dirty="0">
                <a:solidFill>
                  <a:schemeClr val="accent1"/>
                </a:solidFill>
              </a:rPr>
              <a:t>2018  </a:t>
            </a:r>
            <a:pPr indent="0" marL="0">
              <a:spcAft>
                <a:spcPts val="800"/>
              </a:spcAft>
              <a:buNone/>
            </a:pPr>
            <a:r>
              <a:rPr lang="en-US" sz="1350" dirty="0">
                <a:solidFill>
                  <a:schemeClr val="tx1"/>
                </a:solidFill>
              </a:rPr>
              <a:t>Open-source OCR (Tesseract) switches to a neural network</a:t>
            </a:r>
            <a:endParaRPr lang="en-US" sz="1350" dirty="0"/>
          </a:p>
        </p:txBody>
      </p:sp>
      <p:sp>
        <p:nvSpPr>
          <p:cNvPr id="29" name="card"/>
          <p:cNvSpPr/>
          <p:nvPr/>
        </p:nvSpPr>
        <p:spPr>
          <a:xfrm>
            <a:off x="6964528" y="4297680"/>
            <a:ext cx="2270684" cy="1828800"/>
          </a:xfrm>
          <a:prstGeom prst="roundRect">
            <a:avLst>
              <a:gd name="adj" fmla="val 4000"/>
            </a:avLst>
          </a:prstGeom>
          <a:solidFill>
            <a:schemeClr val="bg2"/>
          </a:solidFill>
          <a:ln/>
        </p:spPr>
      </p:sp>
      <p:sp>
        <p:nvSpPr>
          <p:cNvPr id="30" name="Text 26"/>
          <p:cNvSpPr txBox="1"/>
          <p:nvPr/>
        </p:nvSpPr>
        <p:spPr>
          <a:xfrm>
            <a:off x="7147408" y="4453128"/>
            <a:ext cx="1904924" cy="1554480"/>
          </a:xfrm>
          <a:prstGeom prst="rect">
            <a:avLst/>
          </a:prstGeom>
          <a:noFill/>
          <a:ln/>
        </p:spPr>
        <p:txBody>
          <a:bodyPr wrap="square" lIns="0" tIns="0" rIns="0" bIns="0" rtlCol="0" anchor="t"/>
          <a:lstStyle/>
          <a:p>
            <a:pPr indent="0" marL="0">
              <a:buNone/>
            </a:pPr>
            <a:r>
              <a:rPr lang="en-US" sz="1350" b="1" dirty="0">
                <a:solidFill>
                  <a:schemeClr val="accent1"/>
                </a:solidFill>
              </a:rPr>
              <a:t>2021  </a:t>
            </a:r>
            <a:pPr indent="0" marL="0">
              <a:spcAft>
                <a:spcPts val="800"/>
              </a:spcAft>
              <a:buNone/>
            </a:pPr>
            <a:r>
              <a:rPr lang="en-US" sz="1350" dirty="0">
                <a:solidFill>
                  <a:schemeClr val="tx1"/>
                </a:solidFill>
              </a:rPr>
              <a:t>Transformers read text lines (TrOCR) and whole documents (Donut)</a:t>
            </a:r>
            <a:endParaRPr lang="en-US" sz="1350" dirty="0"/>
          </a:p>
        </p:txBody>
      </p:sp>
      <p:sp>
        <p:nvSpPr>
          <p:cNvPr id="31" name="card"/>
          <p:cNvSpPr/>
          <p:nvPr/>
        </p:nvSpPr>
        <p:spPr>
          <a:xfrm>
            <a:off x="9372371" y="4297680"/>
            <a:ext cx="2270684" cy="1828800"/>
          </a:xfrm>
          <a:prstGeom prst="roundRect">
            <a:avLst>
              <a:gd name="adj" fmla="val 4000"/>
            </a:avLst>
          </a:prstGeom>
          <a:solidFill>
            <a:schemeClr val="tx1"/>
          </a:solidFill>
          <a:ln/>
        </p:spPr>
      </p:sp>
      <p:sp>
        <p:nvSpPr>
          <p:cNvPr id="32" name="Text 28"/>
          <p:cNvSpPr txBox="1"/>
          <p:nvPr/>
        </p:nvSpPr>
        <p:spPr>
          <a:xfrm>
            <a:off x="9555251" y="4453128"/>
            <a:ext cx="1904924" cy="1554480"/>
          </a:xfrm>
          <a:prstGeom prst="rect">
            <a:avLst/>
          </a:prstGeom>
          <a:noFill/>
          <a:ln/>
        </p:spPr>
        <p:txBody>
          <a:bodyPr wrap="square" lIns="0" tIns="0" rIns="0" bIns="0" rtlCol="0" anchor="t"/>
          <a:lstStyle/>
          <a:p>
            <a:pPr indent="0" marL="0">
              <a:buNone/>
            </a:pPr>
            <a:r>
              <a:rPr lang="en-US" sz="1350" b="1" dirty="0">
                <a:solidFill>
                  <a:srgbClr val="F08A7C"/>
                </a:solidFill>
              </a:rPr>
              <a:t>2023  </a:t>
            </a:r>
            <a:pPr indent="0" marL="0">
              <a:spcAft>
                <a:spcPts val="800"/>
              </a:spcAft>
              <a:buNone/>
            </a:pPr>
            <a:r>
              <a:rPr lang="en-US" sz="1350" dirty="0">
                <a:solidFill>
                  <a:schemeClr val="bg1"/>
                </a:solidFill>
              </a:rPr>
              <a:t>GPT-4V: a chat model reads images</a:t>
            </a:r>
            <a:endParaRPr lang="en-US" sz="1350" dirty="0"/>
          </a:p>
          <a:p>
            <a:pPr indent="0" marL="0">
              <a:buNone/>
            </a:pPr>
            <a:r>
              <a:rPr lang="en-US" sz="1350" b="1" dirty="0">
                <a:solidFill>
                  <a:srgbClr val="F08A7C"/>
                </a:solidFill>
              </a:rPr>
              <a:t>2025  </a:t>
            </a:r>
            <a:pPr indent="0" marL="0">
              <a:spcAft>
                <a:spcPts val="800"/>
              </a:spcAft>
              <a:buNone/>
            </a:pPr>
            <a:r>
              <a:rPr lang="en-US" sz="1350" dirty="0">
                <a:solidFill>
                  <a:schemeClr val="bg1"/>
                </a:solidFill>
              </a:rPr>
              <a:t>Vision-LLMs made for documents: Mistral OCR, PaddleOCR-VL, DeepSeek-OCR</a:t>
            </a:r>
            <a:endParaRPr lang="en-US" sz="135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How do you score a reading, or a translation?</a:t>
            </a:r>
            <a:endParaRPr lang="en-US" sz="3200" dirty="0"/>
          </a:p>
        </p:txBody>
      </p:sp>
      <p:sp>
        <p:nvSpPr>
          <p:cNvPr id="3" name="card"/>
          <p:cNvSpPr/>
          <p:nvPr/>
        </p:nvSpPr>
        <p:spPr>
          <a:xfrm>
            <a:off x="548640" y="1371600"/>
            <a:ext cx="3515258" cy="3794760"/>
          </a:xfrm>
          <a:prstGeom prst="roundRect">
            <a:avLst>
              <a:gd name="adj" fmla="val 2081"/>
            </a:avLst>
          </a:prstGeom>
          <a:solidFill>
            <a:schemeClr val="bg2"/>
          </a:solidFill>
          <a:ln/>
        </p:spPr>
      </p:sp>
      <p:sp>
        <p:nvSpPr>
          <p:cNvPr id="4" name="seal"/>
          <p:cNvSpPr/>
          <p:nvPr/>
        </p:nvSpPr>
        <p:spPr>
          <a:xfrm>
            <a:off x="868680" y="1645920"/>
            <a:ext cx="548640" cy="548640"/>
          </a:xfrm>
          <a:prstGeom prst="roundRect">
            <a:avLst>
              <a:gd name="adj" fmla="val 18000"/>
            </a:avLst>
          </a:prstGeom>
          <a:solidFill>
            <a:schemeClr val="accent2"/>
          </a:solidFill>
          <a:ln/>
        </p:spPr>
      </p:sp>
      <p:pic>
        <p:nvPicPr>
          <p:cNvPr id="5" name="Image 0" descr="preencoded.png">    </p:cNvPr>
          <p:cNvPicPr>
            <a:picLocks noChangeAspect="1"/>
          </p:cNvPicPr>
          <p:nvPr/>
        </p:nvPicPr>
        <p:blipFill>
          <a:blip r:embed="rId1"/>
          <a:stretch>
            <a:fillRect/>
          </a:stretch>
        </p:blipFill>
        <p:spPr>
          <a:xfrm>
            <a:off x="989381" y="1766621"/>
            <a:ext cx="307238" cy="307238"/>
          </a:xfrm>
          <a:prstGeom prst="rect">
            <a:avLst/>
          </a:prstGeom>
        </p:spPr>
      </p:pic>
      <p:sp>
        <p:nvSpPr>
          <p:cNvPr id="6" name="Text 3"/>
          <p:cNvSpPr txBox="1"/>
          <p:nvPr/>
        </p:nvSpPr>
        <p:spPr>
          <a:xfrm>
            <a:off x="1554480" y="1645920"/>
            <a:ext cx="2326538" cy="548640"/>
          </a:xfrm>
          <a:prstGeom prst="rect">
            <a:avLst/>
          </a:prstGeom>
          <a:noFill/>
          <a:ln/>
        </p:spPr>
        <p:txBody>
          <a:bodyPr wrap="square" lIns="0" tIns="0" rIns="0" bIns="0" rtlCol="0" anchor="ctr"/>
          <a:lstStyle/>
          <a:p>
            <a:pPr indent="0" marL="0">
              <a:buNone/>
            </a:pPr>
            <a:r>
              <a:rPr lang="en-US" sz="1400" b="1" dirty="0">
                <a:solidFill>
                  <a:schemeClr val="accent3"/>
                </a:solidFill>
              </a:rPr>
              <a:t>Reading</a:t>
            </a:r>
            <a:endParaRPr lang="en-US" sz="1400" dirty="0"/>
          </a:p>
        </p:txBody>
      </p:sp>
      <p:sp>
        <p:nvSpPr>
          <p:cNvPr id="7" name="Text 4"/>
          <p:cNvSpPr txBox="1"/>
          <p:nvPr/>
        </p:nvSpPr>
        <p:spPr>
          <a:xfrm>
            <a:off x="868680" y="2377440"/>
            <a:ext cx="2875178" cy="77724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Mistakes per 100 characters</a:t>
            </a:r>
            <a:endParaRPr lang="en-US" sz="2000" dirty="0"/>
          </a:p>
        </p:txBody>
      </p:sp>
      <p:sp>
        <p:nvSpPr>
          <p:cNvPr id="8" name="Text 5"/>
          <p:cNvSpPr txBox="1"/>
          <p:nvPr/>
        </p:nvSpPr>
        <p:spPr>
          <a:xfrm>
            <a:off x="868680" y="3200400"/>
            <a:ext cx="2875178" cy="1874520"/>
          </a:xfrm>
          <a:prstGeom prst="rect">
            <a:avLst/>
          </a:prstGeom>
          <a:noFill/>
          <a:ln/>
        </p:spPr>
        <p:txBody>
          <a:bodyPr wrap="square" lIns="0" tIns="0" rIns="0" bIns="0" rtlCol="0" anchor="t"/>
          <a:lstStyle/>
          <a:p>
            <a:pPr marL="228600" indent="-228600">
              <a:spcAft>
                <a:spcPts val="800"/>
              </a:spcAft>
              <a:buSzPct val="100000"/>
              <a:buChar char="•"/>
            </a:pPr>
            <a:r>
              <a:rPr lang="en-US" sz="1450" dirty="0">
                <a:solidFill>
                  <a:schemeClr val="tx1"/>
                </a:solidFill>
              </a:rPr>
              <a:t>Under 1: excellent</a:t>
            </a:r>
            <a:endParaRPr lang="en-US" sz="1450" dirty="0"/>
          </a:p>
          <a:p>
            <a:pPr marL="228600" indent="-228600">
              <a:spcAft>
                <a:spcPts val="800"/>
              </a:spcAft>
              <a:buSzPct val="100000"/>
              <a:buChar char="•"/>
            </a:pPr>
            <a:r>
              <a:rPr lang="en-US" sz="1450" dirty="0">
                <a:solidFill>
                  <a:schemeClr val="tx1"/>
                </a:solidFill>
              </a:rPr>
              <a:t>About 10: a wrong letter in every other word</a:t>
            </a:r>
            <a:endParaRPr lang="en-US" sz="1450" dirty="0"/>
          </a:p>
          <a:p>
            <a:pPr marL="228600" indent="-228600">
              <a:spcAft>
                <a:spcPts val="800"/>
              </a:spcAft>
              <a:buSzPct val="100000"/>
              <a:buChar char="•"/>
            </a:pPr>
            <a:r>
              <a:rPr lang="en-US" sz="1450" dirty="0">
                <a:solidFill>
                  <a:schemeClr val="tx1"/>
                </a:solidFill>
              </a:rPr>
              <a:t>Over 100: the AI wrote more than the page holds</a:t>
            </a:r>
            <a:endParaRPr lang="en-US" sz="1450" dirty="0"/>
          </a:p>
        </p:txBody>
      </p:sp>
      <p:sp>
        <p:nvSpPr>
          <p:cNvPr id="9" name="card"/>
          <p:cNvSpPr/>
          <p:nvPr/>
        </p:nvSpPr>
        <p:spPr>
          <a:xfrm>
            <a:off x="4338218" y="1371600"/>
            <a:ext cx="3515258" cy="3794760"/>
          </a:xfrm>
          <a:prstGeom prst="roundRect">
            <a:avLst>
              <a:gd name="adj" fmla="val 2081"/>
            </a:avLst>
          </a:prstGeom>
          <a:solidFill>
            <a:schemeClr val="bg2"/>
          </a:solidFill>
          <a:ln/>
        </p:spPr>
      </p:sp>
      <p:sp>
        <p:nvSpPr>
          <p:cNvPr id="10" name="seal"/>
          <p:cNvSpPr/>
          <p:nvPr/>
        </p:nvSpPr>
        <p:spPr>
          <a:xfrm>
            <a:off x="4658258" y="1645920"/>
            <a:ext cx="548640" cy="548640"/>
          </a:xfrm>
          <a:prstGeom prst="roundRect">
            <a:avLst>
              <a:gd name="adj" fmla="val 18000"/>
            </a:avLst>
          </a:prstGeom>
          <a:solidFill>
            <a:schemeClr val="tx2"/>
          </a:solidFill>
          <a:ln/>
        </p:spPr>
      </p:sp>
      <p:pic>
        <p:nvPicPr>
          <p:cNvPr id="11" name="Image 1" descr="preencoded.png">    </p:cNvPr>
          <p:cNvPicPr>
            <a:picLocks noChangeAspect="1"/>
          </p:cNvPicPr>
          <p:nvPr/>
        </p:nvPicPr>
        <p:blipFill>
          <a:blip r:embed="rId2"/>
          <a:stretch>
            <a:fillRect/>
          </a:stretch>
        </p:blipFill>
        <p:spPr>
          <a:xfrm>
            <a:off x="4778959" y="1766621"/>
            <a:ext cx="307238" cy="307238"/>
          </a:xfrm>
          <a:prstGeom prst="rect">
            <a:avLst/>
          </a:prstGeom>
        </p:spPr>
      </p:pic>
      <p:sp>
        <p:nvSpPr>
          <p:cNvPr id="12" name="Text 8"/>
          <p:cNvSpPr txBox="1"/>
          <p:nvPr/>
        </p:nvSpPr>
        <p:spPr>
          <a:xfrm>
            <a:off x="5344058" y="1645920"/>
            <a:ext cx="2326538" cy="548640"/>
          </a:xfrm>
          <a:prstGeom prst="rect">
            <a:avLst/>
          </a:prstGeom>
          <a:noFill/>
          <a:ln/>
        </p:spPr>
        <p:txBody>
          <a:bodyPr wrap="square" lIns="0" tIns="0" rIns="0" bIns="0" rtlCol="0" anchor="ctr"/>
          <a:lstStyle/>
          <a:p>
            <a:pPr indent="0" marL="0">
              <a:buNone/>
            </a:pPr>
            <a:r>
              <a:rPr lang="en-US" sz="1400" b="1" dirty="0">
                <a:solidFill>
                  <a:schemeClr val="accent3"/>
                </a:solidFill>
              </a:rPr>
              <a:t>Translation, judged by people</a:t>
            </a:r>
            <a:endParaRPr lang="en-US" sz="1400" dirty="0"/>
          </a:p>
        </p:txBody>
      </p:sp>
      <p:sp>
        <p:nvSpPr>
          <p:cNvPr id="13" name="Text 9"/>
          <p:cNvSpPr txBox="1"/>
          <p:nvPr/>
        </p:nvSpPr>
        <p:spPr>
          <a:xfrm>
            <a:off x="4658258" y="2377440"/>
            <a:ext cx="2875178" cy="77724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Professionals mark every error</a:t>
            </a:r>
            <a:endParaRPr lang="en-US" sz="2000" dirty="0"/>
          </a:p>
        </p:txBody>
      </p:sp>
      <p:sp>
        <p:nvSpPr>
          <p:cNvPr id="14" name="Text 10"/>
          <p:cNvSpPr txBox="1"/>
          <p:nvPr/>
        </p:nvSpPr>
        <p:spPr>
          <a:xfrm>
            <a:off x="4658258" y="3200400"/>
            <a:ext cx="2875178" cy="1874520"/>
          </a:xfrm>
          <a:prstGeom prst="rect">
            <a:avLst/>
          </a:prstGeom>
          <a:noFill/>
          <a:ln/>
        </p:spPr>
        <p:txBody>
          <a:bodyPr wrap="square" lIns="0" tIns="0" rIns="0" bIns="0" rtlCol="0" anchor="t"/>
          <a:lstStyle/>
          <a:p>
            <a:pPr marL="228600" indent="-228600">
              <a:spcAft>
                <a:spcPts val="800"/>
              </a:spcAft>
              <a:buSzPct val="100000"/>
              <a:buChar char="•"/>
            </a:pPr>
            <a:r>
              <a:rPr lang="en-US" sz="1450" dirty="0">
                <a:solidFill>
                  <a:schemeClr val="tx1"/>
                </a:solidFill>
              </a:rPr>
              <a:t>Each error weighted: minor 1, major 5, critical 25 (MQM)</a:t>
            </a:r>
            <a:endParaRPr lang="en-US" sz="1450" dirty="0"/>
          </a:p>
          <a:p>
            <a:pPr marL="228600" indent="-228600">
              <a:spcAft>
                <a:spcPts val="800"/>
              </a:spcAft>
              <a:buSzPct val="100000"/>
              <a:buChar char="•"/>
            </a:pPr>
            <a:r>
              <a:rPr lang="en-US" sz="1450" dirty="0">
                <a:solidFill>
                  <a:schemeClr val="tx1"/>
                </a:solidFill>
              </a:rPr>
              <a:t>Or: which of two versions is better?</a:t>
            </a:r>
            <a:endParaRPr lang="en-US" sz="1450" dirty="0"/>
          </a:p>
          <a:p>
            <a:pPr marL="228600" indent="-228600">
              <a:spcAft>
                <a:spcPts val="800"/>
              </a:spcAft>
              <a:buSzPct val="100000"/>
              <a:buChar char="•"/>
            </a:pPr>
            <a:r>
              <a:rPr lang="en-US" sz="1450" dirty="0">
                <a:solidFill>
                  <a:schemeClr val="tx1"/>
                </a:solidFill>
              </a:rPr>
              <a:t>Slow and expensive, but the reference</a:t>
            </a:r>
            <a:endParaRPr lang="en-US" sz="1450" dirty="0"/>
          </a:p>
        </p:txBody>
      </p:sp>
      <p:sp>
        <p:nvSpPr>
          <p:cNvPr id="15" name="card"/>
          <p:cNvSpPr/>
          <p:nvPr/>
        </p:nvSpPr>
        <p:spPr>
          <a:xfrm>
            <a:off x="8127797" y="1371600"/>
            <a:ext cx="3515258" cy="3794760"/>
          </a:xfrm>
          <a:prstGeom prst="roundRect">
            <a:avLst>
              <a:gd name="adj" fmla="val 2081"/>
            </a:avLst>
          </a:prstGeom>
          <a:solidFill>
            <a:schemeClr val="bg2"/>
          </a:solidFill>
          <a:ln/>
        </p:spPr>
      </p:sp>
      <p:sp>
        <p:nvSpPr>
          <p:cNvPr id="16" name="seal"/>
          <p:cNvSpPr/>
          <p:nvPr/>
        </p:nvSpPr>
        <p:spPr>
          <a:xfrm>
            <a:off x="8447837" y="1645920"/>
            <a:ext cx="548640" cy="548640"/>
          </a:xfrm>
          <a:prstGeom prst="roundRect">
            <a:avLst>
              <a:gd name="adj" fmla="val 18000"/>
            </a:avLst>
          </a:prstGeom>
          <a:solidFill>
            <a:schemeClr val="tx2"/>
          </a:solidFill>
          <a:ln/>
        </p:spPr>
      </p:sp>
      <p:pic>
        <p:nvPicPr>
          <p:cNvPr id="17" name="Image 2" descr="preencoded.png">    </p:cNvPr>
          <p:cNvPicPr>
            <a:picLocks noChangeAspect="1"/>
          </p:cNvPicPr>
          <p:nvPr/>
        </p:nvPicPr>
        <p:blipFill>
          <a:blip r:embed="rId3"/>
          <a:stretch>
            <a:fillRect/>
          </a:stretch>
        </p:blipFill>
        <p:spPr>
          <a:xfrm>
            <a:off x="8568538" y="1766621"/>
            <a:ext cx="307238" cy="307238"/>
          </a:xfrm>
          <a:prstGeom prst="rect">
            <a:avLst/>
          </a:prstGeom>
        </p:spPr>
      </p:pic>
      <p:sp>
        <p:nvSpPr>
          <p:cNvPr id="18" name="Text 13"/>
          <p:cNvSpPr txBox="1"/>
          <p:nvPr/>
        </p:nvSpPr>
        <p:spPr>
          <a:xfrm>
            <a:off x="9133637" y="1645920"/>
            <a:ext cx="2326538" cy="548640"/>
          </a:xfrm>
          <a:prstGeom prst="rect">
            <a:avLst/>
          </a:prstGeom>
          <a:noFill/>
          <a:ln/>
        </p:spPr>
        <p:txBody>
          <a:bodyPr wrap="square" lIns="0" tIns="0" rIns="0" bIns="0" rtlCol="0" anchor="ctr"/>
          <a:lstStyle/>
          <a:p>
            <a:pPr indent="0" marL="0">
              <a:buNone/>
            </a:pPr>
            <a:r>
              <a:rPr lang="en-US" sz="1400" b="1" dirty="0">
                <a:solidFill>
                  <a:schemeClr val="accent3"/>
                </a:solidFill>
              </a:rPr>
              <a:t>Translation, judged by machines</a:t>
            </a:r>
            <a:endParaRPr lang="en-US" sz="1400" dirty="0"/>
          </a:p>
        </p:txBody>
      </p:sp>
      <p:sp>
        <p:nvSpPr>
          <p:cNvPr id="19" name="Text 14"/>
          <p:cNvSpPr txBox="1"/>
          <p:nvPr/>
        </p:nvSpPr>
        <p:spPr>
          <a:xfrm>
            <a:off x="8447837" y="2377440"/>
            <a:ext cx="2875178" cy="77724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Automatic scores</a:t>
            </a:r>
            <a:endParaRPr lang="en-US" sz="2000" dirty="0"/>
          </a:p>
        </p:txBody>
      </p:sp>
      <p:sp>
        <p:nvSpPr>
          <p:cNvPr id="20" name="Text 15"/>
          <p:cNvSpPr txBox="1"/>
          <p:nvPr/>
        </p:nvSpPr>
        <p:spPr>
          <a:xfrm>
            <a:off x="8447837" y="3200400"/>
            <a:ext cx="2875178" cy="1874520"/>
          </a:xfrm>
          <a:prstGeom prst="rect">
            <a:avLst/>
          </a:prstGeom>
          <a:noFill/>
          <a:ln/>
        </p:spPr>
        <p:txBody>
          <a:bodyPr wrap="square" lIns="0" tIns="0" rIns="0" bIns="0" rtlCol="0" anchor="t"/>
          <a:lstStyle/>
          <a:p>
            <a:pPr marL="228600" indent="-228600">
              <a:spcAft>
                <a:spcPts val="800"/>
              </a:spcAft>
              <a:buSzPct val="100000"/>
              <a:buChar char="•"/>
            </a:pPr>
            <a:r>
              <a:rPr lang="en-US" sz="1450" dirty="0">
                <a:solidFill>
                  <a:schemeClr val="tx1"/>
                </a:solidFill>
              </a:rPr>
              <a:t>Overlap with a human translation (BLEU, chrF)</a:t>
            </a:r>
            <a:endParaRPr lang="en-US" sz="1450" dirty="0"/>
          </a:p>
          <a:p>
            <a:pPr marL="228600" indent="-228600">
              <a:spcAft>
                <a:spcPts val="800"/>
              </a:spcAft>
              <a:buSzPct val="100000"/>
              <a:buChar char="•"/>
            </a:pPr>
            <a:r>
              <a:rPr lang="en-US" sz="1450" dirty="0">
                <a:solidFill>
                  <a:schemeClr val="tx1"/>
                </a:solidFill>
              </a:rPr>
              <a:t>Or a model trained to agree with professionals (COMET)</a:t>
            </a:r>
            <a:endParaRPr lang="en-US" sz="1450" dirty="0"/>
          </a:p>
          <a:p>
            <a:pPr marL="228600" indent="-228600">
              <a:spcAft>
                <a:spcPts val="800"/>
              </a:spcAft>
              <a:buSzPct val="100000"/>
              <a:buChar char="•"/>
            </a:pPr>
            <a:r>
              <a:rPr lang="en-US" sz="1450" dirty="0">
                <a:solidFill>
                  <a:schemeClr val="tx1"/>
                </a:solidFill>
              </a:rPr>
              <a:t>Fast and cheap, but fooled by fluent text</a:t>
            </a:r>
            <a:endParaRPr lang="en-US" sz="1450" dirty="0"/>
          </a:p>
        </p:txBody>
      </p:sp>
      <p:sp>
        <p:nvSpPr>
          <p:cNvPr id="21" name="card"/>
          <p:cNvSpPr/>
          <p:nvPr/>
        </p:nvSpPr>
        <p:spPr>
          <a:xfrm>
            <a:off x="548640" y="5349240"/>
            <a:ext cx="11094415" cy="685800"/>
          </a:xfrm>
          <a:prstGeom prst="roundRect">
            <a:avLst>
              <a:gd name="adj" fmla="val 10667"/>
            </a:avLst>
          </a:prstGeom>
          <a:solidFill>
            <a:schemeClr val="tx1"/>
          </a:solidFill>
          <a:ln/>
        </p:spPr>
      </p:sp>
      <p:sp>
        <p:nvSpPr>
          <p:cNvPr id="22" name="Text 17"/>
          <p:cNvSpPr txBox="1"/>
          <p:nvPr/>
        </p:nvSpPr>
        <p:spPr>
          <a:xfrm>
            <a:off x="868680" y="5349240"/>
            <a:ext cx="10454335" cy="685800"/>
          </a:xfrm>
          <a:prstGeom prst="rect">
            <a:avLst/>
          </a:prstGeom>
          <a:noFill/>
          <a:ln/>
        </p:spPr>
        <p:txBody>
          <a:bodyPr wrap="square" lIns="0" tIns="0" rIns="0" bIns="0" rtlCol="0" anchor="ctr"/>
          <a:lstStyle/>
          <a:p>
            <a:pPr indent="0" marL="0">
              <a:buNone/>
            </a:pPr>
            <a:r>
              <a:rPr lang="en-US" sz="1700" dirty="0">
                <a:solidFill>
                  <a:schemeClr val="bg1"/>
                </a:solidFill>
                <a:latin typeface="Cambria" pitchFamily="34" charset="0"/>
                <a:ea typeface="Cambria" pitchFamily="34" charset="-122"/>
                <a:cs typeface="Cambria" pitchFamily="34" charset="-120"/>
              </a:rPr>
              <a:t>Fluent is not the same as correct. </a:t>
            </a:r>
            <a:pPr indent="0" marL="0">
              <a:buNone/>
            </a:pPr>
            <a:r>
              <a:rPr lang="en-US" sz="1700" b="1" dirty="0">
                <a:solidFill>
                  <a:srgbClr val="F08A7C"/>
                </a:solidFill>
                <a:latin typeface="Cambria" pitchFamily="34" charset="0"/>
                <a:ea typeface="Cambria" pitchFamily="34" charset="-122"/>
                <a:cs typeface="Cambria" pitchFamily="34" charset="-120"/>
              </a:rPr>
              <a:t>The findings that matter most in this talk come from people checking.</a:t>
            </a:r>
            <a:endParaRPr lang="en-US" sz="17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Neural networks: fluent, one line at a time</a:t>
            </a:r>
            <a:endParaRPr lang="en-US" sz="3200" dirty="0"/>
          </a:p>
        </p:txBody>
      </p:sp>
      <p:sp>
        <p:nvSpPr>
          <p:cNvPr id="3" name="seal"/>
          <p:cNvSpPr/>
          <p:nvPr/>
        </p:nvSpPr>
        <p:spPr>
          <a:xfrm>
            <a:off x="548640" y="1371600"/>
            <a:ext cx="566928" cy="566928"/>
          </a:xfrm>
          <a:prstGeom prst="roundRect">
            <a:avLst>
              <a:gd name="adj" fmla="val 18000"/>
            </a:avLst>
          </a:prstGeom>
          <a:solidFill>
            <a:schemeClr val="accent1"/>
          </a:solidFill>
          <a:ln/>
        </p:spPr>
      </p:sp>
      <p:sp>
        <p:nvSpPr>
          <p:cNvPr id="4" name="Text 2"/>
          <p:cNvSpPr txBox="1"/>
          <p:nvPr/>
        </p:nvSpPr>
        <p:spPr>
          <a:xfrm>
            <a:off x="548640" y="137160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5" name="Text 3"/>
          <p:cNvSpPr txBox="1"/>
          <p:nvPr/>
        </p:nvSpPr>
        <p:spPr>
          <a:xfrm>
            <a:off x="1325880" y="1371600"/>
            <a:ext cx="2286000" cy="566928"/>
          </a:xfrm>
          <a:prstGeom prst="rect">
            <a:avLst/>
          </a:prstGeom>
          <a:noFill/>
          <a:ln/>
        </p:spPr>
        <p:txBody>
          <a:bodyPr wrap="square" lIns="0" tIns="0" rIns="0" bIns="0" rtlCol="0" anchor="ctr"/>
          <a:lstStyle/>
          <a:p>
            <a:pPr indent="0" marL="0">
              <a:buNone/>
            </a:pPr>
            <a:r>
              <a:rPr lang="en-US" sz="1600" b="1" dirty="0">
                <a:solidFill>
                  <a:schemeClr val="accent1"/>
                </a:solidFill>
              </a:rPr>
              <a:t>2012–2019</a:t>
            </a:r>
            <a:endParaRPr lang="en-US" sz="1600" dirty="0"/>
          </a:p>
        </p:txBody>
      </p:sp>
      <p:sp>
        <p:nvSpPr>
          <p:cNvPr id="6" name="Text 4"/>
          <p:cNvSpPr txBox="1"/>
          <p:nvPr/>
        </p:nvSpPr>
        <p:spPr>
          <a:xfrm>
            <a:off x="2834640" y="1335024"/>
            <a:ext cx="8808415" cy="640080"/>
          </a:xfrm>
          <a:prstGeom prst="rect">
            <a:avLst/>
          </a:prstGeom>
          <a:noFill/>
          <a:ln/>
        </p:spPr>
        <p:txBody>
          <a:bodyPr wrap="square" lIns="0" tIns="0" rIns="0" bIns="0" rtlCol="0" anchor="ctr"/>
          <a:lstStyle/>
          <a:p>
            <a:pPr indent="0" marL="0">
              <a:buNone/>
            </a:pPr>
            <a:r>
              <a:rPr lang="en-US" sz="2000" i="1" dirty="0">
                <a:solidFill>
                  <a:schemeClr val="tx2"/>
                </a:solidFill>
                <a:latin typeface="Cambria" pitchFamily="34" charset="0"/>
                <a:ea typeface="Cambria" pitchFamily="34" charset="-122"/>
                <a:cs typeface="Cambria" pitchFamily="34" charset="-120"/>
              </a:rPr>
              <a:t>“A very fast reader with no memory of the previous sentence.”</a:t>
            </a:r>
            <a:endParaRPr lang="en-US" sz="2000" dirty="0"/>
          </a:p>
        </p:txBody>
      </p:sp>
      <p:sp>
        <p:nvSpPr>
          <p:cNvPr id="7" name="card"/>
          <p:cNvSpPr/>
          <p:nvPr/>
        </p:nvSpPr>
        <p:spPr>
          <a:xfrm>
            <a:off x="548640" y="2240280"/>
            <a:ext cx="5394960" cy="2514600"/>
          </a:xfrm>
          <a:prstGeom prst="roundRect">
            <a:avLst>
              <a:gd name="adj" fmla="val 2909"/>
            </a:avLst>
          </a:prstGeom>
          <a:solidFill>
            <a:schemeClr val="bg2"/>
          </a:solidFill>
          <a:ln/>
        </p:spPr>
      </p:sp>
      <p:pic>
        <p:nvPicPr>
          <p:cNvPr id="8" name="Image 0" descr="preencoded.png">    </p:cNvPr>
          <p:cNvPicPr>
            <a:picLocks noChangeAspect="1"/>
          </p:cNvPicPr>
          <p:nvPr/>
        </p:nvPicPr>
        <p:blipFill>
          <a:blip r:embed="rId1"/>
          <a:stretch>
            <a:fillRect/>
          </a:stretch>
        </p:blipFill>
        <p:spPr>
          <a:xfrm>
            <a:off x="868680" y="2450592"/>
            <a:ext cx="329184" cy="329184"/>
          </a:xfrm>
          <a:prstGeom prst="rect">
            <a:avLst/>
          </a:prstGeom>
        </p:spPr>
      </p:pic>
      <p:sp>
        <p:nvSpPr>
          <p:cNvPr id="9" name="Text 6"/>
          <p:cNvSpPr txBox="1"/>
          <p:nvPr/>
        </p:nvSpPr>
        <p:spPr>
          <a:xfrm>
            <a:off x="1325880" y="2423160"/>
            <a:ext cx="4206240" cy="384048"/>
          </a:xfrm>
          <a:prstGeom prst="rect">
            <a:avLst/>
          </a:prstGeom>
          <a:noFill/>
          <a:ln/>
        </p:spPr>
        <p:txBody>
          <a:bodyPr wrap="square" lIns="0" tIns="0" rIns="0" bIns="0" rtlCol="0" anchor="ctr"/>
          <a:lstStyle/>
          <a:p>
            <a:pPr indent="0" marL="0">
              <a:buNone/>
            </a:pPr>
            <a:r>
              <a:rPr lang="en-US" sz="1800" b="1" dirty="0">
                <a:solidFill>
                  <a:schemeClr val="tx1"/>
                </a:solidFill>
              </a:rPr>
              <a:t>Reading (OCR)</a:t>
            </a:r>
            <a:endParaRPr lang="en-US" sz="1800" dirty="0"/>
          </a:p>
        </p:txBody>
      </p:sp>
      <p:pic>
        <p:nvPicPr>
          <p:cNvPr id="10" name="Image 1" descr="preencoded.png">    </p:cNvPr>
          <p:cNvPicPr>
            <a:picLocks noChangeAspect="1"/>
          </p:cNvPicPr>
          <p:nvPr/>
        </p:nvPicPr>
        <p:blipFill>
          <a:blip r:embed="rId2"/>
          <a:stretch>
            <a:fillRect/>
          </a:stretch>
        </p:blipFill>
        <p:spPr>
          <a:xfrm>
            <a:off x="868680" y="3044952"/>
            <a:ext cx="274320" cy="274320"/>
          </a:xfrm>
          <a:prstGeom prst="rect">
            <a:avLst/>
          </a:prstGeom>
        </p:spPr>
      </p:pic>
      <p:sp>
        <p:nvSpPr>
          <p:cNvPr id="11" name="Text 7"/>
          <p:cNvSpPr txBox="1"/>
          <p:nvPr/>
        </p:nvSpPr>
        <p:spPr>
          <a:xfrm>
            <a:off x="1325880" y="2999232"/>
            <a:ext cx="4343400" cy="822960"/>
          </a:xfrm>
          <a:prstGeom prst="rect">
            <a:avLst/>
          </a:prstGeom>
          <a:noFill/>
          <a:ln/>
        </p:spPr>
        <p:txBody>
          <a:bodyPr wrap="square" lIns="0" tIns="0" rIns="0" bIns="0" rtlCol="0" anchor="t"/>
          <a:lstStyle/>
          <a:p>
            <a:pPr indent="0" marL="0">
              <a:buNone/>
            </a:pPr>
            <a:r>
              <a:rPr lang="en-US" sz="1500" dirty="0">
                <a:solidFill>
                  <a:schemeClr val="tx1"/>
                </a:solidFill>
              </a:rPr>
              <a:t>Learns letter shapes from examples: any font, noisy scans, handwriting</a:t>
            </a:r>
            <a:endParaRPr lang="en-US" sz="1500" dirty="0"/>
          </a:p>
        </p:txBody>
      </p:sp>
      <p:pic>
        <p:nvPicPr>
          <p:cNvPr id="12" name="Image 2" descr="preencoded.png">    </p:cNvPr>
          <p:cNvPicPr>
            <a:picLocks noChangeAspect="1"/>
          </p:cNvPicPr>
          <p:nvPr/>
        </p:nvPicPr>
        <p:blipFill>
          <a:blip r:embed="rId3"/>
          <a:stretch>
            <a:fillRect/>
          </a:stretch>
        </p:blipFill>
        <p:spPr>
          <a:xfrm>
            <a:off x="868680" y="3904488"/>
            <a:ext cx="274320" cy="274320"/>
          </a:xfrm>
          <a:prstGeom prst="rect">
            <a:avLst/>
          </a:prstGeom>
        </p:spPr>
      </p:pic>
      <p:sp>
        <p:nvSpPr>
          <p:cNvPr id="13" name="Text 8"/>
          <p:cNvSpPr txBox="1"/>
          <p:nvPr/>
        </p:nvSpPr>
        <p:spPr>
          <a:xfrm>
            <a:off x="1325880" y="3858768"/>
            <a:ext cx="4343400" cy="822960"/>
          </a:xfrm>
          <a:prstGeom prst="rect">
            <a:avLst/>
          </a:prstGeom>
          <a:noFill/>
          <a:ln/>
        </p:spPr>
        <p:txBody>
          <a:bodyPr wrap="square" lIns="0" tIns="0" rIns="0" bIns="0" rtlCol="0" anchor="t"/>
          <a:lstStyle/>
          <a:p>
            <a:pPr indent="0" marL="0">
              <a:buNone/>
            </a:pPr>
            <a:r>
              <a:rPr lang="en-US" sz="1500" dirty="0">
                <a:solidFill>
                  <a:schemeClr val="tx1"/>
                </a:solidFill>
              </a:rPr>
              <a:t>Reads line by line: two columns get stitched together, tables fall apart</a:t>
            </a:r>
            <a:endParaRPr lang="en-US" sz="1500" dirty="0"/>
          </a:p>
        </p:txBody>
      </p:sp>
      <p:sp>
        <p:nvSpPr>
          <p:cNvPr id="14" name="card"/>
          <p:cNvSpPr/>
          <p:nvPr/>
        </p:nvSpPr>
        <p:spPr>
          <a:xfrm>
            <a:off x="6217920" y="2240280"/>
            <a:ext cx="5394960" cy="2514600"/>
          </a:xfrm>
          <a:prstGeom prst="roundRect">
            <a:avLst>
              <a:gd name="adj" fmla="val 2909"/>
            </a:avLst>
          </a:prstGeom>
          <a:solidFill>
            <a:schemeClr val="bg2"/>
          </a:solidFill>
          <a:ln/>
        </p:spPr>
      </p:sp>
      <p:pic>
        <p:nvPicPr>
          <p:cNvPr id="15" name="Image 3" descr="preencoded.png">    </p:cNvPr>
          <p:cNvPicPr>
            <a:picLocks noChangeAspect="1"/>
          </p:cNvPicPr>
          <p:nvPr/>
        </p:nvPicPr>
        <p:blipFill>
          <a:blip r:embed="rId4"/>
          <a:stretch>
            <a:fillRect/>
          </a:stretch>
        </p:blipFill>
        <p:spPr>
          <a:xfrm>
            <a:off x="6537960" y="2450592"/>
            <a:ext cx="329184" cy="329184"/>
          </a:xfrm>
          <a:prstGeom prst="rect">
            <a:avLst/>
          </a:prstGeom>
        </p:spPr>
      </p:pic>
      <p:sp>
        <p:nvSpPr>
          <p:cNvPr id="16" name="Text 10"/>
          <p:cNvSpPr txBox="1"/>
          <p:nvPr/>
        </p:nvSpPr>
        <p:spPr>
          <a:xfrm>
            <a:off x="6995160" y="2423160"/>
            <a:ext cx="4206240" cy="384048"/>
          </a:xfrm>
          <a:prstGeom prst="rect">
            <a:avLst/>
          </a:prstGeom>
          <a:noFill/>
          <a:ln/>
        </p:spPr>
        <p:txBody>
          <a:bodyPr wrap="square" lIns="0" tIns="0" rIns="0" bIns="0" rtlCol="0" anchor="ctr"/>
          <a:lstStyle/>
          <a:p>
            <a:pPr indent="0" marL="0">
              <a:buNone/>
            </a:pPr>
            <a:r>
              <a:rPr lang="en-US" sz="1800" b="1" dirty="0">
                <a:solidFill>
                  <a:schemeClr val="tx1"/>
                </a:solidFill>
              </a:rPr>
              <a:t>Translation</a:t>
            </a:r>
            <a:endParaRPr lang="en-US" sz="1800" dirty="0"/>
          </a:p>
        </p:txBody>
      </p:sp>
      <p:pic>
        <p:nvPicPr>
          <p:cNvPr id="17" name="Image 4" descr="preencoded.png">    </p:cNvPr>
          <p:cNvPicPr>
            <a:picLocks noChangeAspect="1"/>
          </p:cNvPicPr>
          <p:nvPr/>
        </p:nvPicPr>
        <p:blipFill>
          <a:blip r:embed="rId5"/>
          <a:stretch>
            <a:fillRect/>
          </a:stretch>
        </p:blipFill>
        <p:spPr>
          <a:xfrm>
            <a:off x="6537960" y="3044952"/>
            <a:ext cx="274320" cy="274320"/>
          </a:xfrm>
          <a:prstGeom prst="rect">
            <a:avLst/>
          </a:prstGeom>
        </p:spPr>
      </p:pic>
      <p:sp>
        <p:nvSpPr>
          <p:cNvPr id="18" name="Text 11"/>
          <p:cNvSpPr txBox="1"/>
          <p:nvPr/>
        </p:nvSpPr>
        <p:spPr>
          <a:xfrm>
            <a:off x="6995160" y="2999232"/>
            <a:ext cx="4343400" cy="822960"/>
          </a:xfrm>
          <a:prstGeom prst="rect">
            <a:avLst/>
          </a:prstGeom>
          <a:noFill/>
          <a:ln/>
        </p:spPr>
        <p:txBody>
          <a:bodyPr wrap="square" lIns="0" tIns="0" rIns="0" bIns="0" rtlCol="0" anchor="t"/>
          <a:lstStyle/>
          <a:p>
            <a:pPr indent="0" marL="0">
              <a:buNone/>
            </a:pPr>
            <a:r>
              <a:rPr lang="en-US" sz="1500" dirty="0">
                <a:solidFill>
                  <a:schemeClr val="tx1"/>
                </a:solidFill>
              </a:rPr>
              <a:t>Reads the whole sentence before writing: fluent English for the first time</a:t>
            </a:r>
            <a:endParaRPr lang="en-US" sz="1500" dirty="0"/>
          </a:p>
        </p:txBody>
      </p:sp>
      <p:pic>
        <p:nvPicPr>
          <p:cNvPr id="19" name="Image 5" descr="preencoded.png">    </p:cNvPr>
          <p:cNvPicPr>
            <a:picLocks noChangeAspect="1"/>
          </p:cNvPicPr>
          <p:nvPr/>
        </p:nvPicPr>
        <p:blipFill>
          <a:blip r:embed="rId6"/>
          <a:stretch>
            <a:fillRect/>
          </a:stretch>
        </p:blipFill>
        <p:spPr>
          <a:xfrm>
            <a:off x="6537960" y="3904488"/>
            <a:ext cx="274320" cy="274320"/>
          </a:xfrm>
          <a:prstGeom prst="rect">
            <a:avLst/>
          </a:prstGeom>
        </p:spPr>
      </p:pic>
      <p:sp>
        <p:nvSpPr>
          <p:cNvPr id="20" name="Text 12"/>
          <p:cNvSpPr txBox="1"/>
          <p:nvPr/>
        </p:nvSpPr>
        <p:spPr>
          <a:xfrm>
            <a:off x="6995160" y="3858768"/>
            <a:ext cx="4343400" cy="822960"/>
          </a:xfrm>
          <a:prstGeom prst="rect">
            <a:avLst/>
          </a:prstGeom>
          <a:noFill/>
          <a:ln/>
        </p:spPr>
        <p:txBody>
          <a:bodyPr wrap="square" lIns="0" tIns="0" rIns="0" bIns="0" rtlCol="0" anchor="t"/>
          <a:lstStyle/>
          <a:p>
            <a:pPr indent="0" marL="0">
              <a:buNone/>
            </a:pPr>
            <a:r>
              <a:rPr lang="en-US" sz="1500" dirty="0">
                <a:solidFill>
                  <a:schemeClr val="tx1"/>
                </a:solidFill>
              </a:rPr>
              <a:t>One sentence at a time: no idea who “he” is, or what a term meant two pages ago</a:t>
            </a:r>
            <a:endParaRPr lang="en-US" sz="1500" dirty="0"/>
          </a:p>
        </p:txBody>
      </p:sp>
      <p:sp>
        <p:nvSpPr>
          <p:cNvPr id="21" name="card"/>
          <p:cNvSpPr/>
          <p:nvPr/>
        </p:nvSpPr>
        <p:spPr>
          <a:xfrm>
            <a:off x="548640" y="4983480"/>
            <a:ext cx="11094415" cy="1097280"/>
          </a:xfrm>
          <a:prstGeom prst="roundRect">
            <a:avLst>
              <a:gd name="adj" fmla="val 6667"/>
            </a:avLst>
          </a:prstGeom>
          <a:solidFill>
            <a:schemeClr val="tx1"/>
          </a:solidFill>
          <a:ln/>
        </p:spPr>
      </p:sp>
      <p:sp>
        <p:nvSpPr>
          <p:cNvPr id="22" name="Text 14"/>
          <p:cNvSpPr txBox="1"/>
          <p:nvPr/>
        </p:nvSpPr>
        <p:spPr>
          <a:xfrm>
            <a:off x="868680" y="4983480"/>
            <a:ext cx="10454335" cy="1097280"/>
          </a:xfrm>
          <a:prstGeom prst="rect">
            <a:avLst/>
          </a:prstGeom>
          <a:noFill/>
          <a:ln/>
        </p:spPr>
        <p:txBody>
          <a:bodyPr wrap="square" lIns="0" tIns="0" rIns="0" bIns="0" rtlCol="0" anchor="ctr"/>
          <a:lstStyle/>
          <a:p>
            <a:pPr indent="0" marL="0">
              <a:buNone/>
            </a:pPr>
            <a:r>
              <a:rPr lang="en-US" sz="1550" b="1" dirty="0">
                <a:solidFill>
                  <a:srgbClr val="F08A7C"/>
                </a:solidFill>
              </a:rPr>
              <a:t>In numbers  </a:t>
            </a:r>
            <a:pPr indent="0" marL="0">
              <a:buNone/>
            </a:pPr>
            <a:r>
              <a:rPr lang="en-US" sz="1550" dirty="0">
                <a:solidFill>
                  <a:schemeClr val="bg1"/>
                </a:solidFill>
              </a:rPr>
              <a:t>Google's 2016 switch cut errors by about 60% on big language pairs, and the same system turned “recent events have unnerved investors” into French for “have attracted investors”.</a:t>
            </a:r>
            <a:endParaRPr lang="en-US" sz="155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“Human parity” in 2018? Not for whole documents</a:t>
            </a:r>
            <a:endParaRPr lang="en-US" sz="3200" dirty="0"/>
          </a:p>
        </p:txBody>
      </p:sp>
      <p:graphicFrame>
        <p:nvGraphicFramePr>
          <p:cNvPr id="3" name="Chart 0" descr=""/>
          <p:cNvGraphicFramePr/>
          <p:nvPr/>
        </p:nvGraphicFramePr>
        <p:xfrm>
          <a:off x="548640" y="137160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680960" y="1463040"/>
            <a:ext cx="3962095" cy="1097280"/>
          </a:xfrm>
          <a:prstGeom prst="rect">
            <a:avLst/>
          </a:prstGeom>
          <a:noFill/>
          <a:ln/>
        </p:spPr>
        <p:txBody>
          <a:bodyPr wrap="square" lIns="0" tIns="0" rIns="0" bIns="0" rtlCol="0" anchor="t"/>
          <a:lstStyle/>
          <a:p>
            <a:pPr indent="0" marL="0">
              <a:buNone/>
            </a:pPr>
            <a:r>
              <a:rPr lang="en-US" sz="1700" dirty="0">
                <a:solidFill>
                  <a:schemeClr val="tx1"/>
                </a:solidFill>
              </a:rPr>
              <a:t>In 2018 Microsoft reported that its Chinese → English news system had reached “human parity”.</a:t>
            </a:r>
            <a:endParaRPr lang="en-US" sz="1700" dirty="0"/>
          </a:p>
        </p:txBody>
      </p:sp>
      <p:sp>
        <p:nvSpPr>
          <p:cNvPr id="5" name="Text 2"/>
          <p:cNvSpPr txBox="1"/>
          <p:nvPr/>
        </p:nvSpPr>
        <p:spPr>
          <a:xfrm>
            <a:off x="7680960" y="2651760"/>
            <a:ext cx="3962095" cy="1097280"/>
          </a:xfrm>
          <a:prstGeom prst="rect">
            <a:avLst/>
          </a:prstGeom>
          <a:noFill/>
          <a:ln/>
        </p:spPr>
        <p:txBody>
          <a:bodyPr wrap="square" lIns="0" tIns="0" rIns="0" bIns="0" rtlCol="0" anchor="t"/>
          <a:lstStyle/>
          <a:p>
            <a:pPr indent="0" marL="0">
              <a:buNone/>
            </a:pPr>
            <a:r>
              <a:rPr lang="en-US" sz="1700" dirty="0">
                <a:solidFill>
                  <a:schemeClr val="tx1"/>
                </a:solidFill>
              </a:rPr>
              <a:t>Researchers re-ran the test with professional translators, once sentence by sentence and once with whole articles.</a:t>
            </a:r>
            <a:endParaRPr lang="en-US" sz="1700" dirty="0"/>
          </a:p>
        </p:txBody>
      </p:sp>
      <p:sp>
        <p:nvSpPr>
          <p:cNvPr id="6" name="card"/>
          <p:cNvSpPr/>
          <p:nvPr/>
        </p:nvSpPr>
        <p:spPr>
          <a:xfrm>
            <a:off x="7680960" y="3977640"/>
            <a:ext cx="3962095" cy="1874520"/>
          </a:xfrm>
          <a:prstGeom prst="roundRect">
            <a:avLst>
              <a:gd name="adj" fmla="val 3902"/>
            </a:avLst>
          </a:prstGeom>
          <a:solidFill>
            <a:schemeClr val="tx1"/>
          </a:solidFill>
          <a:ln/>
        </p:spPr>
      </p:sp>
      <p:sp>
        <p:nvSpPr>
          <p:cNvPr id="7" name="Text 4"/>
          <p:cNvSpPr txBox="1"/>
          <p:nvPr/>
        </p:nvSpPr>
        <p:spPr>
          <a:xfrm>
            <a:off x="7955280" y="4069080"/>
            <a:ext cx="3413455" cy="1691640"/>
          </a:xfrm>
          <a:prstGeom prst="rect">
            <a:avLst/>
          </a:prstGeom>
          <a:noFill/>
          <a:ln/>
        </p:spPr>
        <p:txBody>
          <a:bodyPr wrap="square" lIns="0" tIns="0" rIns="0" bIns="0" rtlCol="0" anchor="t"/>
          <a:lstStyle/>
          <a:p>
            <a:pPr indent="0" marL="0">
              <a:buNone/>
            </a:pPr>
            <a:r>
              <a:rPr lang="en-US" sz="1600" b="1" dirty="0">
                <a:solidFill>
                  <a:srgbClr val="F08A7C"/>
                </a:solidFill>
              </a:rPr>
              <a:t>With context, the human won. </a:t>
            </a:r>
            <a:endParaRPr lang="en-US" sz="1600" dirty="0"/>
          </a:p>
          <a:p>
            <a:pPr indent="0" marL="0">
              <a:buNone/>
            </a:pPr>
            <a:r>
              <a:rPr lang="en-US" sz="1600" dirty="0">
                <a:solidFill>
                  <a:schemeClr val="bg1"/>
                </a:solidFill>
              </a:rPr>
              <a:t>The machine named the same app three different ways in one article.</a:t>
            </a:r>
            <a:endParaRPr lang="en-US" sz="1600" dirty="0"/>
          </a:p>
        </p:txBody>
      </p:sp>
      <p:sp>
        <p:nvSpPr>
          <p:cNvPr id="8" name="Text 5"/>
          <p:cNvSpPr txBox="1"/>
          <p:nvPr/>
        </p:nvSpPr>
        <p:spPr>
          <a:xfrm>
            <a:off x="548640" y="6053328"/>
            <a:ext cx="10271455" cy="256032"/>
          </a:xfrm>
          <a:prstGeom prst="rect">
            <a:avLst/>
          </a:prstGeom>
          <a:noFill/>
          <a:ln/>
        </p:spPr>
        <p:txBody>
          <a:bodyPr wrap="square" lIns="0" tIns="0" rIns="0" bIns="0" rtlCol="0" anchor="t"/>
          <a:lstStyle/>
          <a:p>
            <a:pPr indent="0" marL="0">
              <a:buNone/>
            </a:pPr>
            <a:r>
              <a:rPr lang="en-US" sz="950" dirty="0">
                <a:solidFill>
                  <a:schemeClr val="accent3"/>
                </a:solidFill>
              </a:rPr>
              <a:t>Läubli, Sennrich &amp; Volk, EMNLP 2018 (arxiv.org/abs/1808.07048). Remaining votes: no preference.</a:t>
            </a:r>
            <a:endParaRPr lang="en-US" sz="95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Language models: translation you can talk to</a:t>
            </a:r>
            <a:endParaRPr lang="en-US" sz="3200" dirty="0"/>
          </a:p>
        </p:txBody>
      </p:sp>
      <p:sp>
        <p:nvSpPr>
          <p:cNvPr id="3" name="seal"/>
          <p:cNvSpPr/>
          <p:nvPr/>
        </p:nvSpPr>
        <p:spPr>
          <a:xfrm>
            <a:off x="548640" y="1371600"/>
            <a:ext cx="566928" cy="566928"/>
          </a:xfrm>
          <a:prstGeom prst="roundRect">
            <a:avLst>
              <a:gd name="adj" fmla="val 18000"/>
            </a:avLst>
          </a:prstGeom>
          <a:solidFill>
            <a:schemeClr val="accent1"/>
          </a:solidFill>
          <a:ln/>
        </p:spPr>
      </p:sp>
      <p:sp>
        <p:nvSpPr>
          <p:cNvPr id="4" name="Text 2"/>
          <p:cNvSpPr txBox="1"/>
          <p:nvPr/>
        </p:nvSpPr>
        <p:spPr>
          <a:xfrm>
            <a:off x="548640" y="137160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5" name="Text 3"/>
          <p:cNvSpPr txBox="1"/>
          <p:nvPr/>
        </p:nvSpPr>
        <p:spPr>
          <a:xfrm>
            <a:off x="1325880" y="1371600"/>
            <a:ext cx="2286000" cy="566928"/>
          </a:xfrm>
          <a:prstGeom prst="rect">
            <a:avLst/>
          </a:prstGeom>
          <a:noFill/>
          <a:ln/>
        </p:spPr>
        <p:txBody>
          <a:bodyPr wrap="square" lIns="0" tIns="0" rIns="0" bIns="0" rtlCol="0" anchor="ctr"/>
          <a:lstStyle/>
          <a:p>
            <a:pPr indent="0" marL="0">
              <a:buNone/>
            </a:pPr>
            <a:r>
              <a:rPr lang="en-US" sz="1600" b="1" dirty="0">
                <a:solidFill>
                  <a:schemeClr val="accent1"/>
                </a:solidFill>
              </a:rPr>
              <a:t>2020–</a:t>
            </a:r>
            <a:endParaRPr lang="en-US" sz="1600" dirty="0"/>
          </a:p>
        </p:txBody>
      </p:sp>
      <p:sp>
        <p:nvSpPr>
          <p:cNvPr id="6" name="Text 4"/>
          <p:cNvSpPr txBox="1"/>
          <p:nvPr/>
        </p:nvSpPr>
        <p:spPr>
          <a:xfrm>
            <a:off x="2834640" y="1335024"/>
            <a:ext cx="8808415" cy="640080"/>
          </a:xfrm>
          <a:prstGeom prst="rect">
            <a:avLst/>
          </a:prstGeom>
          <a:noFill/>
          <a:ln/>
        </p:spPr>
        <p:txBody>
          <a:bodyPr wrap="square" lIns="0" tIns="0" rIns="0" bIns="0" rtlCol="0" anchor="ctr"/>
          <a:lstStyle/>
          <a:p>
            <a:pPr indent="0" marL="0">
              <a:buNone/>
            </a:pPr>
            <a:r>
              <a:rPr lang="en-US" sz="2000" i="1" dirty="0">
                <a:solidFill>
                  <a:schemeClr val="tx2"/>
                </a:solidFill>
                <a:latin typeface="Cambria" pitchFamily="34" charset="0"/>
                <a:ea typeface="Cambria" pitchFamily="34" charset="-122"/>
                <a:cs typeface="Cambria" pitchFamily="34" charset="-120"/>
              </a:rPr>
              <a:t>“A well-read assistant who has read the whole document, and never admits uncertainty.”</a:t>
            </a:r>
            <a:endParaRPr lang="en-US" sz="2000" dirty="0"/>
          </a:p>
        </p:txBody>
      </p:sp>
      <p:sp>
        <p:nvSpPr>
          <p:cNvPr id="7" name="card"/>
          <p:cNvSpPr/>
          <p:nvPr/>
        </p:nvSpPr>
        <p:spPr>
          <a:xfrm>
            <a:off x="548640" y="2240280"/>
            <a:ext cx="5394960" cy="2514600"/>
          </a:xfrm>
          <a:prstGeom prst="roundRect">
            <a:avLst>
              <a:gd name="adj" fmla="val 2909"/>
            </a:avLst>
          </a:prstGeom>
          <a:solidFill>
            <a:schemeClr val="bg2"/>
          </a:solidFill>
          <a:ln/>
        </p:spPr>
      </p:sp>
      <p:pic>
        <p:nvPicPr>
          <p:cNvPr id="8" name="Image 0" descr="preencoded.png">    </p:cNvPr>
          <p:cNvPicPr>
            <a:picLocks noChangeAspect="1"/>
          </p:cNvPicPr>
          <p:nvPr/>
        </p:nvPicPr>
        <p:blipFill>
          <a:blip r:embed="rId1"/>
          <a:stretch>
            <a:fillRect/>
          </a:stretch>
        </p:blipFill>
        <p:spPr>
          <a:xfrm>
            <a:off x="868680" y="2450592"/>
            <a:ext cx="329184" cy="329184"/>
          </a:xfrm>
          <a:prstGeom prst="rect">
            <a:avLst/>
          </a:prstGeom>
        </p:spPr>
      </p:pic>
      <p:sp>
        <p:nvSpPr>
          <p:cNvPr id="9" name="Text 6"/>
          <p:cNvSpPr txBox="1"/>
          <p:nvPr/>
        </p:nvSpPr>
        <p:spPr>
          <a:xfrm>
            <a:off x="1325880" y="2423160"/>
            <a:ext cx="4206240" cy="384048"/>
          </a:xfrm>
          <a:prstGeom prst="rect">
            <a:avLst/>
          </a:prstGeom>
          <a:noFill/>
          <a:ln/>
        </p:spPr>
        <p:txBody>
          <a:bodyPr wrap="square" lIns="0" tIns="0" rIns="0" bIns="0" rtlCol="0" anchor="ctr"/>
          <a:lstStyle/>
          <a:p>
            <a:pPr indent="0" marL="0">
              <a:buNone/>
            </a:pPr>
            <a:r>
              <a:rPr lang="en-US" sz="1800" b="1" dirty="0">
                <a:solidFill>
                  <a:schemeClr val="tx1"/>
                </a:solidFill>
              </a:rPr>
              <a:t>Reading (OCR)</a:t>
            </a:r>
            <a:endParaRPr lang="en-US" sz="1800" dirty="0"/>
          </a:p>
        </p:txBody>
      </p:sp>
      <p:pic>
        <p:nvPicPr>
          <p:cNvPr id="10" name="Image 1" descr="preencoded.png">    </p:cNvPr>
          <p:cNvPicPr>
            <a:picLocks noChangeAspect="1"/>
          </p:cNvPicPr>
          <p:nvPr/>
        </p:nvPicPr>
        <p:blipFill>
          <a:blip r:embed="rId2"/>
          <a:stretch>
            <a:fillRect/>
          </a:stretch>
        </p:blipFill>
        <p:spPr>
          <a:xfrm>
            <a:off x="868680" y="3044952"/>
            <a:ext cx="274320" cy="274320"/>
          </a:xfrm>
          <a:prstGeom prst="rect">
            <a:avLst/>
          </a:prstGeom>
        </p:spPr>
      </p:pic>
      <p:sp>
        <p:nvSpPr>
          <p:cNvPr id="11" name="Text 7"/>
          <p:cNvSpPr txBox="1"/>
          <p:nvPr/>
        </p:nvSpPr>
        <p:spPr>
          <a:xfrm>
            <a:off x="1325880" y="2999232"/>
            <a:ext cx="4343400" cy="822960"/>
          </a:xfrm>
          <a:prstGeom prst="rect">
            <a:avLst/>
          </a:prstGeom>
          <a:noFill/>
          <a:ln/>
        </p:spPr>
        <p:txBody>
          <a:bodyPr wrap="square" lIns="0" tIns="0" rIns="0" bIns="0" rtlCol="0" anchor="t"/>
          <a:lstStyle/>
          <a:p>
            <a:pPr indent="0" marL="0">
              <a:buNone/>
            </a:pPr>
            <a:r>
              <a:rPr lang="en-US" sz="1500" dirty="0">
                <a:solidFill>
                  <a:schemeClr val="tx1"/>
                </a:solidFill>
              </a:rPr>
              <a:t>Can clean up OCR text: rejoin broken lines and hyphenated words</a:t>
            </a:r>
            <a:endParaRPr lang="en-US" sz="1500" dirty="0"/>
          </a:p>
        </p:txBody>
      </p:sp>
      <p:pic>
        <p:nvPicPr>
          <p:cNvPr id="12" name="Image 2" descr="preencoded.png">    </p:cNvPr>
          <p:cNvPicPr>
            <a:picLocks noChangeAspect="1"/>
          </p:cNvPicPr>
          <p:nvPr/>
        </p:nvPicPr>
        <p:blipFill>
          <a:blip r:embed="rId3"/>
          <a:stretch>
            <a:fillRect/>
          </a:stretch>
        </p:blipFill>
        <p:spPr>
          <a:xfrm>
            <a:off x="868680" y="3904488"/>
            <a:ext cx="274320" cy="274320"/>
          </a:xfrm>
          <a:prstGeom prst="rect">
            <a:avLst/>
          </a:prstGeom>
        </p:spPr>
      </p:pic>
      <p:sp>
        <p:nvSpPr>
          <p:cNvPr id="13" name="Text 8"/>
          <p:cNvSpPr txBox="1"/>
          <p:nvPr/>
        </p:nvSpPr>
        <p:spPr>
          <a:xfrm>
            <a:off x="1325880" y="3858768"/>
            <a:ext cx="4343400" cy="822960"/>
          </a:xfrm>
          <a:prstGeom prst="rect">
            <a:avLst/>
          </a:prstGeom>
          <a:noFill/>
          <a:ln/>
        </p:spPr>
        <p:txBody>
          <a:bodyPr wrap="square" lIns="0" tIns="0" rIns="0" bIns="0" rtlCol="0" anchor="t"/>
          <a:lstStyle/>
          <a:p>
            <a:pPr indent="0" marL="0">
              <a:buNone/>
            </a:pPr>
            <a:r>
              <a:rPr lang="en-US" sz="1500" dirty="0">
                <a:solidFill>
                  <a:schemeClr val="tx1"/>
                </a:solidFill>
              </a:rPr>
              <a:t>Text only: it can't see the page, so it “fixes” what it can't check</a:t>
            </a:r>
            <a:endParaRPr lang="en-US" sz="1500" dirty="0"/>
          </a:p>
        </p:txBody>
      </p:sp>
      <p:sp>
        <p:nvSpPr>
          <p:cNvPr id="14" name="card"/>
          <p:cNvSpPr/>
          <p:nvPr/>
        </p:nvSpPr>
        <p:spPr>
          <a:xfrm>
            <a:off x="6217920" y="2240280"/>
            <a:ext cx="5394960" cy="2514600"/>
          </a:xfrm>
          <a:prstGeom prst="roundRect">
            <a:avLst>
              <a:gd name="adj" fmla="val 2909"/>
            </a:avLst>
          </a:prstGeom>
          <a:solidFill>
            <a:schemeClr val="bg2"/>
          </a:solidFill>
          <a:ln/>
        </p:spPr>
      </p:sp>
      <p:pic>
        <p:nvPicPr>
          <p:cNvPr id="15" name="Image 3" descr="preencoded.png">    </p:cNvPr>
          <p:cNvPicPr>
            <a:picLocks noChangeAspect="1"/>
          </p:cNvPicPr>
          <p:nvPr/>
        </p:nvPicPr>
        <p:blipFill>
          <a:blip r:embed="rId4"/>
          <a:stretch>
            <a:fillRect/>
          </a:stretch>
        </p:blipFill>
        <p:spPr>
          <a:xfrm>
            <a:off x="6537960" y="2450592"/>
            <a:ext cx="329184" cy="329184"/>
          </a:xfrm>
          <a:prstGeom prst="rect">
            <a:avLst/>
          </a:prstGeom>
        </p:spPr>
      </p:pic>
      <p:sp>
        <p:nvSpPr>
          <p:cNvPr id="16" name="Text 10"/>
          <p:cNvSpPr txBox="1"/>
          <p:nvPr/>
        </p:nvSpPr>
        <p:spPr>
          <a:xfrm>
            <a:off x="6995160" y="2423160"/>
            <a:ext cx="4206240" cy="384048"/>
          </a:xfrm>
          <a:prstGeom prst="rect">
            <a:avLst/>
          </a:prstGeom>
          <a:noFill/>
          <a:ln/>
        </p:spPr>
        <p:txBody>
          <a:bodyPr wrap="square" lIns="0" tIns="0" rIns="0" bIns="0" rtlCol="0" anchor="ctr"/>
          <a:lstStyle/>
          <a:p>
            <a:pPr indent="0" marL="0">
              <a:buNone/>
            </a:pPr>
            <a:r>
              <a:rPr lang="en-US" sz="1800" b="1" dirty="0">
                <a:solidFill>
                  <a:schemeClr val="tx1"/>
                </a:solidFill>
              </a:rPr>
              <a:t>Translation</a:t>
            </a:r>
            <a:endParaRPr lang="en-US" sz="1800" dirty="0"/>
          </a:p>
        </p:txBody>
      </p:sp>
      <p:pic>
        <p:nvPicPr>
          <p:cNvPr id="17" name="Image 4" descr="preencoded.png">    </p:cNvPr>
          <p:cNvPicPr>
            <a:picLocks noChangeAspect="1"/>
          </p:cNvPicPr>
          <p:nvPr/>
        </p:nvPicPr>
        <p:blipFill>
          <a:blip r:embed="rId5"/>
          <a:stretch>
            <a:fillRect/>
          </a:stretch>
        </p:blipFill>
        <p:spPr>
          <a:xfrm>
            <a:off x="6537960" y="3044952"/>
            <a:ext cx="274320" cy="274320"/>
          </a:xfrm>
          <a:prstGeom prst="rect">
            <a:avLst/>
          </a:prstGeom>
        </p:spPr>
      </p:pic>
      <p:sp>
        <p:nvSpPr>
          <p:cNvPr id="18" name="Text 11"/>
          <p:cNvSpPr txBox="1"/>
          <p:nvPr/>
        </p:nvSpPr>
        <p:spPr>
          <a:xfrm>
            <a:off x="6995160" y="2999232"/>
            <a:ext cx="4343400" cy="822960"/>
          </a:xfrm>
          <a:prstGeom prst="rect">
            <a:avLst/>
          </a:prstGeom>
          <a:noFill/>
          <a:ln/>
        </p:spPr>
        <p:txBody>
          <a:bodyPr wrap="square" lIns="0" tIns="0" rIns="0" bIns="0" rtlCol="0" anchor="t"/>
          <a:lstStyle/>
          <a:p>
            <a:pPr indent="0" marL="0">
              <a:buNone/>
            </a:pPr>
            <a:r>
              <a:rPr lang="en-US" sz="1500" dirty="0">
                <a:solidFill>
                  <a:schemeClr val="tx1"/>
                </a:solidFill>
              </a:rPr>
              <a:t>Whole documents, a style guide, a glossary; it can explain and ask</a:t>
            </a:r>
            <a:endParaRPr lang="en-US" sz="1500" dirty="0"/>
          </a:p>
        </p:txBody>
      </p:sp>
      <p:pic>
        <p:nvPicPr>
          <p:cNvPr id="19" name="Image 5" descr="preencoded.png">    </p:cNvPr>
          <p:cNvPicPr>
            <a:picLocks noChangeAspect="1"/>
          </p:cNvPicPr>
          <p:nvPr/>
        </p:nvPicPr>
        <p:blipFill>
          <a:blip r:embed="rId6"/>
          <a:stretch>
            <a:fillRect/>
          </a:stretch>
        </p:blipFill>
        <p:spPr>
          <a:xfrm>
            <a:off x="6537960" y="3904488"/>
            <a:ext cx="274320" cy="274320"/>
          </a:xfrm>
          <a:prstGeom prst="rect">
            <a:avLst/>
          </a:prstGeom>
        </p:spPr>
      </p:pic>
      <p:sp>
        <p:nvSpPr>
          <p:cNvPr id="20" name="Text 12"/>
          <p:cNvSpPr txBox="1"/>
          <p:nvPr/>
        </p:nvSpPr>
        <p:spPr>
          <a:xfrm>
            <a:off x="6995160" y="3858768"/>
            <a:ext cx="4343400" cy="822960"/>
          </a:xfrm>
          <a:prstGeom prst="rect">
            <a:avLst/>
          </a:prstGeom>
          <a:noFill/>
          <a:ln/>
        </p:spPr>
        <p:txBody>
          <a:bodyPr wrap="square" lIns="0" tIns="0" rIns="0" bIns="0" rtlCol="0" anchor="t"/>
          <a:lstStyle/>
          <a:p>
            <a:pPr indent="0" marL="0">
              <a:buNone/>
            </a:pPr>
            <a:r>
              <a:rPr lang="en-US" sz="1500" dirty="0">
                <a:solidFill>
                  <a:schemeClr val="tx1"/>
                </a:solidFill>
              </a:rPr>
              <a:t>Confident inventions; drifts into the wrong language where data is thin</a:t>
            </a:r>
            <a:endParaRPr lang="en-US" sz="1500" dirty="0"/>
          </a:p>
        </p:txBody>
      </p:sp>
      <p:sp>
        <p:nvSpPr>
          <p:cNvPr id="21" name="card"/>
          <p:cNvSpPr/>
          <p:nvPr/>
        </p:nvSpPr>
        <p:spPr>
          <a:xfrm>
            <a:off x="548640" y="4983480"/>
            <a:ext cx="11094415" cy="1097280"/>
          </a:xfrm>
          <a:prstGeom prst="roundRect">
            <a:avLst>
              <a:gd name="adj" fmla="val 6667"/>
            </a:avLst>
          </a:prstGeom>
          <a:solidFill>
            <a:schemeClr val="tx1"/>
          </a:solidFill>
          <a:ln/>
        </p:spPr>
      </p:sp>
      <p:sp>
        <p:nvSpPr>
          <p:cNvPr id="22" name="Text 14"/>
          <p:cNvSpPr txBox="1"/>
          <p:nvPr/>
        </p:nvSpPr>
        <p:spPr>
          <a:xfrm>
            <a:off x="868680" y="4983480"/>
            <a:ext cx="10454335" cy="1097280"/>
          </a:xfrm>
          <a:prstGeom prst="rect">
            <a:avLst/>
          </a:prstGeom>
          <a:noFill/>
          <a:ln/>
        </p:spPr>
        <p:txBody>
          <a:bodyPr wrap="square" lIns="0" tIns="0" rIns="0" bIns="0" rtlCol="0" anchor="ctr"/>
          <a:lstStyle/>
          <a:p>
            <a:pPr indent="0" marL="0">
              <a:buNone/>
            </a:pPr>
            <a:r>
              <a:rPr lang="en-US" sz="1550" b="1" dirty="0">
                <a:solidFill>
                  <a:srgbClr val="F08A7C"/>
                </a:solidFill>
              </a:rPr>
              <a:t>In numbers  </a:t>
            </a:r>
            <a:pPr indent="0" marL="0">
              <a:buNone/>
            </a:pPr>
            <a:r>
              <a:rPr lang="en-US" sz="1550" dirty="0">
                <a:solidFill>
                  <a:schemeClr val="bg1"/>
                </a:solidFill>
              </a:rPr>
              <a:t>In 2024 experts counted major errors on the same texts: GPT-4 3.7, junior translators 3.3, senior translators 1.8. About as good as a junior; half as good as a senior.</a:t>
            </a:r>
            <a:endParaRPr lang="en-US" sz="155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Vision-LLMs: one model reads and understands the page</a:t>
            </a:r>
            <a:endParaRPr lang="en-US" sz="3200" dirty="0"/>
          </a:p>
        </p:txBody>
      </p:sp>
      <p:sp>
        <p:nvSpPr>
          <p:cNvPr id="3" name="seal"/>
          <p:cNvSpPr/>
          <p:nvPr/>
        </p:nvSpPr>
        <p:spPr>
          <a:xfrm>
            <a:off x="548640" y="1371600"/>
            <a:ext cx="566928" cy="566928"/>
          </a:xfrm>
          <a:prstGeom prst="roundRect">
            <a:avLst>
              <a:gd name="adj" fmla="val 18000"/>
            </a:avLst>
          </a:prstGeom>
          <a:solidFill>
            <a:schemeClr val="accent1"/>
          </a:solidFill>
          <a:ln/>
        </p:spPr>
      </p:sp>
      <p:sp>
        <p:nvSpPr>
          <p:cNvPr id="4" name="Text 2"/>
          <p:cNvSpPr txBox="1"/>
          <p:nvPr/>
        </p:nvSpPr>
        <p:spPr>
          <a:xfrm>
            <a:off x="548640" y="137160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5" name="Text 3"/>
          <p:cNvSpPr txBox="1"/>
          <p:nvPr/>
        </p:nvSpPr>
        <p:spPr>
          <a:xfrm>
            <a:off x="1325880" y="1371600"/>
            <a:ext cx="2286000" cy="566928"/>
          </a:xfrm>
          <a:prstGeom prst="rect">
            <a:avLst/>
          </a:prstGeom>
          <a:noFill/>
          <a:ln/>
        </p:spPr>
        <p:txBody>
          <a:bodyPr wrap="square" lIns="0" tIns="0" rIns="0" bIns="0" rtlCol="0" anchor="ctr"/>
          <a:lstStyle/>
          <a:p>
            <a:pPr indent="0" marL="0">
              <a:buNone/>
            </a:pPr>
            <a:r>
              <a:rPr lang="en-US" sz="1600" b="1" dirty="0">
                <a:solidFill>
                  <a:schemeClr val="accent1"/>
                </a:solidFill>
              </a:rPr>
              <a:t>2023–</a:t>
            </a:r>
            <a:endParaRPr lang="en-US" sz="1600" dirty="0"/>
          </a:p>
        </p:txBody>
      </p:sp>
      <p:sp>
        <p:nvSpPr>
          <p:cNvPr id="6" name="Text 4"/>
          <p:cNvSpPr txBox="1"/>
          <p:nvPr/>
        </p:nvSpPr>
        <p:spPr>
          <a:xfrm>
            <a:off x="2834640" y="1335024"/>
            <a:ext cx="8808415" cy="640080"/>
          </a:xfrm>
          <a:prstGeom prst="rect">
            <a:avLst/>
          </a:prstGeom>
          <a:noFill/>
          <a:ln/>
        </p:spPr>
        <p:txBody>
          <a:bodyPr wrap="square" lIns="0" tIns="0" rIns="0" bIns="0" rtlCol="0" anchor="ctr"/>
          <a:lstStyle/>
          <a:p>
            <a:pPr indent="0" marL="0">
              <a:buNone/>
            </a:pPr>
            <a:r>
              <a:rPr lang="en-US" sz="2000" i="1" dirty="0">
                <a:solidFill>
                  <a:schemeClr val="tx2"/>
                </a:solidFill>
                <a:latin typeface="Cambria" pitchFamily="34" charset="0"/>
                <a:ea typeface="Cambria" pitchFamily="34" charset="-122"/>
                <a:cs typeface="Cambria" pitchFamily="34" charset="-120"/>
              </a:rPr>
              <a:t>“A reader who sees the whole page, and fills the gaps with what sounds right.”</a:t>
            </a:r>
            <a:endParaRPr lang="en-US" sz="2000" dirty="0"/>
          </a:p>
        </p:txBody>
      </p:sp>
      <p:sp>
        <p:nvSpPr>
          <p:cNvPr id="7" name="card"/>
          <p:cNvSpPr/>
          <p:nvPr/>
        </p:nvSpPr>
        <p:spPr>
          <a:xfrm>
            <a:off x="548640" y="2240280"/>
            <a:ext cx="5394960" cy="2514600"/>
          </a:xfrm>
          <a:prstGeom prst="roundRect">
            <a:avLst>
              <a:gd name="adj" fmla="val 2909"/>
            </a:avLst>
          </a:prstGeom>
          <a:solidFill>
            <a:schemeClr val="bg2"/>
          </a:solidFill>
          <a:ln/>
        </p:spPr>
      </p:sp>
      <p:pic>
        <p:nvPicPr>
          <p:cNvPr id="8" name="Image 0" descr="preencoded.png">    </p:cNvPr>
          <p:cNvPicPr>
            <a:picLocks noChangeAspect="1"/>
          </p:cNvPicPr>
          <p:nvPr/>
        </p:nvPicPr>
        <p:blipFill>
          <a:blip r:embed="rId1"/>
          <a:stretch>
            <a:fillRect/>
          </a:stretch>
        </p:blipFill>
        <p:spPr>
          <a:xfrm>
            <a:off x="868680" y="2450592"/>
            <a:ext cx="329184" cy="329184"/>
          </a:xfrm>
          <a:prstGeom prst="rect">
            <a:avLst/>
          </a:prstGeom>
        </p:spPr>
      </p:pic>
      <p:sp>
        <p:nvSpPr>
          <p:cNvPr id="9" name="Text 6"/>
          <p:cNvSpPr txBox="1"/>
          <p:nvPr/>
        </p:nvSpPr>
        <p:spPr>
          <a:xfrm>
            <a:off x="1325880" y="2423160"/>
            <a:ext cx="4206240" cy="384048"/>
          </a:xfrm>
          <a:prstGeom prst="rect">
            <a:avLst/>
          </a:prstGeom>
          <a:noFill/>
          <a:ln/>
        </p:spPr>
        <p:txBody>
          <a:bodyPr wrap="square" lIns="0" tIns="0" rIns="0" bIns="0" rtlCol="0" anchor="ctr"/>
          <a:lstStyle/>
          <a:p>
            <a:pPr indent="0" marL="0">
              <a:buNone/>
            </a:pPr>
            <a:r>
              <a:rPr lang="en-US" sz="1800" b="1" dirty="0">
                <a:solidFill>
                  <a:schemeClr val="tx1"/>
                </a:solidFill>
              </a:rPr>
              <a:t>Reading (OCR)</a:t>
            </a:r>
            <a:endParaRPr lang="en-US" sz="1800" dirty="0"/>
          </a:p>
        </p:txBody>
      </p:sp>
      <p:pic>
        <p:nvPicPr>
          <p:cNvPr id="10" name="Image 1" descr="preencoded.png">    </p:cNvPr>
          <p:cNvPicPr>
            <a:picLocks noChangeAspect="1"/>
          </p:cNvPicPr>
          <p:nvPr/>
        </p:nvPicPr>
        <p:blipFill>
          <a:blip r:embed="rId2"/>
          <a:stretch>
            <a:fillRect/>
          </a:stretch>
        </p:blipFill>
        <p:spPr>
          <a:xfrm>
            <a:off x="868680" y="3044952"/>
            <a:ext cx="274320" cy="274320"/>
          </a:xfrm>
          <a:prstGeom prst="rect">
            <a:avLst/>
          </a:prstGeom>
        </p:spPr>
      </p:pic>
      <p:sp>
        <p:nvSpPr>
          <p:cNvPr id="11" name="Text 7"/>
          <p:cNvSpPr txBox="1"/>
          <p:nvPr/>
        </p:nvSpPr>
        <p:spPr>
          <a:xfrm>
            <a:off x="1325880" y="2999232"/>
            <a:ext cx="4343400" cy="822960"/>
          </a:xfrm>
          <a:prstGeom prst="rect">
            <a:avLst/>
          </a:prstGeom>
          <a:noFill/>
          <a:ln/>
        </p:spPr>
        <p:txBody>
          <a:bodyPr wrap="square" lIns="0" tIns="0" rIns="0" bIns="0" rtlCol="0" anchor="t"/>
          <a:lstStyle/>
          <a:p>
            <a:pPr indent="0" marL="0">
              <a:buNone/>
            </a:pPr>
            <a:r>
              <a:rPr lang="en-US" sz="1500" dirty="0">
                <a:solidFill>
                  <a:schemeClr val="tx1"/>
                </a:solidFill>
              </a:rPr>
              <a:t>Sees the whole page: columns, tables, stamps, headers, many scripts</a:t>
            </a:r>
            <a:endParaRPr lang="en-US" sz="1500" dirty="0"/>
          </a:p>
        </p:txBody>
      </p:sp>
      <p:pic>
        <p:nvPicPr>
          <p:cNvPr id="12" name="Image 2" descr="preencoded.png">    </p:cNvPr>
          <p:cNvPicPr>
            <a:picLocks noChangeAspect="1"/>
          </p:cNvPicPr>
          <p:nvPr/>
        </p:nvPicPr>
        <p:blipFill>
          <a:blip r:embed="rId3"/>
          <a:stretch>
            <a:fillRect/>
          </a:stretch>
        </p:blipFill>
        <p:spPr>
          <a:xfrm>
            <a:off x="868680" y="3904488"/>
            <a:ext cx="274320" cy="274320"/>
          </a:xfrm>
          <a:prstGeom prst="rect">
            <a:avLst/>
          </a:prstGeom>
        </p:spPr>
      </p:pic>
      <p:sp>
        <p:nvSpPr>
          <p:cNvPr id="13" name="Text 8"/>
          <p:cNvSpPr txBox="1"/>
          <p:nvPr/>
        </p:nvSpPr>
        <p:spPr>
          <a:xfrm>
            <a:off x="1325880" y="3858768"/>
            <a:ext cx="4343400" cy="822960"/>
          </a:xfrm>
          <a:prstGeom prst="rect">
            <a:avLst/>
          </a:prstGeom>
          <a:noFill/>
          <a:ln/>
        </p:spPr>
        <p:txBody>
          <a:bodyPr wrap="square" lIns="0" tIns="0" rIns="0" bIns="0" rtlCol="0" anchor="t"/>
          <a:lstStyle/>
          <a:p>
            <a:pPr indent="0" marL="0">
              <a:buNone/>
            </a:pPr>
            <a:r>
              <a:rPr lang="en-US" sz="1500" dirty="0">
                <a:solidFill>
                  <a:schemeClr val="tx1"/>
                </a:solidFill>
              </a:rPr>
              <a:t>When unsure, it writes a plausible word instead of garbage</a:t>
            </a:r>
            <a:endParaRPr lang="en-US" sz="1500" dirty="0"/>
          </a:p>
        </p:txBody>
      </p:sp>
      <p:sp>
        <p:nvSpPr>
          <p:cNvPr id="14" name="card"/>
          <p:cNvSpPr/>
          <p:nvPr/>
        </p:nvSpPr>
        <p:spPr>
          <a:xfrm>
            <a:off x="6217920" y="2240280"/>
            <a:ext cx="5394960" cy="2514600"/>
          </a:xfrm>
          <a:prstGeom prst="roundRect">
            <a:avLst>
              <a:gd name="adj" fmla="val 2909"/>
            </a:avLst>
          </a:prstGeom>
          <a:solidFill>
            <a:schemeClr val="bg2"/>
          </a:solidFill>
          <a:ln/>
        </p:spPr>
      </p:sp>
      <p:pic>
        <p:nvPicPr>
          <p:cNvPr id="15" name="Image 3" descr="preencoded.png">    </p:cNvPr>
          <p:cNvPicPr>
            <a:picLocks noChangeAspect="1"/>
          </p:cNvPicPr>
          <p:nvPr/>
        </p:nvPicPr>
        <p:blipFill>
          <a:blip r:embed="rId4"/>
          <a:stretch>
            <a:fillRect/>
          </a:stretch>
        </p:blipFill>
        <p:spPr>
          <a:xfrm>
            <a:off x="6537960" y="2450592"/>
            <a:ext cx="329184" cy="329184"/>
          </a:xfrm>
          <a:prstGeom prst="rect">
            <a:avLst/>
          </a:prstGeom>
        </p:spPr>
      </p:pic>
      <p:sp>
        <p:nvSpPr>
          <p:cNvPr id="16" name="Text 10"/>
          <p:cNvSpPr txBox="1"/>
          <p:nvPr/>
        </p:nvSpPr>
        <p:spPr>
          <a:xfrm>
            <a:off x="6995160" y="2423160"/>
            <a:ext cx="4206240" cy="384048"/>
          </a:xfrm>
          <a:prstGeom prst="rect">
            <a:avLst/>
          </a:prstGeom>
          <a:noFill/>
          <a:ln/>
        </p:spPr>
        <p:txBody>
          <a:bodyPr wrap="square" lIns="0" tIns="0" rIns="0" bIns="0" rtlCol="0" anchor="ctr"/>
          <a:lstStyle/>
          <a:p>
            <a:pPr indent="0" marL="0">
              <a:buNone/>
            </a:pPr>
            <a:r>
              <a:rPr lang="en-US" sz="1800" b="1" dirty="0">
                <a:solidFill>
                  <a:schemeClr val="tx1"/>
                </a:solidFill>
              </a:rPr>
              <a:t>Translation</a:t>
            </a:r>
            <a:endParaRPr lang="en-US" sz="1800" dirty="0"/>
          </a:p>
        </p:txBody>
      </p:sp>
      <p:pic>
        <p:nvPicPr>
          <p:cNvPr id="17" name="Image 4" descr="preencoded.png">    </p:cNvPr>
          <p:cNvPicPr>
            <a:picLocks noChangeAspect="1"/>
          </p:cNvPicPr>
          <p:nvPr/>
        </p:nvPicPr>
        <p:blipFill>
          <a:blip r:embed="rId5"/>
          <a:stretch>
            <a:fillRect/>
          </a:stretch>
        </p:blipFill>
        <p:spPr>
          <a:xfrm>
            <a:off x="6537960" y="3044952"/>
            <a:ext cx="274320" cy="274320"/>
          </a:xfrm>
          <a:prstGeom prst="rect">
            <a:avLst/>
          </a:prstGeom>
        </p:spPr>
      </p:pic>
      <p:sp>
        <p:nvSpPr>
          <p:cNvPr id="18" name="Text 11"/>
          <p:cNvSpPr txBox="1"/>
          <p:nvPr/>
        </p:nvSpPr>
        <p:spPr>
          <a:xfrm>
            <a:off x="6995160" y="2999232"/>
            <a:ext cx="4343400" cy="822960"/>
          </a:xfrm>
          <a:prstGeom prst="rect">
            <a:avLst/>
          </a:prstGeom>
          <a:noFill/>
          <a:ln/>
        </p:spPr>
        <p:txBody>
          <a:bodyPr wrap="square" lIns="0" tIns="0" rIns="0" bIns="0" rtlCol="0" anchor="t"/>
          <a:lstStyle/>
          <a:p>
            <a:pPr indent="0" marL="0">
              <a:buNone/>
            </a:pPr>
            <a:r>
              <a:rPr lang="en-US" sz="1500" dirty="0">
                <a:solidFill>
                  <a:schemeClr val="tx1"/>
                </a:solidFill>
              </a:rPr>
              <a:t>Can read and translate in one pass, keeping the layout</a:t>
            </a:r>
            <a:endParaRPr lang="en-US" sz="1500" dirty="0"/>
          </a:p>
        </p:txBody>
      </p:sp>
      <p:pic>
        <p:nvPicPr>
          <p:cNvPr id="19" name="Image 5" descr="preencoded.png">    </p:cNvPr>
          <p:cNvPicPr>
            <a:picLocks noChangeAspect="1"/>
          </p:cNvPicPr>
          <p:nvPr/>
        </p:nvPicPr>
        <p:blipFill>
          <a:blip r:embed="rId6"/>
          <a:stretch>
            <a:fillRect/>
          </a:stretch>
        </p:blipFill>
        <p:spPr>
          <a:xfrm>
            <a:off x="6537960" y="3904488"/>
            <a:ext cx="274320" cy="274320"/>
          </a:xfrm>
          <a:prstGeom prst="rect">
            <a:avLst/>
          </a:prstGeom>
        </p:spPr>
      </p:pic>
      <p:sp>
        <p:nvSpPr>
          <p:cNvPr id="20" name="Text 12"/>
          <p:cNvSpPr txBox="1"/>
          <p:nvPr/>
        </p:nvSpPr>
        <p:spPr>
          <a:xfrm>
            <a:off x="6995160" y="3858768"/>
            <a:ext cx="4343400" cy="822960"/>
          </a:xfrm>
          <a:prstGeom prst="rect">
            <a:avLst/>
          </a:prstGeom>
          <a:noFill/>
          <a:ln/>
        </p:spPr>
        <p:txBody>
          <a:bodyPr wrap="square" lIns="0" tIns="0" rIns="0" bIns="0" rtlCol="0" anchor="t"/>
          <a:lstStyle/>
          <a:p>
            <a:pPr indent="0" marL="0">
              <a:buNone/>
            </a:pPr>
            <a:r>
              <a:rPr lang="en-US" sz="1500" dirty="0">
                <a:solidFill>
                  <a:schemeClr val="tx1"/>
                </a:solidFill>
              </a:rPr>
              <a:t>A misread word gets translated fluently, and nobody notices</a:t>
            </a:r>
            <a:endParaRPr lang="en-US" sz="1500" dirty="0"/>
          </a:p>
        </p:txBody>
      </p:sp>
      <p:sp>
        <p:nvSpPr>
          <p:cNvPr id="21" name="card"/>
          <p:cNvSpPr/>
          <p:nvPr/>
        </p:nvSpPr>
        <p:spPr>
          <a:xfrm>
            <a:off x="548640" y="4983480"/>
            <a:ext cx="11094415" cy="1097280"/>
          </a:xfrm>
          <a:prstGeom prst="roundRect">
            <a:avLst>
              <a:gd name="adj" fmla="val 6667"/>
            </a:avLst>
          </a:prstGeom>
          <a:solidFill>
            <a:schemeClr val="tx1"/>
          </a:solidFill>
          <a:ln/>
        </p:spPr>
      </p:sp>
      <p:sp>
        <p:nvSpPr>
          <p:cNvPr id="22" name="Text 14"/>
          <p:cNvSpPr txBox="1"/>
          <p:nvPr/>
        </p:nvSpPr>
        <p:spPr>
          <a:xfrm>
            <a:off x="868680" y="4983480"/>
            <a:ext cx="10454335" cy="1097280"/>
          </a:xfrm>
          <a:prstGeom prst="rect">
            <a:avLst/>
          </a:prstGeom>
          <a:noFill/>
          <a:ln/>
        </p:spPr>
        <p:txBody>
          <a:bodyPr wrap="square" lIns="0" tIns="0" rIns="0" bIns="0" rtlCol="0" anchor="ctr"/>
          <a:lstStyle/>
          <a:p>
            <a:pPr indent="0" marL="0">
              <a:buNone/>
            </a:pPr>
            <a:r>
              <a:rPr lang="en-US" sz="1550" b="1" dirty="0">
                <a:solidFill>
                  <a:srgbClr val="F08A7C"/>
                </a:solidFill>
              </a:rPr>
              <a:t>In numbers  </a:t>
            </a:r>
            <a:pPr indent="0" marL="0">
              <a:buNone/>
            </a:pPr>
            <a:r>
              <a:rPr lang="en-US" sz="1550" dirty="0">
                <a:solidFill>
                  <a:schemeClr val="bg1"/>
                </a:solidFill>
              </a:rPr>
              <a:t>A 2026 test of 158 writing systems: the best model read 95% of Latin-alphabet sentences almost perfectly, and under 8% across the 148 rarer scripts.</a:t>
            </a:r>
            <a:endParaRPr lang="en-US" sz="155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2024–25: big languages solved, small ones not</a:t>
            </a:r>
            <a:endParaRPr lang="en-US" sz="3200" dirty="0"/>
          </a:p>
        </p:txBody>
      </p:sp>
      <p:graphicFrame>
        <p:nvGraphicFramePr>
          <p:cNvPr id="3" name="Chart 0" descr=""/>
          <p:cNvGraphicFramePr/>
          <p:nvPr/>
        </p:nvGraphicFramePr>
        <p:xfrm>
          <a:off x="548640" y="1371600"/>
          <a:ext cx="6400800" cy="448056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315200" y="1371600"/>
            <a:ext cx="4327855" cy="1371600"/>
          </a:xfrm>
          <a:prstGeom prst="roundRect">
            <a:avLst>
              <a:gd name="adj" fmla="val 5333"/>
            </a:avLst>
          </a:prstGeom>
          <a:solidFill>
            <a:schemeClr val="bg2"/>
          </a:solidFill>
          <a:ln/>
        </p:spPr>
      </p:sp>
      <p:sp>
        <p:nvSpPr>
          <p:cNvPr id="5" name="Text 2"/>
          <p:cNvSpPr txBox="1"/>
          <p:nvPr/>
        </p:nvSpPr>
        <p:spPr>
          <a:xfrm>
            <a:off x="7589520" y="1444752"/>
            <a:ext cx="3779215" cy="502920"/>
          </a:xfrm>
          <a:prstGeom prst="rect">
            <a:avLst/>
          </a:prstGeom>
          <a:noFill/>
          <a:ln/>
        </p:spPr>
        <p:txBody>
          <a:bodyPr wrap="square" lIns="0" tIns="0" rIns="0" bIns="0" rtlCol="0" anchor="b"/>
          <a:lstStyle/>
          <a:p>
            <a:pPr indent="0" marL="0">
              <a:buNone/>
            </a:pPr>
            <a:r>
              <a:rPr lang="en-US" sz="2600" b="1" dirty="0">
                <a:solidFill>
                  <a:schemeClr val="accent1"/>
                </a:solidFill>
                <a:latin typeface="Cambria" pitchFamily="34" charset="0"/>
                <a:ea typeface="Cambria" pitchFamily="34" charset="-122"/>
                <a:cs typeface="Cambria" pitchFamily="34" charset="-120"/>
              </a:rPr>
              <a:t>≈ flawless</a:t>
            </a:r>
            <a:endParaRPr lang="en-US" sz="2600" dirty="0"/>
          </a:p>
        </p:txBody>
      </p:sp>
      <p:sp>
        <p:nvSpPr>
          <p:cNvPr id="6" name="Text 3"/>
          <p:cNvSpPr txBox="1"/>
          <p:nvPr/>
        </p:nvSpPr>
        <p:spPr>
          <a:xfrm>
            <a:off x="7589520" y="1993392"/>
            <a:ext cx="3779215" cy="566928"/>
          </a:xfrm>
          <a:prstGeom prst="rect">
            <a:avLst/>
          </a:prstGeom>
          <a:noFill/>
          <a:ln/>
        </p:spPr>
        <p:txBody>
          <a:bodyPr wrap="square" lIns="0" tIns="0" rIns="0" bIns="0" rtlCol="0" anchor="t"/>
          <a:lstStyle/>
          <a:p>
            <a:pPr indent="0" marL="0">
              <a:buNone/>
            </a:pPr>
            <a:r>
              <a:rPr lang="en-US" sz="1300" dirty="0">
                <a:solidFill>
                  <a:schemeClr val="tx1"/>
                </a:solidFill>
              </a:rPr>
              <a:t>English → Spanish: “close to flawless”, the easiest pair of 2024</a:t>
            </a:r>
            <a:endParaRPr lang="en-US" sz="1300" dirty="0"/>
          </a:p>
        </p:txBody>
      </p:sp>
      <p:sp>
        <p:nvSpPr>
          <p:cNvPr id="7" name="Text 4"/>
          <p:cNvSpPr txBox="1"/>
          <p:nvPr/>
        </p:nvSpPr>
        <p:spPr>
          <a:xfrm>
            <a:off x="7589520" y="2560320"/>
            <a:ext cx="3779215" cy="256032"/>
          </a:xfrm>
          <a:prstGeom prst="rect">
            <a:avLst/>
          </a:prstGeom>
          <a:noFill/>
          <a:ln/>
        </p:spPr>
        <p:txBody>
          <a:bodyPr wrap="square" lIns="0" tIns="0" rIns="0" bIns="0" rtlCol="0" anchor="t"/>
          <a:lstStyle/>
          <a:p>
            <a:pPr indent="0" marL="0">
              <a:buNone/>
            </a:pPr>
            <a:r>
              <a:rPr lang="en-US" sz="950" dirty="0">
                <a:solidFill>
                  <a:schemeClr val="accent3"/>
                </a:solidFill>
              </a:rPr>
              <a:t>WMT24 findings</a:t>
            </a:r>
            <a:endParaRPr lang="en-US" sz="950" dirty="0"/>
          </a:p>
        </p:txBody>
      </p:sp>
      <p:sp>
        <p:nvSpPr>
          <p:cNvPr id="8" name="card"/>
          <p:cNvSpPr/>
          <p:nvPr/>
        </p:nvSpPr>
        <p:spPr>
          <a:xfrm>
            <a:off x="7315200" y="2907792"/>
            <a:ext cx="4327855" cy="1371600"/>
          </a:xfrm>
          <a:prstGeom prst="roundRect">
            <a:avLst>
              <a:gd name="adj" fmla="val 5333"/>
            </a:avLst>
          </a:prstGeom>
          <a:solidFill>
            <a:schemeClr val="bg2"/>
          </a:solidFill>
          <a:ln/>
        </p:spPr>
      </p:sp>
      <p:sp>
        <p:nvSpPr>
          <p:cNvPr id="9" name="Text 6"/>
          <p:cNvSpPr txBox="1"/>
          <p:nvPr/>
        </p:nvSpPr>
        <p:spPr>
          <a:xfrm>
            <a:off x="7589520" y="2980944"/>
            <a:ext cx="3779215" cy="502920"/>
          </a:xfrm>
          <a:prstGeom prst="rect">
            <a:avLst/>
          </a:prstGeom>
          <a:noFill/>
          <a:ln/>
        </p:spPr>
        <p:txBody>
          <a:bodyPr wrap="square" lIns="0" tIns="0" rIns="0" bIns="0" rtlCol="0" anchor="b"/>
          <a:lstStyle/>
          <a:p>
            <a:pPr indent="0" marL="0">
              <a:buNone/>
            </a:pPr>
            <a:r>
              <a:rPr lang="en-US" sz="2600" b="1" dirty="0">
                <a:solidFill>
                  <a:schemeClr val="accent1"/>
                </a:solidFill>
                <a:latin typeface="Cambria" pitchFamily="34" charset="0"/>
                <a:ea typeface="Cambria" pitchFamily="34" charset="-122"/>
                <a:cs typeface="Cambria" pitchFamily="34" charset="-120"/>
              </a:rPr>
              <a:t>10 pairs</a:t>
            </a:r>
            <a:endParaRPr lang="en-US" sz="2600" dirty="0"/>
          </a:p>
        </p:txBody>
      </p:sp>
      <p:sp>
        <p:nvSpPr>
          <p:cNvPr id="10" name="Text 7"/>
          <p:cNvSpPr txBox="1"/>
          <p:nvPr/>
        </p:nvSpPr>
        <p:spPr>
          <a:xfrm>
            <a:off x="7589520" y="3529584"/>
            <a:ext cx="3779215" cy="566928"/>
          </a:xfrm>
          <a:prstGeom prst="rect">
            <a:avLst/>
          </a:prstGeom>
          <a:noFill/>
          <a:ln/>
        </p:spPr>
        <p:txBody>
          <a:bodyPr wrap="square" lIns="0" tIns="0" rIns="0" bIns="0" rtlCol="0" anchor="t"/>
          <a:lstStyle/>
          <a:p>
            <a:pPr indent="0" marL="0">
              <a:buNone/>
            </a:pPr>
            <a:r>
              <a:rPr lang="en-US" sz="1300" dirty="0">
                <a:solidFill>
                  <a:schemeClr val="tx1"/>
                </a:solidFill>
              </a:rPr>
              <a:t>where Gemini 2.5 Pro matched or beat professional translators in 2025</a:t>
            </a:r>
            <a:endParaRPr lang="en-US" sz="1300" dirty="0"/>
          </a:p>
        </p:txBody>
      </p:sp>
      <p:sp>
        <p:nvSpPr>
          <p:cNvPr id="11" name="Text 8"/>
          <p:cNvSpPr txBox="1"/>
          <p:nvPr/>
        </p:nvSpPr>
        <p:spPr>
          <a:xfrm>
            <a:off x="7589520" y="4096512"/>
            <a:ext cx="3779215" cy="256032"/>
          </a:xfrm>
          <a:prstGeom prst="rect">
            <a:avLst/>
          </a:prstGeom>
          <a:noFill/>
          <a:ln/>
        </p:spPr>
        <p:txBody>
          <a:bodyPr wrap="square" lIns="0" tIns="0" rIns="0" bIns="0" rtlCol="0" anchor="t"/>
          <a:lstStyle/>
          <a:p>
            <a:pPr indent="0" marL="0">
              <a:buNone/>
            </a:pPr>
            <a:r>
              <a:rPr lang="en-US" sz="950" dirty="0">
                <a:solidFill>
                  <a:schemeClr val="accent3"/>
                </a:solidFill>
              </a:rPr>
              <a:t>WMT25 findings</a:t>
            </a:r>
            <a:endParaRPr lang="en-US" sz="950" dirty="0"/>
          </a:p>
        </p:txBody>
      </p:sp>
      <p:sp>
        <p:nvSpPr>
          <p:cNvPr id="12" name="card"/>
          <p:cNvSpPr/>
          <p:nvPr/>
        </p:nvSpPr>
        <p:spPr>
          <a:xfrm>
            <a:off x="7315200" y="4443984"/>
            <a:ext cx="4327855" cy="1371600"/>
          </a:xfrm>
          <a:prstGeom prst="roundRect">
            <a:avLst>
              <a:gd name="adj" fmla="val 5333"/>
            </a:avLst>
          </a:prstGeom>
          <a:solidFill>
            <a:schemeClr val="bg2"/>
          </a:solidFill>
          <a:ln/>
        </p:spPr>
      </p:sp>
      <p:sp>
        <p:nvSpPr>
          <p:cNvPr id="13" name="Text 10"/>
          <p:cNvSpPr txBox="1"/>
          <p:nvPr/>
        </p:nvSpPr>
        <p:spPr>
          <a:xfrm>
            <a:off x="7589520" y="4517136"/>
            <a:ext cx="3779215" cy="502920"/>
          </a:xfrm>
          <a:prstGeom prst="rect">
            <a:avLst/>
          </a:prstGeom>
          <a:noFill/>
          <a:ln/>
        </p:spPr>
        <p:txBody>
          <a:bodyPr wrap="square" lIns="0" tIns="0" rIns="0" bIns="0" rtlCol="0" anchor="b"/>
          <a:lstStyle/>
          <a:p>
            <a:pPr indent="0" marL="0">
              <a:buNone/>
            </a:pPr>
            <a:r>
              <a:rPr lang="en-US" sz="2600" b="1" dirty="0">
                <a:solidFill>
                  <a:schemeClr val="accent1"/>
                </a:solidFill>
                <a:latin typeface="Cambria" pitchFamily="34" charset="0"/>
                <a:ea typeface="Cambria" pitchFamily="34" charset="-122"/>
                <a:cs typeface="Cambria" pitchFamily="34" charset="-120"/>
              </a:rPr>
              <a:t>9.8 / 100</a:t>
            </a:r>
            <a:endParaRPr lang="en-US" sz="2600" dirty="0"/>
          </a:p>
        </p:txBody>
      </p:sp>
      <p:sp>
        <p:nvSpPr>
          <p:cNvPr id="14" name="Text 11"/>
          <p:cNvSpPr txBox="1"/>
          <p:nvPr/>
        </p:nvSpPr>
        <p:spPr>
          <a:xfrm>
            <a:off x="7589520" y="5065776"/>
            <a:ext cx="3779215" cy="566928"/>
          </a:xfrm>
          <a:prstGeom prst="rect">
            <a:avLst/>
          </a:prstGeom>
          <a:noFill/>
          <a:ln/>
        </p:spPr>
        <p:txBody>
          <a:bodyPr wrap="square" lIns="0" tIns="0" rIns="0" bIns="0" rtlCol="0" anchor="t"/>
          <a:lstStyle/>
          <a:p>
            <a:pPr indent="0" marL="0">
              <a:buNone/>
            </a:pPr>
            <a:r>
              <a:rPr lang="en-US" sz="1300" dirty="0">
                <a:solidFill>
                  <a:schemeClr val="tx1"/>
                </a:solidFill>
              </a:rPr>
              <a:t>the best system into Maasai in 2025: “largely unusable”, often answering in Swahili</a:t>
            </a:r>
            <a:endParaRPr lang="en-US" sz="1300" dirty="0"/>
          </a:p>
        </p:txBody>
      </p:sp>
      <p:sp>
        <p:nvSpPr>
          <p:cNvPr id="15" name="Text 12"/>
          <p:cNvSpPr txBox="1"/>
          <p:nvPr/>
        </p:nvSpPr>
        <p:spPr>
          <a:xfrm>
            <a:off x="7589520" y="5632704"/>
            <a:ext cx="3779215" cy="256032"/>
          </a:xfrm>
          <a:prstGeom prst="rect">
            <a:avLst/>
          </a:prstGeom>
          <a:noFill/>
          <a:ln/>
        </p:spPr>
        <p:txBody>
          <a:bodyPr wrap="square" lIns="0" tIns="0" rIns="0" bIns="0" rtlCol="0" anchor="t"/>
          <a:lstStyle/>
          <a:p>
            <a:pPr indent="0" marL="0">
              <a:buNone/>
            </a:pPr>
            <a:r>
              <a:rPr lang="en-US" sz="950" dirty="0">
                <a:solidFill>
                  <a:schemeClr val="accent3"/>
                </a:solidFill>
              </a:rPr>
              <a:t>WMT25 findings</a:t>
            </a:r>
            <a:endParaRPr lang="en-US" sz="95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2788920"/>
            <a:ext cx="10424160" cy="1005840"/>
          </a:xfrm>
          <a:prstGeom prst="rect">
            <a:avLst/>
          </a:prstGeom>
          <a:noFill/>
          <a:ln/>
        </p:spPr>
        <p:txBody>
          <a:bodyPr wrap="square" lIns="0" tIns="0" rIns="0" bIns="0" rtlCol="0" anchor="b"/>
          <a:lstStyle/>
          <a:p>
            <a:pPr algn="l" indent="0" marL="0">
              <a:buNone/>
            </a:pPr>
            <a:r>
              <a:rPr lang="en-US" sz="4400" b="1" dirty="0">
                <a:solidFill>
                  <a:schemeClr val="bg1"/>
                </a:solidFill>
              </a:rPr>
              <a:t>Where it breaks, around the world</a:t>
            </a:r>
            <a:endParaRPr lang="en-US" sz="4400" dirty="0"/>
          </a:p>
        </p:txBody>
      </p:sp>
      <p:sp>
        <p:nvSpPr>
          <p:cNvPr id="3" name="Text 0"/>
          <p:cNvSpPr/>
          <p:nvPr>
            <p:ph idx="101" type="body" hasCustomPrompt="1"/>
          </p:nvPr>
        </p:nvSpPr>
        <p:spPr>
          <a:xfrm>
            <a:off x="731520" y="3931920"/>
            <a:ext cx="10058400" cy="731520"/>
          </a:xfrm>
          <a:prstGeom prst="rect">
            <a:avLst/>
          </a:prstGeom>
          <a:noFill/>
          <a:ln/>
        </p:spPr>
        <p:txBody>
          <a:bodyPr wrap="square" lIns="0" tIns="0" rIns="0" bIns="0" rtlCol="0" anchor="t"/>
          <a:lstStyle/>
          <a:p>
            <a:pPr indent="0" marL="0">
              <a:buNone/>
            </a:pPr>
            <a:r>
              <a:rPr lang="en-US" sz="2000" dirty="0">
                <a:solidFill>
                  <a:schemeClr val="accent4"/>
                </a:solidFill>
              </a:rPr>
              <a:t>Data, scripts and meaning: language by language, with published numbers</a:t>
            </a:r>
            <a:endParaRPr lang="en-US" sz="2000" dirty="0"/>
          </a:p>
        </p:txBody>
      </p:sp>
      <p:sp>
        <p:nvSpPr>
          <p:cNvPr id="4" name="seal"/>
          <p:cNvSpPr/>
          <p:nvPr/>
        </p:nvSpPr>
        <p:spPr>
          <a:xfrm>
            <a:off x="731520" y="1737360"/>
            <a:ext cx="822960" cy="822960"/>
          </a:xfrm>
          <a:prstGeom prst="roundRect">
            <a:avLst>
              <a:gd name="adj" fmla="val 18000"/>
            </a:avLst>
          </a:prstGeom>
          <a:solidFill>
            <a:schemeClr val="accent1"/>
          </a:solidFill>
          <a:ln/>
        </p:spPr>
      </p:sp>
      <p:sp>
        <p:nvSpPr>
          <p:cNvPr id="5" name="Text 3"/>
          <p:cNvSpPr txBox="1"/>
          <p:nvPr/>
        </p:nvSpPr>
        <p:spPr>
          <a:xfrm>
            <a:off x="731520" y="173736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02</a:t>
            </a:r>
            <a:endParaRPr lang="en-US" sz="2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The data gap: how much of the web each language has</a:t>
            </a:r>
            <a:endParaRPr lang="en-US" sz="3200" dirty="0"/>
          </a:p>
        </p:txBody>
      </p:sp>
      <p:sp>
        <p:nvSpPr>
          <p:cNvPr id="3" name="Text 1"/>
          <p:cNvSpPr txBox="1"/>
          <p:nvPr/>
        </p:nvSpPr>
        <p:spPr>
          <a:xfrm>
            <a:off x="548640" y="1298448"/>
            <a:ext cx="7040880" cy="292608"/>
          </a:xfrm>
          <a:prstGeom prst="rect">
            <a:avLst/>
          </a:prstGeom>
          <a:noFill/>
          <a:ln/>
        </p:spPr>
        <p:txBody>
          <a:bodyPr wrap="square" lIns="0" tIns="0" rIns="0" bIns="0" rtlCol="0" anchor="t"/>
          <a:lstStyle/>
          <a:p>
            <a:pPr indent="0" marL="0">
              <a:buNone/>
            </a:pPr>
            <a:r>
              <a:rPr lang="en-US" sz="1200" dirty="0">
                <a:solidFill>
                  <a:schemeClr val="accent3"/>
                </a:solidFill>
              </a:rPr>
              <a:t>Share of pages in Common Crawl, the web text most AI is trained on (2026). Each gridline is 10× more.</a:t>
            </a:r>
            <a:endParaRPr lang="en-US" sz="1200" dirty="0"/>
          </a:p>
        </p:txBody>
      </p:sp>
      <p:sp>
        <p:nvSpPr>
          <p:cNvPr id="4" name="Shape 2"/>
          <p:cNvSpPr/>
          <p:nvPr/>
        </p:nvSpPr>
        <p:spPr>
          <a:xfrm>
            <a:off x="1664208" y="1691640"/>
            <a:ext cx="0" cy="3977640"/>
          </a:xfrm>
          <a:prstGeom prst="line">
            <a:avLst/>
          </a:prstGeom>
          <a:noFill/>
          <a:ln w="9525">
            <a:solidFill>
              <a:srgbClr val="D5DAE3"/>
            </a:solidFill>
            <a:prstDash val="dash"/>
          </a:ln>
        </p:spPr>
      </p:sp>
      <p:sp>
        <p:nvSpPr>
          <p:cNvPr id="5" name="Text 3"/>
          <p:cNvSpPr txBox="1"/>
          <p:nvPr/>
        </p:nvSpPr>
        <p:spPr>
          <a:xfrm>
            <a:off x="1298448" y="5696712"/>
            <a:ext cx="731520" cy="228600"/>
          </a:xfrm>
          <a:prstGeom prst="rect">
            <a:avLst/>
          </a:prstGeom>
          <a:noFill/>
          <a:ln/>
        </p:spPr>
        <p:txBody>
          <a:bodyPr wrap="square" lIns="0" tIns="0" rIns="0" bIns="0" rtlCol="0" anchor="t"/>
          <a:lstStyle/>
          <a:p>
            <a:pPr algn="ctr" indent="0" marL="0">
              <a:buNone/>
            </a:pPr>
            <a:r>
              <a:rPr lang="en-US" sz="1000" dirty="0">
                <a:solidFill>
                  <a:schemeClr val="accent3"/>
                </a:solidFill>
              </a:rPr>
              <a:t>0.001%</a:t>
            </a:r>
            <a:endParaRPr lang="en-US" sz="1000" dirty="0"/>
          </a:p>
        </p:txBody>
      </p:sp>
      <p:sp>
        <p:nvSpPr>
          <p:cNvPr id="6" name="Shape 4"/>
          <p:cNvSpPr/>
          <p:nvPr/>
        </p:nvSpPr>
        <p:spPr>
          <a:xfrm>
            <a:off x="2712110" y="1691640"/>
            <a:ext cx="0" cy="3977640"/>
          </a:xfrm>
          <a:prstGeom prst="line">
            <a:avLst/>
          </a:prstGeom>
          <a:noFill/>
          <a:ln w="9525">
            <a:solidFill>
              <a:srgbClr val="D5DAE3"/>
            </a:solidFill>
            <a:prstDash val="dash"/>
          </a:ln>
        </p:spPr>
      </p:sp>
      <p:sp>
        <p:nvSpPr>
          <p:cNvPr id="7" name="Text 5"/>
          <p:cNvSpPr txBox="1"/>
          <p:nvPr/>
        </p:nvSpPr>
        <p:spPr>
          <a:xfrm>
            <a:off x="2346350" y="5696712"/>
            <a:ext cx="731520" cy="228600"/>
          </a:xfrm>
          <a:prstGeom prst="rect">
            <a:avLst/>
          </a:prstGeom>
          <a:noFill/>
          <a:ln/>
        </p:spPr>
        <p:txBody>
          <a:bodyPr wrap="square" lIns="0" tIns="0" rIns="0" bIns="0" rtlCol="0" anchor="t"/>
          <a:lstStyle/>
          <a:p>
            <a:pPr algn="ctr" indent="0" marL="0">
              <a:buNone/>
            </a:pPr>
            <a:r>
              <a:rPr lang="en-US" sz="1000" dirty="0">
                <a:solidFill>
                  <a:schemeClr val="accent3"/>
                </a:solidFill>
              </a:rPr>
              <a:t>0.01%</a:t>
            </a:r>
            <a:endParaRPr lang="en-US" sz="1000" dirty="0"/>
          </a:p>
        </p:txBody>
      </p:sp>
      <p:sp>
        <p:nvSpPr>
          <p:cNvPr id="8" name="Shape 6"/>
          <p:cNvSpPr/>
          <p:nvPr/>
        </p:nvSpPr>
        <p:spPr>
          <a:xfrm>
            <a:off x="3760013" y="1691640"/>
            <a:ext cx="0" cy="3977640"/>
          </a:xfrm>
          <a:prstGeom prst="line">
            <a:avLst/>
          </a:prstGeom>
          <a:noFill/>
          <a:ln w="9525">
            <a:solidFill>
              <a:srgbClr val="D5DAE3"/>
            </a:solidFill>
            <a:prstDash val="dash"/>
          </a:ln>
        </p:spPr>
      </p:sp>
      <p:sp>
        <p:nvSpPr>
          <p:cNvPr id="9" name="Text 7"/>
          <p:cNvSpPr txBox="1"/>
          <p:nvPr/>
        </p:nvSpPr>
        <p:spPr>
          <a:xfrm>
            <a:off x="3394253" y="5696712"/>
            <a:ext cx="731520" cy="228600"/>
          </a:xfrm>
          <a:prstGeom prst="rect">
            <a:avLst/>
          </a:prstGeom>
          <a:noFill/>
          <a:ln/>
        </p:spPr>
        <p:txBody>
          <a:bodyPr wrap="square" lIns="0" tIns="0" rIns="0" bIns="0" rtlCol="0" anchor="t"/>
          <a:lstStyle/>
          <a:p>
            <a:pPr algn="ctr" indent="0" marL="0">
              <a:buNone/>
            </a:pPr>
            <a:r>
              <a:rPr lang="en-US" sz="1000" dirty="0">
                <a:solidFill>
                  <a:schemeClr val="accent3"/>
                </a:solidFill>
              </a:rPr>
              <a:t>0.1%</a:t>
            </a:r>
            <a:endParaRPr lang="en-US" sz="1000" dirty="0"/>
          </a:p>
        </p:txBody>
      </p:sp>
      <p:sp>
        <p:nvSpPr>
          <p:cNvPr id="10" name="Shape 8"/>
          <p:cNvSpPr/>
          <p:nvPr/>
        </p:nvSpPr>
        <p:spPr>
          <a:xfrm>
            <a:off x="4807915" y="1691640"/>
            <a:ext cx="0" cy="3977640"/>
          </a:xfrm>
          <a:prstGeom prst="line">
            <a:avLst/>
          </a:prstGeom>
          <a:noFill/>
          <a:ln w="9525">
            <a:solidFill>
              <a:srgbClr val="D5DAE3"/>
            </a:solidFill>
            <a:prstDash val="dash"/>
          </a:ln>
        </p:spPr>
      </p:sp>
      <p:sp>
        <p:nvSpPr>
          <p:cNvPr id="11" name="Text 9"/>
          <p:cNvSpPr txBox="1"/>
          <p:nvPr/>
        </p:nvSpPr>
        <p:spPr>
          <a:xfrm>
            <a:off x="4442155" y="5696712"/>
            <a:ext cx="731520" cy="228600"/>
          </a:xfrm>
          <a:prstGeom prst="rect">
            <a:avLst/>
          </a:prstGeom>
          <a:noFill/>
          <a:ln/>
        </p:spPr>
        <p:txBody>
          <a:bodyPr wrap="square" lIns="0" tIns="0" rIns="0" bIns="0" rtlCol="0" anchor="t"/>
          <a:lstStyle/>
          <a:p>
            <a:pPr algn="ctr" indent="0" marL="0">
              <a:buNone/>
            </a:pPr>
            <a:r>
              <a:rPr lang="en-US" sz="1000" dirty="0">
                <a:solidFill>
                  <a:schemeClr val="accent3"/>
                </a:solidFill>
              </a:rPr>
              <a:t>1%</a:t>
            </a:r>
            <a:endParaRPr lang="en-US" sz="1000" dirty="0"/>
          </a:p>
        </p:txBody>
      </p:sp>
      <p:sp>
        <p:nvSpPr>
          <p:cNvPr id="12" name="Shape 10"/>
          <p:cNvSpPr/>
          <p:nvPr/>
        </p:nvSpPr>
        <p:spPr>
          <a:xfrm>
            <a:off x="5855818" y="1691640"/>
            <a:ext cx="0" cy="3977640"/>
          </a:xfrm>
          <a:prstGeom prst="line">
            <a:avLst/>
          </a:prstGeom>
          <a:noFill/>
          <a:ln w="9525">
            <a:solidFill>
              <a:srgbClr val="D5DAE3"/>
            </a:solidFill>
            <a:prstDash val="dash"/>
          </a:ln>
        </p:spPr>
      </p:sp>
      <p:sp>
        <p:nvSpPr>
          <p:cNvPr id="13" name="Text 11"/>
          <p:cNvSpPr txBox="1"/>
          <p:nvPr/>
        </p:nvSpPr>
        <p:spPr>
          <a:xfrm>
            <a:off x="5490058" y="5696712"/>
            <a:ext cx="731520" cy="228600"/>
          </a:xfrm>
          <a:prstGeom prst="rect">
            <a:avLst/>
          </a:prstGeom>
          <a:noFill/>
          <a:ln/>
        </p:spPr>
        <p:txBody>
          <a:bodyPr wrap="square" lIns="0" tIns="0" rIns="0" bIns="0" rtlCol="0" anchor="t"/>
          <a:lstStyle/>
          <a:p>
            <a:pPr algn="ctr" indent="0" marL="0">
              <a:buNone/>
            </a:pPr>
            <a:r>
              <a:rPr lang="en-US" sz="1000" dirty="0">
                <a:solidFill>
                  <a:schemeClr val="accent3"/>
                </a:solidFill>
              </a:rPr>
              <a:t>10%</a:t>
            </a:r>
            <a:endParaRPr lang="en-US" sz="1000" dirty="0"/>
          </a:p>
        </p:txBody>
      </p:sp>
      <p:sp>
        <p:nvSpPr>
          <p:cNvPr id="14" name="Text 12"/>
          <p:cNvSpPr txBox="1"/>
          <p:nvPr/>
        </p:nvSpPr>
        <p:spPr>
          <a:xfrm>
            <a:off x="548640" y="1691640"/>
            <a:ext cx="1005840" cy="233979"/>
          </a:xfrm>
          <a:prstGeom prst="rect">
            <a:avLst/>
          </a:prstGeom>
          <a:noFill/>
          <a:ln/>
        </p:spPr>
        <p:txBody>
          <a:bodyPr wrap="square" lIns="0" tIns="0" rIns="0" bIns="0" rtlCol="0" anchor="ctr"/>
          <a:lstStyle/>
          <a:p>
            <a:pPr algn="r" indent="0" marL="0">
              <a:buNone/>
            </a:pPr>
            <a:r>
              <a:rPr lang="en-US" sz="1200" dirty="0">
                <a:solidFill>
                  <a:schemeClr val="tx1"/>
                </a:solidFill>
              </a:rPr>
              <a:t>English</a:t>
            </a:r>
            <a:endParaRPr lang="en-US" sz="1200" dirty="0"/>
          </a:p>
        </p:txBody>
      </p:sp>
      <p:sp>
        <p:nvSpPr>
          <p:cNvPr id="15" name="Shape 13"/>
          <p:cNvSpPr/>
          <p:nvPr/>
        </p:nvSpPr>
        <p:spPr>
          <a:xfrm>
            <a:off x="1664208" y="1731416"/>
            <a:ext cx="4843216" cy="154426"/>
          </a:xfrm>
          <a:prstGeom prst="rect">
            <a:avLst/>
          </a:prstGeom>
          <a:solidFill>
            <a:schemeClr val="tx2"/>
          </a:solidFill>
          <a:ln/>
        </p:spPr>
      </p:sp>
      <p:sp>
        <p:nvSpPr>
          <p:cNvPr id="16" name="Text 14"/>
          <p:cNvSpPr txBox="1"/>
          <p:nvPr/>
        </p:nvSpPr>
        <p:spPr>
          <a:xfrm>
            <a:off x="6562288" y="1691640"/>
            <a:ext cx="1051560" cy="233979"/>
          </a:xfrm>
          <a:prstGeom prst="rect">
            <a:avLst/>
          </a:prstGeom>
          <a:noFill/>
          <a:ln/>
        </p:spPr>
        <p:txBody>
          <a:bodyPr wrap="square" lIns="0" tIns="0" rIns="0" bIns="0" rtlCol="0" anchor="ctr"/>
          <a:lstStyle/>
          <a:p>
            <a:pPr indent="0" marL="0">
              <a:buNone/>
            </a:pPr>
            <a:r>
              <a:rPr lang="en-US" sz="1100" dirty="0">
                <a:solidFill>
                  <a:schemeClr val="tx1"/>
                </a:solidFill>
              </a:rPr>
              <a:t>41.9%</a:t>
            </a:r>
            <a:endParaRPr lang="en-US" sz="1100" dirty="0"/>
          </a:p>
        </p:txBody>
      </p:sp>
      <p:sp>
        <p:nvSpPr>
          <p:cNvPr id="17" name="Text 15"/>
          <p:cNvSpPr txBox="1"/>
          <p:nvPr/>
        </p:nvSpPr>
        <p:spPr>
          <a:xfrm>
            <a:off x="548640" y="1925619"/>
            <a:ext cx="1005840" cy="233979"/>
          </a:xfrm>
          <a:prstGeom prst="rect">
            <a:avLst/>
          </a:prstGeom>
          <a:noFill/>
          <a:ln/>
        </p:spPr>
        <p:txBody>
          <a:bodyPr wrap="square" lIns="0" tIns="0" rIns="0" bIns="0" rtlCol="0" anchor="ctr"/>
          <a:lstStyle/>
          <a:p>
            <a:pPr algn="r" indent="0" marL="0">
              <a:buNone/>
            </a:pPr>
            <a:r>
              <a:rPr lang="en-US" sz="1200" dirty="0">
                <a:solidFill>
                  <a:schemeClr val="tx1"/>
                </a:solidFill>
              </a:rPr>
              <a:t>Russian</a:t>
            </a:r>
            <a:endParaRPr lang="en-US" sz="1200" dirty="0"/>
          </a:p>
        </p:txBody>
      </p:sp>
      <p:sp>
        <p:nvSpPr>
          <p:cNvPr id="18" name="Shape 16"/>
          <p:cNvSpPr/>
          <p:nvPr/>
        </p:nvSpPr>
        <p:spPr>
          <a:xfrm>
            <a:off x="1664208" y="1965395"/>
            <a:ext cx="4009040" cy="154426"/>
          </a:xfrm>
          <a:prstGeom prst="rect">
            <a:avLst/>
          </a:prstGeom>
          <a:solidFill>
            <a:schemeClr val="tx2"/>
          </a:solidFill>
          <a:ln/>
        </p:spPr>
      </p:sp>
      <p:sp>
        <p:nvSpPr>
          <p:cNvPr id="19" name="Text 17"/>
          <p:cNvSpPr txBox="1"/>
          <p:nvPr/>
        </p:nvSpPr>
        <p:spPr>
          <a:xfrm>
            <a:off x="5728112" y="1925619"/>
            <a:ext cx="1051560" cy="233979"/>
          </a:xfrm>
          <a:prstGeom prst="rect">
            <a:avLst/>
          </a:prstGeom>
          <a:noFill/>
          <a:ln/>
        </p:spPr>
        <p:txBody>
          <a:bodyPr wrap="square" lIns="0" tIns="0" rIns="0" bIns="0" rtlCol="0" anchor="ctr"/>
          <a:lstStyle/>
          <a:p>
            <a:pPr indent="0" marL="0">
              <a:buNone/>
            </a:pPr>
            <a:r>
              <a:rPr lang="en-US" sz="1100" dirty="0">
                <a:solidFill>
                  <a:schemeClr val="tx1"/>
                </a:solidFill>
              </a:rPr>
              <a:t>6.7%</a:t>
            </a:r>
            <a:endParaRPr lang="en-US" sz="1100" dirty="0"/>
          </a:p>
        </p:txBody>
      </p:sp>
      <p:sp>
        <p:nvSpPr>
          <p:cNvPr id="20" name="Text 18"/>
          <p:cNvSpPr txBox="1"/>
          <p:nvPr/>
        </p:nvSpPr>
        <p:spPr>
          <a:xfrm>
            <a:off x="548640" y="2159598"/>
            <a:ext cx="1005840" cy="233979"/>
          </a:xfrm>
          <a:prstGeom prst="rect">
            <a:avLst/>
          </a:prstGeom>
          <a:noFill/>
          <a:ln/>
        </p:spPr>
        <p:txBody>
          <a:bodyPr wrap="square" lIns="0" tIns="0" rIns="0" bIns="0" rtlCol="0" anchor="ctr"/>
          <a:lstStyle/>
          <a:p>
            <a:pPr algn="r" indent="0" marL="0">
              <a:buNone/>
            </a:pPr>
            <a:r>
              <a:rPr lang="en-US" sz="1200" dirty="0">
                <a:solidFill>
                  <a:schemeClr val="tx1"/>
                </a:solidFill>
              </a:rPr>
              <a:t>German</a:t>
            </a:r>
            <a:endParaRPr lang="en-US" sz="1200" dirty="0"/>
          </a:p>
        </p:txBody>
      </p:sp>
      <p:sp>
        <p:nvSpPr>
          <p:cNvPr id="21" name="Shape 19"/>
          <p:cNvSpPr/>
          <p:nvPr/>
        </p:nvSpPr>
        <p:spPr>
          <a:xfrm>
            <a:off x="1664208" y="2199374"/>
            <a:ext cx="3937798" cy="154426"/>
          </a:xfrm>
          <a:prstGeom prst="rect">
            <a:avLst/>
          </a:prstGeom>
          <a:solidFill>
            <a:schemeClr val="tx2"/>
          </a:solidFill>
          <a:ln/>
        </p:spPr>
      </p:sp>
      <p:sp>
        <p:nvSpPr>
          <p:cNvPr id="22" name="Text 20"/>
          <p:cNvSpPr txBox="1"/>
          <p:nvPr/>
        </p:nvSpPr>
        <p:spPr>
          <a:xfrm>
            <a:off x="5656870" y="2159598"/>
            <a:ext cx="1051560" cy="233979"/>
          </a:xfrm>
          <a:prstGeom prst="rect">
            <a:avLst/>
          </a:prstGeom>
          <a:noFill/>
          <a:ln/>
        </p:spPr>
        <p:txBody>
          <a:bodyPr wrap="square" lIns="0" tIns="0" rIns="0" bIns="0" rtlCol="0" anchor="ctr"/>
          <a:lstStyle/>
          <a:p>
            <a:pPr indent="0" marL="0">
              <a:buNone/>
            </a:pPr>
            <a:r>
              <a:rPr lang="en-US" sz="1100" dirty="0">
                <a:solidFill>
                  <a:schemeClr val="tx1"/>
                </a:solidFill>
              </a:rPr>
              <a:t>5.7%</a:t>
            </a:r>
            <a:endParaRPr lang="en-US" sz="1100" dirty="0"/>
          </a:p>
        </p:txBody>
      </p:sp>
      <p:sp>
        <p:nvSpPr>
          <p:cNvPr id="23" name="Text 21"/>
          <p:cNvSpPr txBox="1"/>
          <p:nvPr/>
        </p:nvSpPr>
        <p:spPr>
          <a:xfrm>
            <a:off x="548640" y="2393576"/>
            <a:ext cx="1005840" cy="233979"/>
          </a:xfrm>
          <a:prstGeom prst="rect">
            <a:avLst/>
          </a:prstGeom>
          <a:noFill/>
          <a:ln/>
        </p:spPr>
        <p:txBody>
          <a:bodyPr wrap="square" lIns="0" tIns="0" rIns="0" bIns="0" rtlCol="0" anchor="ctr"/>
          <a:lstStyle/>
          <a:p>
            <a:pPr algn="r" indent="0" marL="0">
              <a:buNone/>
            </a:pPr>
            <a:r>
              <a:rPr lang="en-US" sz="1200" dirty="0">
                <a:solidFill>
                  <a:schemeClr val="tx1"/>
                </a:solidFill>
              </a:rPr>
              <a:t>Japanese</a:t>
            </a:r>
            <a:endParaRPr lang="en-US" sz="1200" dirty="0"/>
          </a:p>
        </p:txBody>
      </p:sp>
      <p:sp>
        <p:nvSpPr>
          <p:cNvPr id="24" name="Shape 22"/>
          <p:cNvSpPr/>
          <p:nvPr/>
        </p:nvSpPr>
        <p:spPr>
          <a:xfrm>
            <a:off x="1664208" y="2433353"/>
            <a:ext cx="3891094" cy="154426"/>
          </a:xfrm>
          <a:prstGeom prst="rect">
            <a:avLst/>
          </a:prstGeom>
          <a:solidFill>
            <a:schemeClr val="tx2"/>
          </a:solidFill>
          <a:ln/>
        </p:spPr>
      </p:sp>
      <p:sp>
        <p:nvSpPr>
          <p:cNvPr id="25" name="Text 23"/>
          <p:cNvSpPr txBox="1"/>
          <p:nvPr/>
        </p:nvSpPr>
        <p:spPr>
          <a:xfrm>
            <a:off x="5610166" y="2393576"/>
            <a:ext cx="1051560" cy="233979"/>
          </a:xfrm>
          <a:prstGeom prst="rect">
            <a:avLst/>
          </a:prstGeom>
          <a:noFill/>
          <a:ln/>
        </p:spPr>
        <p:txBody>
          <a:bodyPr wrap="square" lIns="0" tIns="0" rIns="0" bIns="0" rtlCol="0" anchor="ctr"/>
          <a:lstStyle/>
          <a:p>
            <a:pPr indent="0" marL="0">
              <a:buNone/>
            </a:pPr>
            <a:r>
              <a:rPr lang="en-US" sz="1100" dirty="0">
                <a:solidFill>
                  <a:schemeClr val="tx1"/>
                </a:solidFill>
              </a:rPr>
              <a:t>5.2%</a:t>
            </a:r>
            <a:endParaRPr lang="en-US" sz="1100" dirty="0"/>
          </a:p>
        </p:txBody>
      </p:sp>
      <p:sp>
        <p:nvSpPr>
          <p:cNvPr id="26" name="Text 24"/>
          <p:cNvSpPr txBox="1"/>
          <p:nvPr/>
        </p:nvSpPr>
        <p:spPr>
          <a:xfrm>
            <a:off x="548640" y="2627555"/>
            <a:ext cx="1005840" cy="233979"/>
          </a:xfrm>
          <a:prstGeom prst="rect">
            <a:avLst/>
          </a:prstGeom>
          <a:noFill/>
          <a:ln/>
        </p:spPr>
        <p:txBody>
          <a:bodyPr wrap="square" lIns="0" tIns="0" rIns="0" bIns="0" rtlCol="0" anchor="ctr"/>
          <a:lstStyle/>
          <a:p>
            <a:pPr algn="r" indent="0" marL="0">
              <a:buNone/>
            </a:pPr>
            <a:r>
              <a:rPr lang="en-US" sz="1200" dirty="0">
                <a:solidFill>
                  <a:schemeClr val="tx1"/>
                </a:solidFill>
              </a:rPr>
              <a:t>Spanish</a:t>
            </a:r>
            <a:endParaRPr lang="en-US" sz="1200" dirty="0"/>
          </a:p>
        </p:txBody>
      </p:sp>
      <p:sp>
        <p:nvSpPr>
          <p:cNvPr id="27" name="Shape 25"/>
          <p:cNvSpPr/>
          <p:nvPr/>
        </p:nvSpPr>
        <p:spPr>
          <a:xfrm>
            <a:off x="1664208" y="2667332"/>
            <a:ext cx="3852318" cy="154426"/>
          </a:xfrm>
          <a:prstGeom prst="rect">
            <a:avLst/>
          </a:prstGeom>
          <a:solidFill>
            <a:schemeClr val="tx2"/>
          </a:solidFill>
          <a:ln/>
        </p:spPr>
      </p:sp>
      <p:sp>
        <p:nvSpPr>
          <p:cNvPr id="28" name="Text 26"/>
          <p:cNvSpPr txBox="1"/>
          <p:nvPr/>
        </p:nvSpPr>
        <p:spPr>
          <a:xfrm>
            <a:off x="5571390" y="2627555"/>
            <a:ext cx="1051560" cy="233979"/>
          </a:xfrm>
          <a:prstGeom prst="rect">
            <a:avLst/>
          </a:prstGeom>
          <a:noFill/>
          <a:ln/>
        </p:spPr>
        <p:txBody>
          <a:bodyPr wrap="square" lIns="0" tIns="0" rIns="0" bIns="0" rtlCol="0" anchor="ctr"/>
          <a:lstStyle/>
          <a:p>
            <a:pPr indent="0" marL="0">
              <a:buNone/>
            </a:pPr>
            <a:r>
              <a:rPr lang="en-US" sz="1100" dirty="0">
                <a:solidFill>
                  <a:schemeClr val="tx1"/>
                </a:solidFill>
              </a:rPr>
              <a:t>4.7%</a:t>
            </a:r>
            <a:endParaRPr lang="en-US" sz="1100" dirty="0"/>
          </a:p>
        </p:txBody>
      </p:sp>
      <p:sp>
        <p:nvSpPr>
          <p:cNvPr id="29" name="Text 27"/>
          <p:cNvSpPr txBox="1"/>
          <p:nvPr/>
        </p:nvSpPr>
        <p:spPr>
          <a:xfrm>
            <a:off x="548640" y="2861534"/>
            <a:ext cx="1005840" cy="233979"/>
          </a:xfrm>
          <a:prstGeom prst="rect">
            <a:avLst/>
          </a:prstGeom>
          <a:noFill/>
          <a:ln/>
        </p:spPr>
        <p:txBody>
          <a:bodyPr wrap="square" lIns="0" tIns="0" rIns="0" bIns="0" rtlCol="0" anchor="ctr"/>
          <a:lstStyle/>
          <a:p>
            <a:pPr algn="r" indent="0" marL="0">
              <a:buNone/>
            </a:pPr>
            <a:r>
              <a:rPr lang="en-US" sz="1200" dirty="0">
                <a:solidFill>
                  <a:schemeClr val="tx1"/>
                </a:solidFill>
              </a:rPr>
              <a:t>French</a:t>
            </a:r>
            <a:endParaRPr lang="en-US" sz="1200" dirty="0"/>
          </a:p>
        </p:txBody>
      </p:sp>
      <p:sp>
        <p:nvSpPr>
          <p:cNvPr id="30" name="Shape 28"/>
          <p:cNvSpPr/>
          <p:nvPr/>
        </p:nvSpPr>
        <p:spPr>
          <a:xfrm>
            <a:off x="1664208" y="2901311"/>
            <a:ext cx="3845758" cy="154426"/>
          </a:xfrm>
          <a:prstGeom prst="rect">
            <a:avLst/>
          </a:prstGeom>
          <a:solidFill>
            <a:schemeClr val="tx2"/>
          </a:solidFill>
          <a:ln/>
        </p:spPr>
      </p:sp>
      <p:sp>
        <p:nvSpPr>
          <p:cNvPr id="31" name="Text 29"/>
          <p:cNvSpPr txBox="1"/>
          <p:nvPr/>
        </p:nvSpPr>
        <p:spPr>
          <a:xfrm>
            <a:off x="5564830" y="2861534"/>
            <a:ext cx="1051560" cy="233979"/>
          </a:xfrm>
          <a:prstGeom prst="rect">
            <a:avLst/>
          </a:prstGeom>
          <a:noFill/>
          <a:ln/>
        </p:spPr>
        <p:txBody>
          <a:bodyPr wrap="square" lIns="0" tIns="0" rIns="0" bIns="0" rtlCol="0" anchor="ctr"/>
          <a:lstStyle/>
          <a:p>
            <a:pPr indent="0" marL="0">
              <a:buNone/>
            </a:pPr>
            <a:r>
              <a:rPr lang="en-US" sz="1100" dirty="0">
                <a:solidFill>
                  <a:schemeClr val="tx1"/>
                </a:solidFill>
              </a:rPr>
              <a:t>4.7%</a:t>
            </a:r>
            <a:endParaRPr lang="en-US" sz="1100" dirty="0"/>
          </a:p>
        </p:txBody>
      </p:sp>
      <p:sp>
        <p:nvSpPr>
          <p:cNvPr id="32" name="Text 30"/>
          <p:cNvSpPr txBox="1"/>
          <p:nvPr/>
        </p:nvSpPr>
        <p:spPr>
          <a:xfrm>
            <a:off x="548640" y="3095513"/>
            <a:ext cx="1005840" cy="233979"/>
          </a:xfrm>
          <a:prstGeom prst="rect">
            <a:avLst/>
          </a:prstGeom>
          <a:noFill/>
          <a:ln/>
        </p:spPr>
        <p:txBody>
          <a:bodyPr wrap="square" lIns="0" tIns="0" rIns="0" bIns="0" rtlCol="0" anchor="ctr"/>
          <a:lstStyle/>
          <a:p>
            <a:pPr algn="r" indent="0" marL="0">
              <a:buNone/>
            </a:pPr>
            <a:r>
              <a:rPr lang="en-US" sz="1200" dirty="0">
                <a:solidFill>
                  <a:schemeClr val="tx1"/>
                </a:solidFill>
              </a:rPr>
              <a:t>Chinese</a:t>
            </a:r>
            <a:endParaRPr lang="en-US" sz="1200" dirty="0"/>
          </a:p>
        </p:txBody>
      </p:sp>
      <p:sp>
        <p:nvSpPr>
          <p:cNvPr id="33" name="Shape 31"/>
          <p:cNvSpPr/>
          <p:nvPr/>
        </p:nvSpPr>
        <p:spPr>
          <a:xfrm>
            <a:off x="1664208" y="3135289"/>
            <a:ext cx="3799566" cy="154426"/>
          </a:xfrm>
          <a:prstGeom prst="rect">
            <a:avLst/>
          </a:prstGeom>
          <a:solidFill>
            <a:schemeClr val="tx2"/>
          </a:solidFill>
          <a:ln/>
        </p:spPr>
      </p:sp>
      <p:sp>
        <p:nvSpPr>
          <p:cNvPr id="34" name="Text 32"/>
          <p:cNvSpPr txBox="1"/>
          <p:nvPr/>
        </p:nvSpPr>
        <p:spPr>
          <a:xfrm>
            <a:off x="5518638" y="3095513"/>
            <a:ext cx="1051560" cy="233979"/>
          </a:xfrm>
          <a:prstGeom prst="rect">
            <a:avLst/>
          </a:prstGeom>
          <a:noFill/>
          <a:ln/>
        </p:spPr>
        <p:txBody>
          <a:bodyPr wrap="square" lIns="0" tIns="0" rIns="0" bIns="0" rtlCol="0" anchor="ctr"/>
          <a:lstStyle/>
          <a:p>
            <a:pPr indent="0" marL="0">
              <a:buNone/>
            </a:pPr>
            <a:r>
              <a:rPr lang="en-US" sz="1100" dirty="0">
                <a:solidFill>
                  <a:schemeClr val="tx1"/>
                </a:solidFill>
              </a:rPr>
              <a:t>4.2%</a:t>
            </a:r>
            <a:endParaRPr lang="en-US" sz="1100" dirty="0"/>
          </a:p>
        </p:txBody>
      </p:sp>
      <p:sp>
        <p:nvSpPr>
          <p:cNvPr id="35" name="Text 33"/>
          <p:cNvSpPr txBox="1"/>
          <p:nvPr/>
        </p:nvSpPr>
        <p:spPr>
          <a:xfrm>
            <a:off x="548640" y="3329492"/>
            <a:ext cx="1005840" cy="233979"/>
          </a:xfrm>
          <a:prstGeom prst="rect">
            <a:avLst/>
          </a:prstGeom>
          <a:noFill/>
          <a:ln/>
        </p:spPr>
        <p:txBody>
          <a:bodyPr wrap="square" lIns="0" tIns="0" rIns="0" bIns="0" rtlCol="0" anchor="ctr"/>
          <a:lstStyle/>
          <a:p>
            <a:pPr algn="r" indent="0" marL="0">
              <a:buNone/>
            </a:pPr>
            <a:r>
              <a:rPr lang="en-US" sz="1200" dirty="0">
                <a:solidFill>
                  <a:schemeClr val="tx1"/>
                </a:solidFill>
              </a:rPr>
              <a:t>Arabic</a:t>
            </a:r>
            <a:endParaRPr lang="en-US" sz="1200" dirty="0"/>
          </a:p>
        </p:txBody>
      </p:sp>
      <p:sp>
        <p:nvSpPr>
          <p:cNvPr id="36" name="Shape 34"/>
          <p:cNvSpPr/>
          <p:nvPr/>
        </p:nvSpPr>
        <p:spPr>
          <a:xfrm>
            <a:off x="1664208" y="3369268"/>
            <a:ext cx="2960022" cy="154426"/>
          </a:xfrm>
          <a:prstGeom prst="rect">
            <a:avLst/>
          </a:prstGeom>
          <a:solidFill>
            <a:schemeClr val="accent6"/>
          </a:solidFill>
          <a:ln/>
        </p:spPr>
      </p:sp>
      <p:sp>
        <p:nvSpPr>
          <p:cNvPr id="37" name="Text 35"/>
          <p:cNvSpPr txBox="1"/>
          <p:nvPr/>
        </p:nvSpPr>
        <p:spPr>
          <a:xfrm>
            <a:off x="4679094" y="3329492"/>
            <a:ext cx="1051560" cy="233979"/>
          </a:xfrm>
          <a:prstGeom prst="rect">
            <a:avLst/>
          </a:prstGeom>
          <a:noFill/>
          <a:ln/>
        </p:spPr>
        <p:txBody>
          <a:bodyPr wrap="square" lIns="0" tIns="0" rIns="0" bIns="0" rtlCol="0" anchor="ctr"/>
          <a:lstStyle/>
          <a:p>
            <a:pPr indent="0" marL="0">
              <a:buNone/>
            </a:pPr>
            <a:r>
              <a:rPr lang="en-US" sz="1100" dirty="0">
                <a:solidFill>
                  <a:schemeClr val="tx1"/>
                </a:solidFill>
              </a:rPr>
              <a:t>0.67%</a:t>
            </a:r>
            <a:endParaRPr lang="en-US" sz="1100" dirty="0"/>
          </a:p>
        </p:txBody>
      </p:sp>
      <p:sp>
        <p:nvSpPr>
          <p:cNvPr id="38" name="Text 36"/>
          <p:cNvSpPr txBox="1"/>
          <p:nvPr/>
        </p:nvSpPr>
        <p:spPr>
          <a:xfrm>
            <a:off x="548640" y="3563471"/>
            <a:ext cx="1005840" cy="233979"/>
          </a:xfrm>
          <a:prstGeom prst="rect">
            <a:avLst/>
          </a:prstGeom>
          <a:noFill/>
          <a:ln/>
        </p:spPr>
        <p:txBody>
          <a:bodyPr wrap="square" lIns="0" tIns="0" rIns="0" bIns="0" rtlCol="0" anchor="ctr"/>
          <a:lstStyle/>
          <a:p>
            <a:pPr algn="r" indent="0" marL="0">
              <a:buNone/>
            </a:pPr>
            <a:r>
              <a:rPr lang="en-US" sz="1200" dirty="0">
                <a:solidFill>
                  <a:schemeClr val="tx1"/>
                </a:solidFill>
              </a:rPr>
              <a:t>Thai</a:t>
            </a:r>
            <a:endParaRPr lang="en-US" sz="1200" dirty="0"/>
          </a:p>
        </p:txBody>
      </p:sp>
      <p:sp>
        <p:nvSpPr>
          <p:cNvPr id="39" name="Shape 37"/>
          <p:cNvSpPr/>
          <p:nvPr/>
        </p:nvSpPr>
        <p:spPr>
          <a:xfrm>
            <a:off x="1664208" y="3603247"/>
            <a:ext cx="2675839" cy="154426"/>
          </a:xfrm>
          <a:prstGeom prst="rect">
            <a:avLst/>
          </a:prstGeom>
          <a:solidFill>
            <a:schemeClr val="accent6"/>
          </a:solidFill>
          <a:ln/>
        </p:spPr>
      </p:sp>
      <p:sp>
        <p:nvSpPr>
          <p:cNvPr id="40" name="Text 38"/>
          <p:cNvSpPr txBox="1"/>
          <p:nvPr/>
        </p:nvSpPr>
        <p:spPr>
          <a:xfrm>
            <a:off x="4394911" y="3563471"/>
            <a:ext cx="1051560" cy="233979"/>
          </a:xfrm>
          <a:prstGeom prst="rect">
            <a:avLst/>
          </a:prstGeom>
          <a:noFill/>
          <a:ln/>
        </p:spPr>
        <p:txBody>
          <a:bodyPr wrap="square" lIns="0" tIns="0" rIns="0" bIns="0" rtlCol="0" anchor="ctr"/>
          <a:lstStyle/>
          <a:p>
            <a:pPr indent="0" marL="0">
              <a:buNone/>
            </a:pPr>
            <a:r>
              <a:rPr lang="en-US" sz="1100" dirty="0">
                <a:solidFill>
                  <a:schemeClr val="tx1"/>
                </a:solidFill>
              </a:rPr>
              <a:t>0.36%</a:t>
            </a:r>
            <a:endParaRPr lang="en-US" sz="1100" dirty="0"/>
          </a:p>
        </p:txBody>
      </p:sp>
      <p:sp>
        <p:nvSpPr>
          <p:cNvPr id="41" name="Text 39"/>
          <p:cNvSpPr txBox="1"/>
          <p:nvPr/>
        </p:nvSpPr>
        <p:spPr>
          <a:xfrm>
            <a:off x="548640" y="3797449"/>
            <a:ext cx="1005840" cy="233979"/>
          </a:xfrm>
          <a:prstGeom prst="rect">
            <a:avLst/>
          </a:prstGeom>
          <a:noFill/>
          <a:ln/>
        </p:spPr>
        <p:txBody>
          <a:bodyPr wrap="square" lIns="0" tIns="0" rIns="0" bIns="0" rtlCol="0" anchor="ctr"/>
          <a:lstStyle/>
          <a:p>
            <a:pPr algn="r" indent="0" marL="0">
              <a:buNone/>
            </a:pPr>
            <a:r>
              <a:rPr lang="en-US" sz="1200" dirty="0">
                <a:solidFill>
                  <a:schemeClr val="tx1"/>
                </a:solidFill>
              </a:rPr>
              <a:t>Hebrew</a:t>
            </a:r>
            <a:endParaRPr lang="en-US" sz="1200" dirty="0"/>
          </a:p>
        </p:txBody>
      </p:sp>
      <p:sp>
        <p:nvSpPr>
          <p:cNvPr id="42" name="Shape 40"/>
          <p:cNvSpPr/>
          <p:nvPr/>
        </p:nvSpPr>
        <p:spPr>
          <a:xfrm>
            <a:off x="1664208" y="3837226"/>
            <a:ext cx="2524843" cy="154426"/>
          </a:xfrm>
          <a:prstGeom prst="rect">
            <a:avLst/>
          </a:prstGeom>
          <a:solidFill>
            <a:schemeClr val="accent6"/>
          </a:solidFill>
          <a:ln/>
        </p:spPr>
      </p:sp>
      <p:sp>
        <p:nvSpPr>
          <p:cNvPr id="43" name="Text 41"/>
          <p:cNvSpPr txBox="1"/>
          <p:nvPr/>
        </p:nvSpPr>
        <p:spPr>
          <a:xfrm>
            <a:off x="4243915" y="3797449"/>
            <a:ext cx="1051560" cy="233979"/>
          </a:xfrm>
          <a:prstGeom prst="rect">
            <a:avLst/>
          </a:prstGeom>
          <a:noFill/>
          <a:ln/>
        </p:spPr>
        <p:txBody>
          <a:bodyPr wrap="square" lIns="0" tIns="0" rIns="0" bIns="0" rtlCol="0" anchor="ctr"/>
          <a:lstStyle/>
          <a:p>
            <a:pPr indent="0" marL="0">
              <a:buNone/>
            </a:pPr>
            <a:r>
              <a:rPr lang="en-US" sz="1100" dirty="0">
                <a:solidFill>
                  <a:schemeClr val="tx1"/>
                </a:solidFill>
              </a:rPr>
              <a:t>0.26%</a:t>
            </a:r>
            <a:endParaRPr lang="en-US" sz="1100" dirty="0"/>
          </a:p>
        </p:txBody>
      </p:sp>
      <p:sp>
        <p:nvSpPr>
          <p:cNvPr id="44" name="Text 42"/>
          <p:cNvSpPr txBox="1"/>
          <p:nvPr/>
        </p:nvSpPr>
        <p:spPr>
          <a:xfrm>
            <a:off x="548640" y="4031428"/>
            <a:ext cx="1005840" cy="233979"/>
          </a:xfrm>
          <a:prstGeom prst="rect">
            <a:avLst/>
          </a:prstGeom>
          <a:noFill/>
          <a:ln/>
        </p:spPr>
        <p:txBody>
          <a:bodyPr wrap="square" lIns="0" tIns="0" rIns="0" bIns="0" rtlCol="0" anchor="ctr"/>
          <a:lstStyle/>
          <a:p>
            <a:pPr algn="r" indent="0" marL="0">
              <a:buNone/>
            </a:pPr>
            <a:r>
              <a:rPr lang="en-US" sz="1200" dirty="0">
                <a:solidFill>
                  <a:schemeClr val="tx1"/>
                </a:solidFill>
              </a:rPr>
              <a:t>Hindi</a:t>
            </a:r>
            <a:endParaRPr lang="en-US" sz="1200" dirty="0"/>
          </a:p>
        </p:txBody>
      </p:sp>
      <p:sp>
        <p:nvSpPr>
          <p:cNvPr id="45" name="Shape 43"/>
          <p:cNvSpPr/>
          <p:nvPr/>
        </p:nvSpPr>
        <p:spPr>
          <a:xfrm>
            <a:off x="1664208" y="4071205"/>
            <a:ext cx="2443532" cy="154426"/>
          </a:xfrm>
          <a:prstGeom prst="rect">
            <a:avLst/>
          </a:prstGeom>
          <a:solidFill>
            <a:schemeClr val="accent6"/>
          </a:solidFill>
          <a:ln/>
        </p:spPr>
      </p:sp>
      <p:sp>
        <p:nvSpPr>
          <p:cNvPr id="46" name="Text 44"/>
          <p:cNvSpPr txBox="1"/>
          <p:nvPr/>
        </p:nvSpPr>
        <p:spPr>
          <a:xfrm>
            <a:off x="4162604" y="4031428"/>
            <a:ext cx="1051560" cy="233979"/>
          </a:xfrm>
          <a:prstGeom prst="rect">
            <a:avLst/>
          </a:prstGeom>
          <a:noFill/>
          <a:ln/>
        </p:spPr>
        <p:txBody>
          <a:bodyPr wrap="square" lIns="0" tIns="0" rIns="0" bIns="0" rtlCol="0" anchor="ctr"/>
          <a:lstStyle/>
          <a:p>
            <a:pPr indent="0" marL="0">
              <a:buNone/>
            </a:pPr>
            <a:r>
              <a:rPr lang="en-US" sz="1100" dirty="0">
                <a:solidFill>
                  <a:schemeClr val="tx1"/>
                </a:solidFill>
              </a:rPr>
              <a:t>0.21%</a:t>
            </a:r>
            <a:endParaRPr lang="en-US" sz="1100" dirty="0"/>
          </a:p>
        </p:txBody>
      </p:sp>
      <p:sp>
        <p:nvSpPr>
          <p:cNvPr id="47" name="Text 45"/>
          <p:cNvSpPr txBox="1"/>
          <p:nvPr/>
        </p:nvSpPr>
        <p:spPr>
          <a:xfrm>
            <a:off x="548640" y="4265407"/>
            <a:ext cx="1005840" cy="233979"/>
          </a:xfrm>
          <a:prstGeom prst="rect">
            <a:avLst/>
          </a:prstGeom>
          <a:noFill/>
          <a:ln/>
        </p:spPr>
        <p:txBody>
          <a:bodyPr wrap="square" lIns="0" tIns="0" rIns="0" bIns="0" rtlCol="0" anchor="ctr"/>
          <a:lstStyle/>
          <a:p>
            <a:pPr algn="r" indent="0" marL="0">
              <a:buNone/>
            </a:pPr>
            <a:r>
              <a:rPr lang="en-US" sz="1200" dirty="0">
                <a:solidFill>
                  <a:schemeClr val="tx1"/>
                </a:solidFill>
              </a:rPr>
              <a:t>Bengali</a:t>
            </a:r>
            <a:endParaRPr lang="en-US" sz="1200" dirty="0"/>
          </a:p>
        </p:txBody>
      </p:sp>
      <p:sp>
        <p:nvSpPr>
          <p:cNvPr id="48" name="Shape 46"/>
          <p:cNvSpPr/>
          <p:nvPr/>
        </p:nvSpPr>
        <p:spPr>
          <a:xfrm>
            <a:off x="1664208" y="4305183"/>
            <a:ext cx="2139180" cy="154426"/>
          </a:xfrm>
          <a:prstGeom prst="rect">
            <a:avLst/>
          </a:prstGeom>
          <a:solidFill>
            <a:schemeClr val="accent6"/>
          </a:solidFill>
          <a:ln/>
        </p:spPr>
      </p:sp>
      <p:sp>
        <p:nvSpPr>
          <p:cNvPr id="49" name="Text 47"/>
          <p:cNvSpPr txBox="1"/>
          <p:nvPr/>
        </p:nvSpPr>
        <p:spPr>
          <a:xfrm>
            <a:off x="3858252" y="4265407"/>
            <a:ext cx="1051560" cy="233979"/>
          </a:xfrm>
          <a:prstGeom prst="rect">
            <a:avLst/>
          </a:prstGeom>
          <a:noFill/>
          <a:ln/>
        </p:spPr>
        <p:txBody>
          <a:bodyPr wrap="square" lIns="0" tIns="0" rIns="0" bIns="0" rtlCol="0" anchor="ctr"/>
          <a:lstStyle/>
          <a:p>
            <a:pPr indent="0" marL="0">
              <a:buNone/>
            </a:pPr>
            <a:r>
              <a:rPr lang="en-US" sz="1100" dirty="0">
                <a:solidFill>
                  <a:schemeClr val="tx1"/>
                </a:solidFill>
              </a:rPr>
              <a:t>0.11%</a:t>
            </a:r>
            <a:endParaRPr lang="en-US" sz="1100" dirty="0"/>
          </a:p>
        </p:txBody>
      </p:sp>
      <p:sp>
        <p:nvSpPr>
          <p:cNvPr id="50" name="Text 48"/>
          <p:cNvSpPr txBox="1"/>
          <p:nvPr/>
        </p:nvSpPr>
        <p:spPr>
          <a:xfrm>
            <a:off x="548640" y="4499386"/>
            <a:ext cx="1005840" cy="233979"/>
          </a:xfrm>
          <a:prstGeom prst="rect">
            <a:avLst/>
          </a:prstGeom>
          <a:noFill/>
          <a:ln/>
        </p:spPr>
        <p:txBody>
          <a:bodyPr wrap="square" lIns="0" tIns="0" rIns="0" bIns="0" rtlCol="0" anchor="ctr"/>
          <a:lstStyle/>
          <a:p>
            <a:pPr algn="r" indent="0" marL="0">
              <a:buNone/>
            </a:pPr>
            <a:r>
              <a:rPr lang="en-US" sz="1200" dirty="0">
                <a:solidFill>
                  <a:schemeClr val="tx1"/>
                </a:solidFill>
              </a:rPr>
              <a:t>Tamil</a:t>
            </a:r>
            <a:endParaRPr lang="en-US" sz="1200" dirty="0"/>
          </a:p>
        </p:txBody>
      </p:sp>
      <p:sp>
        <p:nvSpPr>
          <p:cNvPr id="51" name="Shape 49"/>
          <p:cNvSpPr/>
          <p:nvPr/>
        </p:nvSpPr>
        <p:spPr>
          <a:xfrm>
            <a:off x="1664208" y="4539162"/>
            <a:ext cx="1731393" cy="154426"/>
          </a:xfrm>
          <a:prstGeom prst="rect">
            <a:avLst/>
          </a:prstGeom>
          <a:solidFill>
            <a:schemeClr val="accent1"/>
          </a:solidFill>
          <a:ln/>
        </p:spPr>
      </p:sp>
      <p:sp>
        <p:nvSpPr>
          <p:cNvPr id="52" name="Text 50"/>
          <p:cNvSpPr txBox="1"/>
          <p:nvPr/>
        </p:nvSpPr>
        <p:spPr>
          <a:xfrm>
            <a:off x="3450465" y="4499386"/>
            <a:ext cx="1051560" cy="233979"/>
          </a:xfrm>
          <a:prstGeom prst="rect">
            <a:avLst/>
          </a:prstGeom>
          <a:noFill/>
          <a:ln/>
        </p:spPr>
        <p:txBody>
          <a:bodyPr wrap="square" lIns="0" tIns="0" rIns="0" bIns="0" rtlCol="0" anchor="ctr"/>
          <a:lstStyle/>
          <a:p>
            <a:pPr indent="0" marL="0">
              <a:buNone/>
            </a:pPr>
            <a:r>
              <a:rPr lang="en-US" sz="1100" dirty="0">
                <a:solidFill>
                  <a:schemeClr val="tx1"/>
                </a:solidFill>
              </a:rPr>
              <a:t>0.045%</a:t>
            </a:r>
            <a:endParaRPr lang="en-US" sz="1100" dirty="0"/>
          </a:p>
        </p:txBody>
      </p:sp>
      <p:sp>
        <p:nvSpPr>
          <p:cNvPr id="53" name="Text 51"/>
          <p:cNvSpPr txBox="1"/>
          <p:nvPr/>
        </p:nvSpPr>
        <p:spPr>
          <a:xfrm>
            <a:off x="548640" y="4733365"/>
            <a:ext cx="1005840" cy="233979"/>
          </a:xfrm>
          <a:prstGeom prst="rect">
            <a:avLst/>
          </a:prstGeom>
          <a:noFill/>
          <a:ln/>
        </p:spPr>
        <p:txBody>
          <a:bodyPr wrap="square" lIns="0" tIns="0" rIns="0" bIns="0" rtlCol="0" anchor="ctr"/>
          <a:lstStyle/>
          <a:p>
            <a:pPr algn="r" indent="0" marL="0">
              <a:buNone/>
            </a:pPr>
            <a:r>
              <a:rPr lang="en-US" sz="1200" dirty="0">
                <a:solidFill>
                  <a:schemeClr val="tx1"/>
                </a:solidFill>
              </a:rPr>
              <a:t>Swahili</a:t>
            </a:r>
            <a:endParaRPr lang="en-US" sz="1200" dirty="0"/>
          </a:p>
        </p:txBody>
      </p:sp>
      <p:sp>
        <p:nvSpPr>
          <p:cNvPr id="54" name="Shape 52"/>
          <p:cNvSpPr/>
          <p:nvPr/>
        </p:nvSpPr>
        <p:spPr>
          <a:xfrm>
            <a:off x="1664208" y="4773141"/>
            <a:ext cx="1087122" cy="154426"/>
          </a:xfrm>
          <a:prstGeom prst="rect">
            <a:avLst/>
          </a:prstGeom>
          <a:solidFill>
            <a:schemeClr val="accent1"/>
          </a:solidFill>
          <a:ln/>
        </p:spPr>
      </p:sp>
      <p:sp>
        <p:nvSpPr>
          <p:cNvPr id="55" name="Text 53"/>
          <p:cNvSpPr txBox="1"/>
          <p:nvPr/>
        </p:nvSpPr>
        <p:spPr>
          <a:xfrm>
            <a:off x="2806194" y="4733365"/>
            <a:ext cx="1051560" cy="233979"/>
          </a:xfrm>
          <a:prstGeom prst="rect">
            <a:avLst/>
          </a:prstGeom>
          <a:noFill/>
          <a:ln/>
        </p:spPr>
        <p:txBody>
          <a:bodyPr wrap="square" lIns="0" tIns="0" rIns="0" bIns="0" rtlCol="0" anchor="ctr"/>
          <a:lstStyle/>
          <a:p>
            <a:pPr indent="0" marL="0">
              <a:buNone/>
            </a:pPr>
            <a:r>
              <a:rPr lang="en-US" sz="1100" dirty="0">
                <a:solidFill>
                  <a:schemeClr val="tx1"/>
                </a:solidFill>
              </a:rPr>
              <a:t>0.011%</a:t>
            </a:r>
            <a:endParaRPr lang="en-US" sz="1100" dirty="0"/>
          </a:p>
        </p:txBody>
      </p:sp>
      <p:sp>
        <p:nvSpPr>
          <p:cNvPr id="56" name="Text 54"/>
          <p:cNvSpPr txBox="1"/>
          <p:nvPr/>
        </p:nvSpPr>
        <p:spPr>
          <a:xfrm>
            <a:off x="548640" y="4967344"/>
            <a:ext cx="1005840" cy="233979"/>
          </a:xfrm>
          <a:prstGeom prst="rect">
            <a:avLst/>
          </a:prstGeom>
          <a:noFill/>
          <a:ln/>
        </p:spPr>
        <p:txBody>
          <a:bodyPr wrap="square" lIns="0" tIns="0" rIns="0" bIns="0" rtlCol="0" anchor="ctr"/>
          <a:lstStyle/>
          <a:p>
            <a:pPr algn="r" indent="0" marL="0">
              <a:buNone/>
            </a:pPr>
            <a:r>
              <a:rPr lang="en-US" sz="1200" dirty="0">
                <a:solidFill>
                  <a:schemeClr val="tx1"/>
                </a:solidFill>
              </a:rPr>
              <a:t>Amharic</a:t>
            </a:r>
            <a:endParaRPr lang="en-US" sz="1200" dirty="0"/>
          </a:p>
        </p:txBody>
      </p:sp>
      <p:sp>
        <p:nvSpPr>
          <p:cNvPr id="57" name="Shape 55"/>
          <p:cNvSpPr/>
          <p:nvPr/>
        </p:nvSpPr>
        <p:spPr>
          <a:xfrm>
            <a:off x="1664208" y="5007120"/>
            <a:ext cx="694506" cy="154426"/>
          </a:xfrm>
          <a:prstGeom prst="rect">
            <a:avLst/>
          </a:prstGeom>
          <a:solidFill>
            <a:schemeClr val="accent1"/>
          </a:solidFill>
          <a:ln/>
        </p:spPr>
      </p:sp>
      <p:sp>
        <p:nvSpPr>
          <p:cNvPr id="58" name="Text 56"/>
          <p:cNvSpPr txBox="1"/>
          <p:nvPr/>
        </p:nvSpPr>
        <p:spPr>
          <a:xfrm>
            <a:off x="2413578" y="4967344"/>
            <a:ext cx="1051560" cy="233979"/>
          </a:xfrm>
          <a:prstGeom prst="rect">
            <a:avLst/>
          </a:prstGeom>
          <a:noFill/>
          <a:ln/>
        </p:spPr>
        <p:txBody>
          <a:bodyPr wrap="square" lIns="0" tIns="0" rIns="0" bIns="0" rtlCol="0" anchor="ctr"/>
          <a:lstStyle/>
          <a:p>
            <a:pPr indent="0" marL="0">
              <a:buNone/>
            </a:pPr>
            <a:r>
              <a:rPr lang="en-US" sz="1100" dirty="0">
                <a:solidFill>
                  <a:schemeClr val="tx1"/>
                </a:solidFill>
              </a:rPr>
              <a:t>0.0046%</a:t>
            </a:r>
            <a:endParaRPr lang="en-US" sz="1100" dirty="0"/>
          </a:p>
        </p:txBody>
      </p:sp>
      <p:sp>
        <p:nvSpPr>
          <p:cNvPr id="59" name="Text 57"/>
          <p:cNvSpPr txBox="1"/>
          <p:nvPr/>
        </p:nvSpPr>
        <p:spPr>
          <a:xfrm>
            <a:off x="548640" y="5201322"/>
            <a:ext cx="1005840" cy="233979"/>
          </a:xfrm>
          <a:prstGeom prst="rect">
            <a:avLst/>
          </a:prstGeom>
          <a:noFill/>
          <a:ln/>
        </p:spPr>
        <p:txBody>
          <a:bodyPr wrap="square" lIns="0" tIns="0" rIns="0" bIns="0" rtlCol="0" anchor="ctr"/>
          <a:lstStyle/>
          <a:p>
            <a:pPr algn="r" indent="0" marL="0">
              <a:buNone/>
            </a:pPr>
            <a:r>
              <a:rPr lang="en-US" sz="1200" dirty="0">
                <a:solidFill>
                  <a:schemeClr val="tx1"/>
                </a:solidFill>
              </a:rPr>
              <a:t>Hausa</a:t>
            </a:r>
            <a:endParaRPr lang="en-US" sz="1200" dirty="0"/>
          </a:p>
        </p:txBody>
      </p:sp>
      <p:sp>
        <p:nvSpPr>
          <p:cNvPr id="60" name="Shape 58"/>
          <p:cNvSpPr/>
          <p:nvPr/>
        </p:nvSpPr>
        <p:spPr>
          <a:xfrm>
            <a:off x="1664208" y="5241099"/>
            <a:ext cx="499977" cy="154426"/>
          </a:xfrm>
          <a:prstGeom prst="rect">
            <a:avLst/>
          </a:prstGeom>
          <a:solidFill>
            <a:schemeClr val="accent1"/>
          </a:solidFill>
          <a:ln/>
        </p:spPr>
      </p:sp>
      <p:sp>
        <p:nvSpPr>
          <p:cNvPr id="61" name="Text 59"/>
          <p:cNvSpPr txBox="1"/>
          <p:nvPr/>
        </p:nvSpPr>
        <p:spPr>
          <a:xfrm>
            <a:off x="2219049" y="5201322"/>
            <a:ext cx="1051560" cy="233979"/>
          </a:xfrm>
          <a:prstGeom prst="rect">
            <a:avLst/>
          </a:prstGeom>
          <a:noFill/>
          <a:ln/>
        </p:spPr>
        <p:txBody>
          <a:bodyPr wrap="square" lIns="0" tIns="0" rIns="0" bIns="0" rtlCol="0" anchor="ctr"/>
          <a:lstStyle/>
          <a:p>
            <a:pPr indent="0" marL="0">
              <a:buNone/>
            </a:pPr>
            <a:r>
              <a:rPr lang="en-US" sz="1100" dirty="0">
                <a:solidFill>
                  <a:schemeClr val="tx1"/>
                </a:solidFill>
              </a:rPr>
              <a:t>0.003%</a:t>
            </a:r>
            <a:endParaRPr lang="en-US" sz="1100" dirty="0"/>
          </a:p>
        </p:txBody>
      </p:sp>
      <p:sp>
        <p:nvSpPr>
          <p:cNvPr id="62" name="Text 60"/>
          <p:cNvSpPr txBox="1"/>
          <p:nvPr/>
        </p:nvSpPr>
        <p:spPr>
          <a:xfrm>
            <a:off x="548640" y="5435301"/>
            <a:ext cx="1005840" cy="233979"/>
          </a:xfrm>
          <a:prstGeom prst="rect">
            <a:avLst/>
          </a:prstGeom>
          <a:noFill/>
          <a:ln/>
        </p:spPr>
        <p:txBody>
          <a:bodyPr wrap="square" lIns="0" tIns="0" rIns="0" bIns="0" rtlCol="0" anchor="ctr"/>
          <a:lstStyle/>
          <a:p>
            <a:pPr algn="r" indent="0" marL="0">
              <a:buNone/>
            </a:pPr>
            <a:r>
              <a:rPr lang="en-US" sz="1200" dirty="0">
                <a:solidFill>
                  <a:schemeClr val="tx1"/>
                </a:solidFill>
              </a:rPr>
              <a:t>Yoruba</a:t>
            </a:r>
            <a:endParaRPr lang="en-US" sz="1200" dirty="0"/>
          </a:p>
        </p:txBody>
      </p:sp>
      <p:sp>
        <p:nvSpPr>
          <p:cNvPr id="63" name="Shape 61"/>
          <p:cNvSpPr/>
          <p:nvPr/>
        </p:nvSpPr>
        <p:spPr>
          <a:xfrm>
            <a:off x="1664208" y="5475078"/>
            <a:ext cx="241488" cy="154426"/>
          </a:xfrm>
          <a:prstGeom prst="rect">
            <a:avLst/>
          </a:prstGeom>
          <a:solidFill>
            <a:schemeClr val="accent1"/>
          </a:solidFill>
          <a:ln/>
        </p:spPr>
      </p:sp>
      <p:sp>
        <p:nvSpPr>
          <p:cNvPr id="64" name="Text 62"/>
          <p:cNvSpPr txBox="1"/>
          <p:nvPr/>
        </p:nvSpPr>
        <p:spPr>
          <a:xfrm>
            <a:off x="1960560" y="5435301"/>
            <a:ext cx="1051560" cy="233979"/>
          </a:xfrm>
          <a:prstGeom prst="rect">
            <a:avLst/>
          </a:prstGeom>
          <a:noFill/>
          <a:ln/>
        </p:spPr>
        <p:txBody>
          <a:bodyPr wrap="square" lIns="0" tIns="0" rIns="0" bIns="0" rtlCol="0" anchor="ctr"/>
          <a:lstStyle/>
          <a:p>
            <a:pPr indent="0" marL="0">
              <a:buNone/>
            </a:pPr>
            <a:r>
              <a:rPr lang="en-US" sz="1100" dirty="0">
                <a:solidFill>
                  <a:schemeClr val="tx1"/>
                </a:solidFill>
              </a:rPr>
              <a:t>0.0017%</a:t>
            </a:r>
            <a:endParaRPr lang="en-US" sz="1100" dirty="0"/>
          </a:p>
        </p:txBody>
      </p:sp>
      <p:sp>
        <p:nvSpPr>
          <p:cNvPr id="65" name="card"/>
          <p:cNvSpPr/>
          <p:nvPr/>
        </p:nvSpPr>
        <p:spPr>
          <a:xfrm>
            <a:off x="7909560" y="1371600"/>
            <a:ext cx="3733495" cy="1417320"/>
          </a:xfrm>
          <a:prstGeom prst="roundRect">
            <a:avLst>
              <a:gd name="adj" fmla="val 5161"/>
            </a:avLst>
          </a:prstGeom>
          <a:solidFill>
            <a:schemeClr val="tx1"/>
          </a:solidFill>
          <a:ln/>
        </p:spPr>
      </p:sp>
      <p:sp>
        <p:nvSpPr>
          <p:cNvPr id="66" name="Text 64"/>
          <p:cNvSpPr txBox="1"/>
          <p:nvPr/>
        </p:nvSpPr>
        <p:spPr>
          <a:xfrm>
            <a:off x="8183880" y="1444752"/>
            <a:ext cx="3184855" cy="502920"/>
          </a:xfrm>
          <a:prstGeom prst="rect">
            <a:avLst/>
          </a:prstGeom>
          <a:noFill/>
          <a:ln/>
        </p:spPr>
        <p:txBody>
          <a:bodyPr wrap="square" lIns="0" tIns="0" rIns="0" bIns="0" rtlCol="0" anchor="b"/>
          <a:lstStyle/>
          <a:p>
            <a:pPr indent="0" marL="0">
              <a:buNone/>
            </a:pPr>
            <a:r>
              <a:rPr lang="en-US" sz="2200" b="1" dirty="0">
                <a:solidFill>
                  <a:srgbClr val="F08A7C"/>
                </a:solidFill>
                <a:latin typeface="Cambria" pitchFamily="34" charset="0"/>
                <a:ea typeface="Cambria" pitchFamily="34" charset="-122"/>
                <a:cs typeface="Cambria" pitchFamily="34" charset="-120"/>
              </a:rPr>
              <a:t>≈ 25,000 : 1</a:t>
            </a:r>
            <a:endParaRPr lang="en-US" sz="2200" dirty="0"/>
          </a:p>
        </p:txBody>
      </p:sp>
      <p:sp>
        <p:nvSpPr>
          <p:cNvPr id="67" name="Text 65"/>
          <p:cNvSpPr txBox="1"/>
          <p:nvPr/>
        </p:nvSpPr>
        <p:spPr>
          <a:xfrm>
            <a:off x="8183880" y="1993392"/>
            <a:ext cx="3184855" cy="566928"/>
          </a:xfrm>
          <a:prstGeom prst="rect">
            <a:avLst/>
          </a:prstGeom>
          <a:noFill/>
          <a:ln/>
        </p:spPr>
        <p:txBody>
          <a:bodyPr wrap="square" lIns="0" tIns="0" rIns="0" bIns="0" rtlCol="0" anchor="t"/>
          <a:lstStyle/>
          <a:p>
            <a:pPr indent="0" marL="0">
              <a:buNone/>
            </a:pPr>
            <a:r>
              <a:rPr lang="en-US" sz="1300" dirty="0">
                <a:solidFill>
                  <a:schemeClr val="bg1"/>
                </a:solidFill>
              </a:rPr>
              <a:t>English pages for every Yoruba page</a:t>
            </a:r>
            <a:endParaRPr lang="en-US" sz="1300" dirty="0"/>
          </a:p>
        </p:txBody>
      </p:sp>
      <p:sp>
        <p:nvSpPr>
          <p:cNvPr id="68" name="Text 66"/>
          <p:cNvSpPr txBox="1"/>
          <p:nvPr/>
        </p:nvSpPr>
        <p:spPr>
          <a:xfrm>
            <a:off x="8183880" y="2560320"/>
            <a:ext cx="3184855" cy="256032"/>
          </a:xfrm>
          <a:prstGeom prst="rect">
            <a:avLst/>
          </a:prstGeom>
          <a:noFill/>
          <a:ln/>
        </p:spPr>
        <p:txBody>
          <a:bodyPr wrap="square" lIns="0" tIns="0" rIns="0" bIns="0" rtlCol="0" anchor="t"/>
          <a:lstStyle/>
          <a:p>
            <a:pPr indent="0" marL="0">
              <a:buNone/>
            </a:pPr>
            <a:r>
              <a:rPr lang="en-US" sz="950" dirty="0">
                <a:solidFill>
                  <a:srgbClr val="AEB6C6"/>
                </a:solidFill>
              </a:rPr>
              <a:t>Common Crawl, CC-MAIN-2026-39</a:t>
            </a:r>
            <a:endParaRPr lang="en-US" sz="950" dirty="0"/>
          </a:p>
        </p:txBody>
      </p:sp>
      <p:sp>
        <p:nvSpPr>
          <p:cNvPr id="69" name="card"/>
          <p:cNvSpPr/>
          <p:nvPr/>
        </p:nvSpPr>
        <p:spPr>
          <a:xfrm>
            <a:off x="7909560" y="2944368"/>
            <a:ext cx="3733495" cy="1417320"/>
          </a:xfrm>
          <a:prstGeom prst="roundRect">
            <a:avLst>
              <a:gd name="adj" fmla="val 5161"/>
            </a:avLst>
          </a:prstGeom>
          <a:solidFill>
            <a:schemeClr val="bg2"/>
          </a:solidFill>
          <a:ln/>
        </p:spPr>
      </p:sp>
      <p:sp>
        <p:nvSpPr>
          <p:cNvPr id="70" name="Text 68"/>
          <p:cNvSpPr txBox="1"/>
          <p:nvPr/>
        </p:nvSpPr>
        <p:spPr>
          <a:xfrm>
            <a:off x="8183880" y="3017520"/>
            <a:ext cx="3184855" cy="502920"/>
          </a:xfrm>
          <a:prstGeom prst="rect">
            <a:avLst/>
          </a:prstGeom>
          <a:noFill/>
          <a:ln/>
        </p:spPr>
        <p:txBody>
          <a:bodyPr wrap="square" lIns="0" tIns="0" rIns="0" bIns="0" rtlCol="0" anchor="b"/>
          <a:lstStyle/>
          <a:p>
            <a:pPr indent="0" marL="0">
              <a:buNone/>
            </a:pPr>
            <a:r>
              <a:rPr lang="en-US" sz="2800" b="1" dirty="0">
                <a:solidFill>
                  <a:schemeClr val="accent1"/>
                </a:solidFill>
                <a:latin typeface="Cambria" pitchFamily="34" charset="0"/>
                <a:ea typeface="Cambria" pitchFamily="34" charset="-122"/>
                <a:cs typeface="Cambria" pitchFamily="34" charset="-120"/>
              </a:rPr>
              <a:t>49.5%</a:t>
            </a:r>
            <a:endParaRPr lang="en-US" sz="2800" dirty="0"/>
          </a:p>
        </p:txBody>
      </p:sp>
      <p:sp>
        <p:nvSpPr>
          <p:cNvPr id="71" name="Text 69"/>
          <p:cNvSpPr txBox="1"/>
          <p:nvPr/>
        </p:nvSpPr>
        <p:spPr>
          <a:xfrm>
            <a:off x="8183880" y="3566160"/>
            <a:ext cx="3184855" cy="566928"/>
          </a:xfrm>
          <a:prstGeom prst="rect">
            <a:avLst/>
          </a:prstGeom>
          <a:noFill/>
          <a:ln/>
        </p:spPr>
        <p:txBody>
          <a:bodyPr wrap="square" lIns="0" tIns="0" rIns="0" bIns="0" rtlCol="0" anchor="t"/>
          <a:lstStyle/>
          <a:p>
            <a:pPr indent="0" marL="0">
              <a:buNone/>
            </a:pPr>
            <a:r>
              <a:rPr lang="en-US" sz="1300" dirty="0">
                <a:solidFill>
                  <a:schemeClr val="tx1"/>
                </a:solidFill>
              </a:rPr>
              <a:t>of websites are in English; Hindi, Swahili and Yoruba are each under 0.1%</a:t>
            </a:r>
            <a:endParaRPr lang="en-US" sz="1300" dirty="0"/>
          </a:p>
        </p:txBody>
      </p:sp>
      <p:sp>
        <p:nvSpPr>
          <p:cNvPr id="72" name="Text 70"/>
          <p:cNvSpPr txBox="1"/>
          <p:nvPr/>
        </p:nvSpPr>
        <p:spPr>
          <a:xfrm>
            <a:off x="8183880" y="4133088"/>
            <a:ext cx="3184855" cy="256032"/>
          </a:xfrm>
          <a:prstGeom prst="rect">
            <a:avLst/>
          </a:prstGeom>
          <a:noFill/>
          <a:ln/>
        </p:spPr>
        <p:txBody>
          <a:bodyPr wrap="square" lIns="0" tIns="0" rIns="0" bIns="0" rtlCol="0" anchor="t"/>
          <a:lstStyle/>
          <a:p>
            <a:pPr indent="0" marL="0">
              <a:buNone/>
            </a:pPr>
            <a:r>
              <a:rPr lang="en-US" sz="950" dirty="0">
                <a:solidFill>
                  <a:schemeClr val="accent3"/>
                </a:solidFill>
              </a:rPr>
              <a:t>W3Techs, Oct 2026</a:t>
            </a:r>
            <a:endParaRPr lang="en-US" sz="950" dirty="0"/>
          </a:p>
        </p:txBody>
      </p:sp>
      <p:sp>
        <p:nvSpPr>
          <p:cNvPr id="73" name="card"/>
          <p:cNvSpPr/>
          <p:nvPr/>
        </p:nvSpPr>
        <p:spPr>
          <a:xfrm>
            <a:off x="7909560" y="4517136"/>
            <a:ext cx="3733495" cy="1417320"/>
          </a:xfrm>
          <a:prstGeom prst="roundRect">
            <a:avLst>
              <a:gd name="adj" fmla="val 5161"/>
            </a:avLst>
          </a:prstGeom>
          <a:solidFill>
            <a:schemeClr val="bg2"/>
          </a:solidFill>
          <a:ln/>
        </p:spPr>
      </p:sp>
      <p:sp>
        <p:nvSpPr>
          <p:cNvPr id="74" name="Text 72"/>
          <p:cNvSpPr txBox="1"/>
          <p:nvPr/>
        </p:nvSpPr>
        <p:spPr>
          <a:xfrm>
            <a:off x="8183880" y="4590288"/>
            <a:ext cx="3184855" cy="502920"/>
          </a:xfrm>
          <a:prstGeom prst="rect">
            <a:avLst/>
          </a:prstGeom>
          <a:noFill/>
          <a:ln/>
        </p:spPr>
        <p:txBody>
          <a:bodyPr wrap="square" lIns="0" tIns="0" rIns="0" bIns="0" rtlCol="0" anchor="b"/>
          <a:lstStyle/>
          <a:p>
            <a:pPr indent="0" marL="0">
              <a:buNone/>
            </a:pPr>
            <a:r>
              <a:rPr lang="en-US" sz="2200" b="1" dirty="0">
                <a:solidFill>
                  <a:schemeClr val="accent1"/>
                </a:solidFill>
                <a:latin typeface="Cambria" pitchFamily="34" charset="0"/>
                <a:ea typeface="Cambria" pitchFamily="34" charset="-122"/>
                <a:cs typeface="Cambria" pitchFamily="34" charset="-120"/>
              </a:rPr>
              <a:t>21.5 bn vs 3.6 bn</a:t>
            </a:r>
            <a:endParaRPr lang="en-US" sz="2200" dirty="0"/>
          </a:p>
        </p:txBody>
      </p:sp>
      <p:sp>
        <p:nvSpPr>
          <p:cNvPr id="75" name="Text 73"/>
          <p:cNvSpPr txBox="1"/>
          <p:nvPr/>
        </p:nvSpPr>
        <p:spPr>
          <a:xfrm>
            <a:off x="8183880" y="5138928"/>
            <a:ext cx="3184855" cy="566928"/>
          </a:xfrm>
          <a:prstGeom prst="rect">
            <a:avLst/>
          </a:prstGeom>
          <a:noFill/>
          <a:ln/>
        </p:spPr>
        <p:txBody>
          <a:bodyPr wrap="square" lIns="0" tIns="0" rIns="0" bIns="0" rtlCol="0" anchor="t"/>
          <a:lstStyle/>
          <a:p>
            <a:pPr indent="0" marL="0">
              <a:buNone/>
            </a:pPr>
            <a:r>
              <a:rPr lang="en-US" sz="1300" dirty="0">
                <a:solidFill>
                  <a:schemeClr val="tx1"/>
                </a:solidFill>
              </a:rPr>
              <a:t>clean training sentences: English alone vs ~150 low-resource languages combined</a:t>
            </a:r>
            <a:endParaRPr lang="en-US" sz="1300" dirty="0"/>
          </a:p>
        </p:txBody>
      </p:sp>
      <p:sp>
        <p:nvSpPr>
          <p:cNvPr id="76" name="Text 74"/>
          <p:cNvSpPr txBox="1"/>
          <p:nvPr/>
        </p:nvSpPr>
        <p:spPr>
          <a:xfrm>
            <a:off x="8183880" y="5705856"/>
            <a:ext cx="3184855" cy="256032"/>
          </a:xfrm>
          <a:prstGeom prst="rect">
            <a:avLst/>
          </a:prstGeom>
          <a:noFill/>
          <a:ln/>
        </p:spPr>
        <p:txBody>
          <a:bodyPr wrap="square" lIns="0" tIns="0" rIns="0" bIns="0" rtlCol="0" anchor="t"/>
          <a:lstStyle/>
          <a:p>
            <a:pPr indent="0" marL="0">
              <a:buNone/>
            </a:pPr>
            <a:r>
              <a:rPr lang="en-US" sz="950" dirty="0">
                <a:solidFill>
                  <a:schemeClr val="accent3"/>
                </a:solidFill>
              </a:rPr>
              <a:t>Meta NLLB, 2022</a:t>
            </a:r>
            <a:endParaRPr lang="en-US" sz="95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Same tool, same instructions, seven languages</a:t>
            </a:r>
            <a:endParaRPr lang="en-US" sz="3200" dirty="0"/>
          </a:p>
        </p:txBody>
      </p:sp>
      <p:graphicFrame>
        <p:nvGraphicFramePr>
          <p:cNvPr id="3" name="Chart 0" descr=""/>
          <p:cNvGraphicFramePr/>
          <p:nvPr/>
        </p:nvGraphicFramePr>
        <p:xfrm>
          <a:off x="548640" y="1280160"/>
          <a:ext cx="6309360" cy="475488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178040" y="1371600"/>
            <a:ext cx="4465015" cy="1325880"/>
          </a:xfrm>
          <a:prstGeom prst="roundRect">
            <a:avLst>
              <a:gd name="adj" fmla="val 5517"/>
            </a:avLst>
          </a:prstGeom>
          <a:solidFill>
            <a:schemeClr val="bg2"/>
          </a:solidFill>
          <a:ln/>
        </p:spPr>
      </p:sp>
      <p:sp>
        <p:nvSpPr>
          <p:cNvPr id="5" name="Text 2"/>
          <p:cNvSpPr txBox="1"/>
          <p:nvPr/>
        </p:nvSpPr>
        <p:spPr>
          <a:xfrm>
            <a:off x="7452360" y="1481328"/>
            <a:ext cx="3916375" cy="896112"/>
          </a:xfrm>
          <a:prstGeom prst="rect">
            <a:avLst/>
          </a:prstGeom>
          <a:noFill/>
          <a:ln/>
        </p:spPr>
        <p:txBody>
          <a:bodyPr wrap="square" lIns="0" tIns="0" rIns="0" bIns="0" rtlCol="0" anchor="t"/>
          <a:lstStyle/>
          <a:p>
            <a:pPr indent="0" marL="0">
              <a:buNone/>
            </a:pPr>
            <a:r>
              <a:rPr lang="en-US" sz="1350" dirty="0">
                <a:solidFill>
                  <a:schemeClr val="tx1"/>
                </a:solidFill>
              </a:rPr>
              <a:t>“You can take ibuprofen as needed for pain”</a:t>
            </a:r>
            <a:endParaRPr lang="en-US" sz="1350" dirty="0"/>
          </a:p>
          <a:p>
            <a:pPr indent="0" marL="0">
              <a:buNone/>
            </a:pPr>
            <a:r>
              <a:rPr lang="en-US" sz="1350" b="1" dirty="0">
                <a:solidFill>
                  <a:schemeClr val="accent1"/>
                </a:solidFill>
              </a:rPr>
              <a:t>→ “You may take anti-tank missile as much as you need for pain”</a:t>
            </a:r>
            <a:endParaRPr lang="en-US" sz="1350" dirty="0"/>
          </a:p>
        </p:txBody>
      </p:sp>
      <p:sp>
        <p:nvSpPr>
          <p:cNvPr id="6" name="Text 3"/>
          <p:cNvSpPr txBox="1"/>
          <p:nvPr/>
        </p:nvSpPr>
        <p:spPr>
          <a:xfrm>
            <a:off x="7452360" y="2377440"/>
            <a:ext cx="3916375" cy="256032"/>
          </a:xfrm>
          <a:prstGeom prst="rect">
            <a:avLst/>
          </a:prstGeom>
          <a:noFill/>
          <a:ln/>
        </p:spPr>
        <p:txBody>
          <a:bodyPr wrap="square" lIns="0" tIns="0" rIns="0" bIns="0" rtlCol="0" anchor="t"/>
          <a:lstStyle/>
          <a:p>
            <a:pPr indent="0" marL="0">
              <a:buNone/>
            </a:pPr>
            <a:r>
              <a:rPr lang="en-US" sz="1100" dirty="0">
                <a:solidFill>
                  <a:schemeClr val="accent3"/>
                </a:solidFill>
              </a:rPr>
              <a:t>Armenian</a:t>
            </a:r>
            <a:endParaRPr lang="en-US" sz="1100" dirty="0"/>
          </a:p>
        </p:txBody>
      </p:sp>
      <p:sp>
        <p:nvSpPr>
          <p:cNvPr id="7" name="card"/>
          <p:cNvSpPr/>
          <p:nvPr/>
        </p:nvSpPr>
        <p:spPr>
          <a:xfrm>
            <a:off x="7178040" y="2852928"/>
            <a:ext cx="4465015" cy="1325880"/>
          </a:xfrm>
          <a:prstGeom prst="roundRect">
            <a:avLst>
              <a:gd name="adj" fmla="val 5517"/>
            </a:avLst>
          </a:prstGeom>
          <a:solidFill>
            <a:schemeClr val="bg2"/>
          </a:solidFill>
          <a:ln/>
        </p:spPr>
      </p:sp>
      <p:sp>
        <p:nvSpPr>
          <p:cNvPr id="8" name="Text 5"/>
          <p:cNvSpPr txBox="1"/>
          <p:nvPr/>
        </p:nvSpPr>
        <p:spPr>
          <a:xfrm>
            <a:off x="7452360" y="2962656"/>
            <a:ext cx="3916375" cy="896112"/>
          </a:xfrm>
          <a:prstGeom prst="rect">
            <a:avLst/>
          </a:prstGeom>
          <a:noFill/>
          <a:ln/>
        </p:spPr>
        <p:txBody>
          <a:bodyPr wrap="square" lIns="0" tIns="0" rIns="0" bIns="0" rtlCol="0" anchor="t"/>
          <a:lstStyle/>
          <a:p>
            <a:pPr indent="0" marL="0">
              <a:buNone/>
            </a:pPr>
            <a:r>
              <a:rPr lang="en-US" sz="1350" dirty="0">
                <a:solidFill>
                  <a:schemeClr val="tx1"/>
                </a:solidFill>
              </a:rPr>
              <a:t>“Your Coumadin level was too high today”</a:t>
            </a:r>
            <a:endParaRPr lang="en-US" sz="1350" dirty="0"/>
          </a:p>
          <a:p>
            <a:pPr indent="0" marL="0">
              <a:buNone/>
            </a:pPr>
            <a:r>
              <a:rPr lang="en-US" sz="1350" b="1" dirty="0">
                <a:solidFill>
                  <a:schemeClr val="accent1"/>
                </a:solidFill>
              </a:rPr>
              <a:t>→ “Your soybean level was too high today”</a:t>
            </a:r>
            <a:endParaRPr lang="en-US" sz="1350" dirty="0"/>
          </a:p>
        </p:txBody>
      </p:sp>
      <p:sp>
        <p:nvSpPr>
          <p:cNvPr id="9" name="Text 6"/>
          <p:cNvSpPr txBox="1"/>
          <p:nvPr/>
        </p:nvSpPr>
        <p:spPr>
          <a:xfrm>
            <a:off x="7452360" y="3858768"/>
            <a:ext cx="3916375" cy="256032"/>
          </a:xfrm>
          <a:prstGeom prst="rect">
            <a:avLst/>
          </a:prstGeom>
          <a:noFill/>
          <a:ln/>
        </p:spPr>
        <p:txBody>
          <a:bodyPr wrap="square" lIns="0" tIns="0" rIns="0" bIns="0" rtlCol="0" anchor="t"/>
          <a:lstStyle/>
          <a:p>
            <a:pPr indent="0" marL="0">
              <a:buNone/>
            </a:pPr>
            <a:r>
              <a:rPr lang="en-US" sz="1100" dirty="0">
                <a:solidFill>
                  <a:schemeClr val="accent3"/>
                </a:solidFill>
              </a:rPr>
              <a:t>Chinese (Coumadin is a blood thinner)</a:t>
            </a:r>
            <a:endParaRPr lang="en-US" sz="1100" dirty="0"/>
          </a:p>
        </p:txBody>
      </p:sp>
      <p:sp>
        <p:nvSpPr>
          <p:cNvPr id="10" name="card"/>
          <p:cNvSpPr/>
          <p:nvPr/>
        </p:nvSpPr>
        <p:spPr>
          <a:xfrm>
            <a:off x="7178040" y="4407408"/>
            <a:ext cx="4465015" cy="1627632"/>
          </a:xfrm>
          <a:prstGeom prst="roundRect">
            <a:avLst>
              <a:gd name="adj" fmla="val 4494"/>
            </a:avLst>
          </a:prstGeom>
          <a:solidFill>
            <a:schemeClr val="tx1"/>
          </a:solidFill>
          <a:ln/>
        </p:spPr>
      </p:sp>
      <p:sp>
        <p:nvSpPr>
          <p:cNvPr id="11" name="Text 8"/>
          <p:cNvSpPr txBox="1"/>
          <p:nvPr/>
        </p:nvSpPr>
        <p:spPr>
          <a:xfrm>
            <a:off x="7452360" y="4498848"/>
            <a:ext cx="3916375" cy="1463040"/>
          </a:xfrm>
          <a:prstGeom prst="rect">
            <a:avLst/>
          </a:prstGeom>
          <a:noFill/>
          <a:ln/>
        </p:spPr>
        <p:txBody>
          <a:bodyPr wrap="square" lIns="0" tIns="0" rIns="0" bIns="0" rtlCol="0" anchor="t"/>
          <a:lstStyle/>
          <a:p>
            <a:pPr indent="0" marL="0">
              <a:buNone/>
            </a:pPr>
            <a:r>
              <a:rPr lang="en-US" sz="1400" b="1" dirty="0">
                <a:solidFill>
                  <a:srgbClr val="F08A7C"/>
                </a:solidFill>
              </a:rPr>
              <a:t>2025, a hospital's AI translator </a:t>
            </a:r>
            <a:endParaRPr lang="en-US" sz="1400" dirty="0"/>
          </a:p>
          <a:p>
            <a:pPr indent="0" marL="0">
              <a:buNone/>
            </a:pPr>
            <a:r>
              <a:rPr lang="en-US" sz="1400" dirty="0">
                <a:solidFill>
                  <a:schemeClr val="bg1"/>
                </a:solidFill>
              </a:rPr>
              <a:t>Sections with an error that could affect care: Spanish 7% (the same as professionals); Somali 92% (professionals 13%).</a:t>
            </a:r>
            <a:endParaRPr lang="en-US" sz="1400" dirty="0"/>
          </a:p>
        </p:txBody>
      </p:sp>
      <p:sp>
        <p:nvSpPr>
          <p:cNvPr id="12" name="Text 9"/>
          <p:cNvSpPr txBox="1"/>
          <p:nvPr/>
        </p:nvSpPr>
        <p:spPr>
          <a:xfrm>
            <a:off x="548640" y="6053328"/>
            <a:ext cx="10271455" cy="256032"/>
          </a:xfrm>
          <a:prstGeom prst="rect">
            <a:avLst/>
          </a:prstGeom>
          <a:noFill/>
          <a:ln/>
        </p:spPr>
        <p:txBody>
          <a:bodyPr wrap="square" lIns="0" tIns="0" rIns="0" bIns="0" rtlCol="0" anchor="t"/>
          <a:lstStyle/>
          <a:p>
            <a:pPr indent="0" marL="0">
              <a:buNone/>
            </a:pPr>
            <a:r>
              <a:rPr lang="en-US" sz="950" dirty="0">
                <a:solidFill>
                  <a:schemeClr val="accent3"/>
                </a:solidFill>
              </a:rPr>
              <a:t>Taira et al., J Gen Intern Med 2021 · Martos et al., JAMA Network Open 2025</a:t>
            </a:r>
            <a:endParaRPr lang="en-US" sz="95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Reading depends on the script, and on the model</a:t>
            </a:r>
            <a:endParaRPr lang="en-US" sz="3200" dirty="0"/>
          </a:p>
        </p:txBody>
      </p:sp>
      <p:graphicFrame>
        <p:nvGraphicFramePr>
          <p:cNvPr id="3" name="Chart 0" descr=""/>
          <p:cNvGraphicFramePr/>
          <p:nvPr/>
        </p:nvGraphicFramePr>
        <p:xfrm>
          <a:off x="548640" y="1280160"/>
          <a:ext cx="7406640" cy="480060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8229600" y="1371600"/>
            <a:ext cx="3413455" cy="1417320"/>
          </a:xfrm>
          <a:prstGeom prst="roundRect">
            <a:avLst>
              <a:gd name="adj" fmla="val 5161"/>
            </a:avLst>
          </a:prstGeom>
          <a:solidFill>
            <a:schemeClr val="tx1"/>
          </a:solidFill>
          <a:ln/>
        </p:spPr>
      </p:sp>
      <p:sp>
        <p:nvSpPr>
          <p:cNvPr id="5" name="Text 2"/>
          <p:cNvSpPr txBox="1"/>
          <p:nvPr/>
        </p:nvSpPr>
        <p:spPr>
          <a:xfrm>
            <a:off x="8458200" y="1444752"/>
            <a:ext cx="2956255" cy="502920"/>
          </a:xfrm>
          <a:prstGeom prst="rect">
            <a:avLst/>
          </a:prstGeom>
          <a:noFill/>
          <a:ln/>
        </p:spPr>
        <p:txBody>
          <a:bodyPr wrap="square" lIns="0" tIns="0" rIns="0" bIns="0" rtlCol="0" anchor="b"/>
          <a:lstStyle/>
          <a:p>
            <a:pPr indent="0" marL="0">
              <a:buNone/>
            </a:pPr>
            <a:r>
              <a:rPr lang="en-US" sz="2600" b="1" dirty="0">
                <a:solidFill>
                  <a:srgbClr val="F08A7C"/>
                </a:solidFill>
                <a:latin typeface="Cambria" pitchFamily="34" charset="0"/>
                <a:ea typeface="Cambria" pitchFamily="34" charset="-122"/>
                <a:cs typeface="Cambria" pitchFamily="34" charset="-120"/>
              </a:rPr>
              <a:t>95% → 8%</a:t>
            </a:r>
            <a:endParaRPr lang="en-US" sz="2600" dirty="0"/>
          </a:p>
        </p:txBody>
      </p:sp>
      <p:sp>
        <p:nvSpPr>
          <p:cNvPr id="6" name="Text 3"/>
          <p:cNvSpPr txBox="1"/>
          <p:nvPr/>
        </p:nvSpPr>
        <p:spPr>
          <a:xfrm>
            <a:off x="8458200" y="1993392"/>
            <a:ext cx="2956255" cy="777240"/>
          </a:xfrm>
          <a:prstGeom prst="rect">
            <a:avLst/>
          </a:prstGeom>
          <a:noFill/>
          <a:ln/>
        </p:spPr>
        <p:txBody>
          <a:bodyPr wrap="square" lIns="0" tIns="0" rIns="0" bIns="0" rtlCol="0" anchor="t"/>
          <a:lstStyle/>
          <a:p>
            <a:pPr indent="0" marL="0">
              <a:buNone/>
            </a:pPr>
            <a:r>
              <a:rPr lang="en-US" sz="1300" dirty="0">
                <a:solidFill>
                  <a:schemeClr val="bg1"/>
                </a:solidFill>
              </a:rPr>
              <a:t>best model: Latin script vs the average over 148 rarer scripts</a:t>
            </a:r>
            <a:endParaRPr lang="en-US" sz="1300" dirty="0"/>
          </a:p>
        </p:txBody>
      </p:sp>
      <p:sp>
        <p:nvSpPr>
          <p:cNvPr id="7" name="card"/>
          <p:cNvSpPr/>
          <p:nvPr/>
        </p:nvSpPr>
        <p:spPr>
          <a:xfrm>
            <a:off x="8229600" y="2944368"/>
            <a:ext cx="3413455" cy="1417320"/>
          </a:xfrm>
          <a:prstGeom prst="roundRect">
            <a:avLst>
              <a:gd name="adj" fmla="val 5161"/>
            </a:avLst>
          </a:prstGeom>
          <a:solidFill>
            <a:schemeClr val="bg2"/>
          </a:solidFill>
          <a:ln/>
        </p:spPr>
      </p:sp>
      <p:sp>
        <p:nvSpPr>
          <p:cNvPr id="8" name="Text 5"/>
          <p:cNvSpPr txBox="1"/>
          <p:nvPr/>
        </p:nvSpPr>
        <p:spPr>
          <a:xfrm>
            <a:off x="8458200" y="3017520"/>
            <a:ext cx="2956255" cy="502920"/>
          </a:xfrm>
          <a:prstGeom prst="rect">
            <a:avLst/>
          </a:prstGeom>
          <a:noFill/>
          <a:ln/>
        </p:spPr>
        <p:txBody>
          <a:bodyPr wrap="square" lIns="0" tIns="0" rIns="0" bIns="0" rtlCol="0" anchor="b"/>
          <a:lstStyle/>
          <a:p>
            <a:pPr indent="0" marL="0">
              <a:buNone/>
            </a:pPr>
            <a:r>
              <a:rPr lang="en-US" sz="2600" b="1" dirty="0">
                <a:solidFill>
                  <a:schemeClr val="accent1"/>
                </a:solidFill>
                <a:latin typeface="Cambria" pitchFamily="34" charset="0"/>
                <a:ea typeface="Cambria" pitchFamily="34" charset="-122"/>
                <a:cs typeface="Cambria" pitchFamily="34" charset="-120"/>
              </a:rPr>
              <a:t>97 vs 1</a:t>
            </a:r>
            <a:endParaRPr lang="en-US" sz="2600" dirty="0"/>
          </a:p>
        </p:txBody>
      </p:sp>
      <p:sp>
        <p:nvSpPr>
          <p:cNvPr id="9" name="Text 6"/>
          <p:cNvSpPr txBox="1"/>
          <p:nvPr/>
        </p:nvSpPr>
        <p:spPr>
          <a:xfrm>
            <a:off x="8458200" y="3566160"/>
            <a:ext cx="2956255" cy="777240"/>
          </a:xfrm>
          <a:prstGeom prst="rect">
            <a:avLst/>
          </a:prstGeom>
          <a:noFill/>
          <a:ln/>
        </p:spPr>
        <p:txBody>
          <a:bodyPr wrap="square" lIns="0" tIns="0" rIns="0" bIns="0" rtlCol="0" anchor="t"/>
          <a:lstStyle/>
          <a:p>
            <a:pPr indent="0" marL="0">
              <a:buNone/>
            </a:pPr>
            <a:r>
              <a:rPr lang="en-US" sz="1300" dirty="0">
                <a:solidFill>
                  <a:schemeClr val="tx1"/>
                </a:solidFill>
              </a:rPr>
              <a:t>Armenian: the choice of model matters as much as the script</a:t>
            </a:r>
            <a:endParaRPr lang="en-US" sz="1300" dirty="0"/>
          </a:p>
        </p:txBody>
      </p:sp>
      <p:sp>
        <p:nvSpPr>
          <p:cNvPr id="10" name="card"/>
          <p:cNvSpPr/>
          <p:nvPr/>
        </p:nvSpPr>
        <p:spPr>
          <a:xfrm>
            <a:off x="8229600" y="4517136"/>
            <a:ext cx="3413455" cy="1417320"/>
          </a:xfrm>
          <a:prstGeom prst="roundRect">
            <a:avLst>
              <a:gd name="adj" fmla="val 5161"/>
            </a:avLst>
          </a:prstGeom>
          <a:solidFill>
            <a:schemeClr val="bg2"/>
          </a:solidFill>
          <a:ln/>
        </p:spPr>
      </p:sp>
      <p:sp>
        <p:nvSpPr>
          <p:cNvPr id="11" name="Text 8"/>
          <p:cNvSpPr txBox="1"/>
          <p:nvPr/>
        </p:nvSpPr>
        <p:spPr>
          <a:xfrm>
            <a:off x="8458200" y="4590288"/>
            <a:ext cx="2956255" cy="502920"/>
          </a:xfrm>
          <a:prstGeom prst="rect">
            <a:avLst/>
          </a:prstGeom>
          <a:noFill/>
          <a:ln/>
        </p:spPr>
        <p:txBody>
          <a:bodyPr wrap="square" lIns="0" tIns="0" rIns="0" bIns="0" rtlCol="0" anchor="b"/>
          <a:lstStyle/>
          <a:p>
            <a:pPr indent="0" marL="0">
              <a:buNone/>
            </a:pPr>
            <a:r>
              <a:rPr lang="en-US" sz="2600" b="1" dirty="0">
                <a:solidFill>
                  <a:schemeClr val="accent1"/>
                </a:solidFill>
                <a:latin typeface="Cambria" pitchFamily="34" charset="0"/>
                <a:ea typeface="Cambria" pitchFamily="34" charset="-122"/>
                <a:cs typeface="Cambria" pitchFamily="34" charset="-120"/>
              </a:rPr>
              <a:t>−18%</a:t>
            </a:r>
            <a:endParaRPr lang="en-US" sz="2600" dirty="0"/>
          </a:p>
        </p:txBody>
      </p:sp>
      <p:sp>
        <p:nvSpPr>
          <p:cNvPr id="12" name="Text 9"/>
          <p:cNvSpPr txBox="1"/>
          <p:nvPr/>
        </p:nvSpPr>
        <p:spPr>
          <a:xfrm>
            <a:off x="8458200" y="5138928"/>
            <a:ext cx="2956255" cy="777240"/>
          </a:xfrm>
          <a:prstGeom prst="rect">
            <a:avLst/>
          </a:prstGeom>
          <a:noFill/>
          <a:ln/>
        </p:spPr>
        <p:txBody>
          <a:bodyPr wrap="square" lIns="0" tIns="0" rIns="0" bIns="0" rtlCol="0" anchor="t"/>
          <a:lstStyle/>
          <a:p>
            <a:pPr indent="0" marL="0">
              <a:buNone/>
            </a:pPr>
            <a:r>
              <a:rPr lang="en-US" sz="1300" dirty="0">
                <a:solidFill>
                  <a:schemeClr val="tx1"/>
                </a:solidFill>
              </a:rPr>
              <a:t>photograph a page instead of scanning it (another 2026 test, 17 languages)</a:t>
            </a:r>
            <a:endParaRPr lang="en-US" sz="1300" dirty="0"/>
          </a:p>
        </p:txBody>
      </p:sp>
      <p:sp>
        <p:nvSpPr>
          <p:cNvPr id="13" name="Text 10"/>
          <p:cNvSpPr txBox="1"/>
          <p:nvPr/>
        </p:nvSpPr>
        <p:spPr>
          <a:xfrm>
            <a:off x="548640" y="6053328"/>
            <a:ext cx="10271455" cy="256032"/>
          </a:xfrm>
          <a:prstGeom prst="rect">
            <a:avLst/>
          </a:prstGeom>
          <a:noFill/>
          <a:ln/>
        </p:spPr>
        <p:txBody>
          <a:bodyPr wrap="square" lIns="0" tIns="0" rIns="0" bIns="0" rtlCol="0" anchor="t"/>
          <a:lstStyle/>
          <a:p>
            <a:pPr indent="0" marL="0">
              <a:buNone/>
            </a:pPr>
            <a:r>
              <a:rPr lang="en-US" sz="950" dirty="0">
                <a:solidFill>
                  <a:schemeClr val="accent3"/>
                </a:solidFill>
              </a:rPr>
              <a:t>GlotOCR Bench, Kargaran et al., April 2026 (clean, computer-rendered lines) · MDPBench, March 2026</a:t>
            </a:r>
            <a:endParaRPr lang="en-US" sz="95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When an AI can't read something, it rarely says so</a:t>
            </a:r>
            <a:endParaRPr lang="en-US" sz="3200" dirty="0"/>
          </a:p>
        </p:txBody>
      </p:sp>
      <p:sp>
        <p:nvSpPr>
          <p:cNvPr id="3" name="card"/>
          <p:cNvSpPr/>
          <p:nvPr/>
        </p:nvSpPr>
        <p:spPr>
          <a:xfrm>
            <a:off x="548640" y="1371600"/>
            <a:ext cx="3515258" cy="1920240"/>
          </a:xfrm>
          <a:prstGeom prst="roundRect">
            <a:avLst>
              <a:gd name="adj" fmla="val 3810"/>
            </a:avLst>
          </a:prstGeom>
          <a:solidFill>
            <a:schemeClr val="tx1"/>
          </a:solidFill>
          <a:ln/>
        </p:spPr>
      </p:sp>
      <p:sp>
        <p:nvSpPr>
          <p:cNvPr id="4" name="Text 2"/>
          <p:cNvSpPr txBox="1"/>
          <p:nvPr/>
        </p:nvSpPr>
        <p:spPr>
          <a:xfrm>
            <a:off x="868680" y="1463040"/>
            <a:ext cx="2875178" cy="685800"/>
          </a:xfrm>
          <a:prstGeom prst="rect">
            <a:avLst/>
          </a:prstGeom>
          <a:noFill/>
          <a:ln/>
        </p:spPr>
        <p:txBody>
          <a:bodyPr wrap="square" lIns="0" tIns="0" rIns="0" bIns="0" rtlCol="0" anchor="b"/>
          <a:lstStyle/>
          <a:p>
            <a:pPr indent="0" marL="0">
              <a:buNone/>
            </a:pPr>
            <a:r>
              <a:rPr lang="en-US" sz="4000" b="1" dirty="0">
                <a:solidFill>
                  <a:srgbClr val="F08A7C"/>
                </a:solidFill>
                <a:latin typeface="Cambria" pitchFamily="34" charset="0"/>
                <a:ea typeface="Cambria" pitchFamily="34" charset="-122"/>
                <a:cs typeface="Cambria" pitchFamily="34" charset="-120"/>
              </a:rPr>
              <a:t>68%</a:t>
            </a:r>
            <a:endParaRPr lang="en-US" sz="4000" dirty="0"/>
          </a:p>
        </p:txBody>
      </p:sp>
      <p:sp>
        <p:nvSpPr>
          <p:cNvPr id="5" name="Text 3"/>
          <p:cNvSpPr txBox="1"/>
          <p:nvPr/>
        </p:nvSpPr>
        <p:spPr>
          <a:xfrm>
            <a:off x="868680" y="2194560"/>
            <a:ext cx="2875178" cy="685800"/>
          </a:xfrm>
          <a:prstGeom prst="rect">
            <a:avLst/>
          </a:prstGeom>
          <a:noFill/>
          <a:ln/>
        </p:spPr>
        <p:txBody>
          <a:bodyPr wrap="square" lIns="0" tIns="0" rIns="0" bIns="0" rtlCol="0" anchor="t"/>
          <a:lstStyle/>
          <a:p>
            <a:pPr indent="0" marL="0">
              <a:buNone/>
            </a:pPr>
            <a:r>
              <a:rPr lang="en-US" sz="1400" dirty="0">
                <a:solidFill>
                  <a:schemeClr val="bg1"/>
                </a:solidFill>
              </a:rPr>
              <a:t>of answers on unfamiliar scripts were fluent text in the wrong script</a:t>
            </a:r>
            <a:endParaRPr lang="en-US" sz="1400" dirty="0"/>
          </a:p>
        </p:txBody>
      </p:sp>
      <p:sp>
        <p:nvSpPr>
          <p:cNvPr id="6" name="Text 4"/>
          <p:cNvSpPr txBox="1"/>
          <p:nvPr/>
        </p:nvSpPr>
        <p:spPr>
          <a:xfrm>
            <a:off x="868680" y="2880360"/>
            <a:ext cx="2875178" cy="256032"/>
          </a:xfrm>
          <a:prstGeom prst="rect">
            <a:avLst/>
          </a:prstGeom>
          <a:noFill/>
          <a:ln/>
        </p:spPr>
        <p:txBody>
          <a:bodyPr wrap="square" lIns="0" tIns="0" rIns="0" bIns="0" rtlCol="0" anchor="t"/>
          <a:lstStyle/>
          <a:p>
            <a:pPr indent="0" marL="0">
              <a:buNone/>
            </a:pPr>
            <a:r>
              <a:rPr lang="en-US" sz="950" dirty="0">
                <a:solidFill>
                  <a:srgbClr val="AEB6C6"/>
                </a:solidFill>
              </a:rPr>
              <a:t>GlotOCR Bench, 2026</a:t>
            </a:r>
            <a:endParaRPr lang="en-US" sz="950" dirty="0"/>
          </a:p>
        </p:txBody>
      </p:sp>
      <p:sp>
        <p:nvSpPr>
          <p:cNvPr id="7" name="card"/>
          <p:cNvSpPr/>
          <p:nvPr/>
        </p:nvSpPr>
        <p:spPr>
          <a:xfrm>
            <a:off x="4338218" y="1371600"/>
            <a:ext cx="3515258" cy="1920240"/>
          </a:xfrm>
          <a:prstGeom prst="roundRect">
            <a:avLst>
              <a:gd name="adj" fmla="val 3810"/>
            </a:avLst>
          </a:prstGeom>
          <a:solidFill>
            <a:schemeClr val="bg2"/>
          </a:solidFill>
          <a:ln/>
        </p:spPr>
      </p:sp>
      <p:sp>
        <p:nvSpPr>
          <p:cNvPr id="8" name="Text 6"/>
          <p:cNvSpPr txBox="1"/>
          <p:nvPr/>
        </p:nvSpPr>
        <p:spPr>
          <a:xfrm>
            <a:off x="4658258" y="1463040"/>
            <a:ext cx="2875178" cy="685800"/>
          </a:xfrm>
          <a:prstGeom prst="rect">
            <a:avLst/>
          </a:prstGeom>
          <a:noFill/>
          <a:ln/>
        </p:spPr>
        <p:txBody>
          <a:bodyPr wrap="square" lIns="0" tIns="0" rIns="0" bIns="0" rtlCol="0" anchor="b"/>
          <a:lstStyle/>
          <a:p>
            <a:pPr indent="0" marL="0">
              <a:buNone/>
            </a:pPr>
            <a:r>
              <a:rPr lang="en-US" sz="4000" b="1" dirty="0">
                <a:solidFill>
                  <a:schemeClr val="accent5"/>
                </a:solidFill>
                <a:latin typeface="Cambria" pitchFamily="34" charset="0"/>
                <a:ea typeface="Cambria" pitchFamily="34" charset="-122"/>
                <a:cs typeface="Cambria" pitchFamily="34" charset="-120"/>
              </a:rPr>
              <a:t>6%</a:t>
            </a:r>
            <a:endParaRPr lang="en-US" sz="4000" dirty="0"/>
          </a:p>
        </p:txBody>
      </p:sp>
      <p:sp>
        <p:nvSpPr>
          <p:cNvPr id="9" name="Text 7"/>
          <p:cNvSpPr txBox="1"/>
          <p:nvPr/>
        </p:nvSpPr>
        <p:spPr>
          <a:xfrm>
            <a:off x="4658258" y="2194560"/>
            <a:ext cx="2875178" cy="685800"/>
          </a:xfrm>
          <a:prstGeom prst="rect">
            <a:avLst/>
          </a:prstGeom>
          <a:noFill/>
          <a:ln/>
        </p:spPr>
        <p:txBody>
          <a:bodyPr wrap="square" lIns="0" tIns="0" rIns="0" bIns="0" rtlCol="0" anchor="t"/>
          <a:lstStyle/>
          <a:p>
            <a:pPr indent="0" marL="0">
              <a:buNone/>
            </a:pPr>
            <a:r>
              <a:rPr lang="en-US" sz="1400" dirty="0">
                <a:solidFill>
                  <a:schemeClr val="tx1"/>
                </a:solidFill>
              </a:rPr>
              <a:t>were left blank: the honest answer</a:t>
            </a:r>
            <a:endParaRPr lang="en-US" sz="1400" dirty="0"/>
          </a:p>
        </p:txBody>
      </p:sp>
      <p:sp>
        <p:nvSpPr>
          <p:cNvPr id="10" name="Text 8"/>
          <p:cNvSpPr txBox="1"/>
          <p:nvPr/>
        </p:nvSpPr>
        <p:spPr>
          <a:xfrm>
            <a:off x="4658258" y="2880360"/>
            <a:ext cx="2875178" cy="256032"/>
          </a:xfrm>
          <a:prstGeom prst="rect">
            <a:avLst/>
          </a:prstGeom>
          <a:noFill/>
          <a:ln/>
        </p:spPr>
        <p:txBody>
          <a:bodyPr wrap="square" lIns="0" tIns="0" rIns="0" bIns="0" rtlCol="0" anchor="t"/>
          <a:lstStyle/>
          <a:p>
            <a:pPr indent="0" marL="0">
              <a:buNone/>
            </a:pPr>
            <a:r>
              <a:rPr lang="en-US" sz="950" dirty="0">
                <a:solidFill>
                  <a:schemeClr val="accent3"/>
                </a:solidFill>
              </a:rPr>
              <a:t>GlotOCR Bench, 2026</a:t>
            </a:r>
            <a:endParaRPr lang="en-US" sz="950" dirty="0"/>
          </a:p>
        </p:txBody>
      </p:sp>
      <p:sp>
        <p:nvSpPr>
          <p:cNvPr id="11" name="card"/>
          <p:cNvSpPr/>
          <p:nvPr/>
        </p:nvSpPr>
        <p:spPr>
          <a:xfrm>
            <a:off x="8127797" y="1371600"/>
            <a:ext cx="3515258" cy="1920240"/>
          </a:xfrm>
          <a:prstGeom prst="roundRect">
            <a:avLst>
              <a:gd name="adj" fmla="val 3810"/>
            </a:avLst>
          </a:prstGeom>
          <a:solidFill>
            <a:schemeClr val="tx1"/>
          </a:solidFill>
          <a:ln/>
        </p:spPr>
      </p:sp>
      <p:sp>
        <p:nvSpPr>
          <p:cNvPr id="12" name="Text 10"/>
          <p:cNvSpPr txBox="1"/>
          <p:nvPr/>
        </p:nvSpPr>
        <p:spPr>
          <a:xfrm>
            <a:off x="8447837" y="1463040"/>
            <a:ext cx="2875178" cy="685800"/>
          </a:xfrm>
          <a:prstGeom prst="rect">
            <a:avLst/>
          </a:prstGeom>
          <a:noFill/>
          <a:ln/>
        </p:spPr>
        <p:txBody>
          <a:bodyPr wrap="square" lIns="0" tIns="0" rIns="0" bIns="0" rtlCol="0" anchor="b"/>
          <a:lstStyle/>
          <a:p>
            <a:pPr indent="0" marL="0">
              <a:buNone/>
            </a:pPr>
            <a:r>
              <a:rPr lang="en-US" sz="4000" b="1" dirty="0">
                <a:solidFill>
                  <a:srgbClr val="F08A7C"/>
                </a:solidFill>
                <a:latin typeface="Cambria" pitchFamily="34" charset="0"/>
                <a:ea typeface="Cambria" pitchFamily="34" charset="-122"/>
                <a:cs typeface="Cambria" pitchFamily="34" charset="-120"/>
              </a:rPr>
              <a:t>8–59%</a:t>
            </a:r>
            <a:endParaRPr lang="en-US" sz="4000" dirty="0"/>
          </a:p>
        </p:txBody>
      </p:sp>
      <p:sp>
        <p:nvSpPr>
          <p:cNvPr id="13" name="Text 11"/>
          <p:cNvSpPr txBox="1"/>
          <p:nvPr/>
        </p:nvSpPr>
        <p:spPr>
          <a:xfrm>
            <a:off x="8447837" y="2194560"/>
            <a:ext cx="2875178" cy="685800"/>
          </a:xfrm>
          <a:prstGeom prst="rect">
            <a:avLst/>
          </a:prstGeom>
          <a:noFill/>
          <a:ln/>
        </p:spPr>
        <p:txBody>
          <a:bodyPr wrap="square" lIns="0" tIns="0" rIns="0" bIns="0" rtlCol="0" anchor="t"/>
          <a:lstStyle/>
          <a:p>
            <a:pPr indent="0" marL="0">
              <a:buNone/>
            </a:pPr>
            <a:r>
              <a:rPr lang="en-US" sz="1400" dirty="0">
                <a:solidFill>
                  <a:schemeClr val="bg1"/>
                </a:solidFill>
              </a:rPr>
              <a:t>of deliberate misspellings on signs silently “corrected”, across 15 models</a:t>
            </a:r>
            <a:endParaRPr lang="en-US" sz="1400" dirty="0"/>
          </a:p>
        </p:txBody>
      </p:sp>
      <p:sp>
        <p:nvSpPr>
          <p:cNvPr id="14" name="Text 12"/>
          <p:cNvSpPr txBox="1"/>
          <p:nvPr/>
        </p:nvSpPr>
        <p:spPr>
          <a:xfrm>
            <a:off x="8447837" y="2880360"/>
            <a:ext cx="2875178" cy="256032"/>
          </a:xfrm>
          <a:prstGeom prst="rect">
            <a:avLst/>
          </a:prstGeom>
          <a:noFill/>
          <a:ln/>
        </p:spPr>
        <p:txBody>
          <a:bodyPr wrap="square" lIns="0" tIns="0" rIns="0" bIns="0" rtlCol="0" anchor="t"/>
          <a:lstStyle/>
          <a:p>
            <a:pPr indent="0" marL="0">
              <a:buNone/>
            </a:pPr>
            <a:r>
              <a:rPr lang="en-US" sz="950" dirty="0">
                <a:solidFill>
                  <a:srgbClr val="AEB6C6"/>
                </a:solidFill>
              </a:rPr>
              <a:t>SceneFaith, 2026</a:t>
            </a:r>
            <a:endParaRPr lang="en-US" sz="950" dirty="0"/>
          </a:p>
        </p:txBody>
      </p:sp>
      <p:sp>
        <p:nvSpPr>
          <p:cNvPr id="15" name="card"/>
          <p:cNvSpPr/>
          <p:nvPr/>
        </p:nvSpPr>
        <p:spPr>
          <a:xfrm>
            <a:off x="548640" y="3520440"/>
            <a:ext cx="5394960" cy="2514600"/>
          </a:xfrm>
          <a:prstGeom prst="roundRect">
            <a:avLst>
              <a:gd name="adj" fmla="val 2909"/>
            </a:avLst>
          </a:prstGeom>
          <a:solidFill>
            <a:schemeClr val="bg2"/>
          </a:solidFill>
          <a:ln/>
        </p:spPr>
      </p:sp>
      <p:sp>
        <p:nvSpPr>
          <p:cNvPr id="16" name="Text 14"/>
          <p:cNvSpPr txBox="1"/>
          <p:nvPr/>
        </p:nvSpPr>
        <p:spPr>
          <a:xfrm>
            <a:off x="868680" y="3657600"/>
            <a:ext cx="4754880" cy="365760"/>
          </a:xfrm>
          <a:prstGeom prst="rect">
            <a:avLst/>
          </a:prstGeom>
          <a:noFill/>
          <a:ln/>
        </p:spPr>
        <p:txBody>
          <a:bodyPr wrap="square" lIns="0" tIns="0" rIns="0" bIns="0" rtlCol="0" anchor="t"/>
          <a:lstStyle/>
          <a:p>
            <a:pPr indent="0" marL="0">
              <a:buNone/>
            </a:pPr>
            <a:r>
              <a:rPr lang="en-US" sz="1500" b="1" dirty="0">
                <a:solidFill>
                  <a:schemeClr val="accent2"/>
                </a:solidFill>
              </a:rPr>
              <a:t>Unknown script in, a familiar one out</a:t>
            </a:r>
            <a:endParaRPr lang="en-US" sz="1500" dirty="0"/>
          </a:p>
        </p:txBody>
      </p:sp>
      <p:sp>
        <p:nvSpPr>
          <p:cNvPr id="17" name="Text 15"/>
          <p:cNvSpPr txBox="1"/>
          <p:nvPr/>
        </p:nvSpPr>
        <p:spPr>
          <a:xfrm>
            <a:off x="868680" y="4114800"/>
            <a:ext cx="4754880" cy="173736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Maldivian (Thaana) came back as Arabic</a:t>
            </a:r>
            <a:endParaRPr lang="en-US" sz="1600" dirty="0"/>
          </a:p>
          <a:p>
            <a:pPr marL="228600" indent="-228600">
              <a:spcAft>
                <a:spcPts val="600"/>
              </a:spcAft>
              <a:buSzPct val="100000"/>
              <a:buChar char="•"/>
            </a:pPr>
            <a:r>
              <a:rPr lang="en-US" sz="1600" dirty="0">
                <a:solidFill>
                  <a:schemeClr val="tx1"/>
                </a:solidFill>
              </a:rPr>
              <a:t>Gujarati came back as Hindi letters</a:t>
            </a:r>
            <a:endParaRPr lang="en-US" sz="1600" dirty="0"/>
          </a:p>
          <a:p>
            <a:pPr marL="228600" indent="-228600">
              <a:spcAft>
                <a:spcPts val="600"/>
              </a:spcAft>
              <a:buSzPct val="100000"/>
              <a:buChar char="•"/>
            </a:pPr>
            <a:r>
              <a:rPr lang="en-US" sz="1600" dirty="0">
                <a:solidFill>
                  <a:schemeClr val="tx1"/>
                </a:solidFill>
              </a:rPr>
              <a:t>Hebrew came back as Thai</a:t>
            </a:r>
            <a:endParaRPr lang="en-US" sz="1600" dirty="0"/>
          </a:p>
        </p:txBody>
      </p:sp>
      <p:sp>
        <p:nvSpPr>
          <p:cNvPr id="18" name="card"/>
          <p:cNvSpPr/>
          <p:nvPr/>
        </p:nvSpPr>
        <p:spPr>
          <a:xfrm>
            <a:off x="6217920" y="3520440"/>
            <a:ext cx="5422392" cy="2514600"/>
          </a:xfrm>
          <a:prstGeom prst="roundRect">
            <a:avLst>
              <a:gd name="adj" fmla="val 2909"/>
            </a:avLst>
          </a:prstGeom>
          <a:solidFill>
            <a:schemeClr val="bg2"/>
          </a:solidFill>
          <a:ln/>
        </p:spPr>
      </p:sp>
      <p:sp>
        <p:nvSpPr>
          <p:cNvPr id="19" name="Text 17"/>
          <p:cNvSpPr txBox="1"/>
          <p:nvPr/>
        </p:nvSpPr>
        <p:spPr>
          <a:xfrm>
            <a:off x="6537960" y="3657600"/>
            <a:ext cx="4754880" cy="365760"/>
          </a:xfrm>
          <a:prstGeom prst="rect">
            <a:avLst/>
          </a:prstGeom>
          <a:noFill/>
          <a:ln/>
        </p:spPr>
        <p:txBody>
          <a:bodyPr wrap="square" lIns="0" tIns="0" rIns="0" bIns="0" rtlCol="0" anchor="t"/>
          <a:lstStyle/>
          <a:p>
            <a:pPr indent="0" marL="0">
              <a:buNone/>
            </a:pPr>
            <a:r>
              <a:rPr lang="en-US" sz="1500" b="1" dirty="0">
                <a:solidFill>
                  <a:schemeClr val="accent2"/>
                </a:solidFill>
              </a:rPr>
              <a:t>A sign beside a leopard</a:t>
            </a:r>
            <a:endParaRPr lang="en-US" sz="1500" dirty="0"/>
          </a:p>
        </p:txBody>
      </p:sp>
      <p:sp>
        <p:nvSpPr>
          <p:cNvPr id="20" name="Text 18"/>
          <p:cNvSpPr txBox="1"/>
          <p:nvPr/>
        </p:nvSpPr>
        <p:spPr>
          <a:xfrm>
            <a:off x="6537960" y="4069080"/>
            <a:ext cx="4754880" cy="685800"/>
          </a:xfrm>
          <a:prstGeom prst="rect">
            <a:avLst/>
          </a:prstGeom>
          <a:noFill/>
          <a:ln/>
        </p:spPr>
        <p:txBody>
          <a:bodyPr wrap="square" lIns="0" tIns="0" rIns="0" bIns="0" rtlCol="0" anchor="ctr"/>
          <a:lstStyle/>
          <a:p>
            <a:pPr indent="0" marL="0">
              <a:buNone/>
            </a:pPr>
            <a:r>
              <a:rPr lang="en-US" sz="3200" b="1" dirty="0">
                <a:solidFill>
                  <a:schemeClr val="tx1"/>
                </a:solidFill>
                <a:latin typeface="Courier New" pitchFamily="34" charset="0"/>
                <a:ea typeface="Courier New" pitchFamily="34" charset="-122"/>
                <a:cs typeface="Courier New" pitchFamily="34" charset="-120"/>
              </a:rPr>
              <a:t>ieopard</a:t>
            </a:r>
            <a:pPr indent="0" marL="0">
              <a:buNone/>
            </a:pPr>
            <a:r>
              <a:rPr lang="en-US" sz="3200" b="1" dirty="0">
                <a:solidFill>
                  <a:schemeClr val="accent3"/>
                </a:solidFill>
              </a:rPr>
              <a:t>  →  </a:t>
            </a:r>
            <a:pPr indent="0" marL="0">
              <a:buNone/>
            </a:pPr>
            <a:r>
              <a:rPr lang="en-US" sz="3200" b="1" dirty="0">
                <a:solidFill>
                  <a:schemeClr val="accent1"/>
                </a:solidFill>
                <a:latin typeface="Courier New" pitchFamily="34" charset="0"/>
                <a:ea typeface="Courier New" pitchFamily="34" charset="-122"/>
                <a:cs typeface="Courier New" pitchFamily="34" charset="-120"/>
              </a:rPr>
              <a:t>leopard</a:t>
            </a:r>
            <a:endParaRPr lang="en-US" sz="3200" dirty="0"/>
          </a:p>
        </p:txBody>
      </p:sp>
      <p:sp>
        <p:nvSpPr>
          <p:cNvPr id="21" name="Text 19"/>
          <p:cNvSpPr txBox="1"/>
          <p:nvPr/>
        </p:nvSpPr>
        <p:spPr>
          <a:xfrm>
            <a:off x="6537960" y="4846320"/>
            <a:ext cx="4754880" cy="1097280"/>
          </a:xfrm>
          <a:prstGeom prst="rect">
            <a:avLst/>
          </a:prstGeom>
          <a:noFill/>
          <a:ln/>
        </p:spPr>
        <p:txBody>
          <a:bodyPr wrap="square" lIns="0" tIns="0" rIns="0" bIns="0" rtlCol="0" anchor="t"/>
          <a:lstStyle/>
          <a:p>
            <a:pPr indent="0" marL="0">
              <a:buNone/>
            </a:pPr>
            <a:r>
              <a:rPr lang="en-US" sz="1400" dirty="0">
                <a:solidFill>
                  <a:schemeClr val="tx1"/>
                </a:solidFill>
              </a:rPr>
              <a:t>The sign says “ieopard”. GPT-5.2, Gemini, Claude and Qwen all read “leopard”. Cropped to the word alone, all four read it right.</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Chinese: one stroke, a different word</a:t>
            </a:r>
            <a:endParaRPr lang="en-US" sz="3200" dirty="0"/>
          </a:p>
        </p:txBody>
      </p:sp>
      <p:sp>
        <p:nvSpPr>
          <p:cNvPr id="3" name="card"/>
          <p:cNvSpPr/>
          <p:nvPr/>
        </p:nvSpPr>
        <p:spPr>
          <a:xfrm>
            <a:off x="548640" y="1325880"/>
            <a:ext cx="3931920" cy="4663440"/>
          </a:xfrm>
          <a:prstGeom prst="roundRect">
            <a:avLst>
              <a:gd name="adj" fmla="val 1860"/>
            </a:avLst>
          </a:prstGeom>
          <a:solidFill>
            <a:schemeClr val="tx1"/>
          </a:solidFill>
          <a:ln/>
        </p:spPr>
      </p:sp>
      <p:sp>
        <p:nvSpPr>
          <p:cNvPr id="4" name="Text 2"/>
          <p:cNvSpPr txBox="1"/>
          <p:nvPr/>
        </p:nvSpPr>
        <p:spPr>
          <a:xfrm>
            <a:off x="868680" y="1527048"/>
            <a:ext cx="3291840" cy="731520"/>
          </a:xfrm>
          <a:prstGeom prst="rect">
            <a:avLst/>
          </a:prstGeom>
          <a:noFill/>
          <a:ln/>
        </p:spPr>
        <p:txBody>
          <a:bodyPr wrap="square" lIns="0" tIns="0" rIns="0" bIns="0" rtlCol="0" anchor="ctr"/>
          <a:lstStyle/>
          <a:p>
            <a:pPr indent="0" marL="0">
              <a:buNone/>
            </a:pPr>
            <a:r>
              <a:rPr lang="en-US" sz="3600" b="1" dirty="0">
                <a:solidFill>
                  <a:schemeClr val="bg1"/>
                </a:solidFill>
                <a:latin typeface="PingFang SC" pitchFamily="34" charset="0"/>
                <a:ea typeface="PingFang SC" pitchFamily="34" charset="-122"/>
                <a:cs typeface="PingFang SC" pitchFamily="34" charset="-120"/>
              </a:rPr>
              <a:t>中文</a:t>
            </a:r>
            <a:endParaRPr lang="en-US" sz="3600" dirty="0"/>
          </a:p>
        </p:txBody>
      </p:sp>
      <p:sp>
        <p:nvSpPr>
          <p:cNvPr id="5" name="Text 3"/>
          <p:cNvSpPr txBox="1"/>
          <p:nvPr/>
        </p:nvSpPr>
        <p:spPr>
          <a:xfrm>
            <a:off x="868680" y="2276856"/>
            <a:ext cx="3291840" cy="292608"/>
          </a:xfrm>
          <a:prstGeom prst="rect">
            <a:avLst/>
          </a:prstGeom>
          <a:noFill/>
          <a:ln/>
        </p:spPr>
        <p:txBody>
          <a:bodyPr wrap="square" lIns="0" tIns="0" rIns="0" bIns="0" rtlCol="0" anchor="t"/>
          <a:lstStyle/>
          <a:p>
            <a:pPr indent="0" marL="0">
              <a:buNone/>
            </a:pPr>
            <a:r>
              <a:rPr lang="en-US" sz="1300" b="1" dirty="0">
                <a:solidFill>
                  <a:srgbClr val="AEB6C6"/>
                </a:solidFill>
              </a:rPr>
              <a:t>Chinese (Simplified and Traditional)</a:t>
            </a:r>
            <a:endParaRPr lang="en-US" sz="1300" dirty="0"/>
          </a:p>
        </p:txBody>
      </p:sp>
      <p:sp>
        <p:nvSpPr>
          <p:cNvPr id="6" name="Shape 4"/>
          <p:cNvSpPr/>
          <p:nvPr/>
        </p:nvSpPr>
        <p:spPr>
          <a:xfrm>
            <a:off x="868680" y="2679192"/>
            <a:ext cx="3291840" cy="0"/>
          </a:xfrm>
          <a:prstGeom prst="line">
            <a:avLst/>
          </a:prstGeom>
          <a:noFill/>
          <a:ln w="12700">
            <a:solidFill>
              <a:srgbClr val="46506A"/>
            </a:solidFill>
            <a:prstDash val="solid"/>
          </a:ln>
        </p:spPr>
      </p:sp>
      <p:sp>
        <p:nvSpPr>
          <p:cNvPr id="7" name="Text 5"/>
          <p:cNvSpPr txBox="1"/>
          <p:nvPr/>
        </p:nvSpPr>
        <p:spPr>
          <a:xfrm>
            <a:off x="868680" y="2788920"/>
            <a:ext cx="3291840" cy="561594"/>
          </a:xfrm>
          <a:prstGeom prst="rect">
            <a:avLst/>
          </a:prstGeom>
          <a:noFill/>
          <a:ln/>
        </p:spPr>
        <p:txBody>
          <a:bodyPr wrap="square" lIns="0" tIns="0" rIns="0" bIns="0" rtlCol="0" anchor="b"/>
          <a:lstStyle/>
          <a:p>
            <a:pPr indent="0" marL="0">
              <a:buNone/>
            </a:pPr>
            <a:r>
              <a:rPr lang="en-US" sz="3000" b="1" dirty="0">
                <a:solidFill>
                  <a:schemeClr val="bg1"/>
                </a:solidFill>
                <a:latin typeface="PingFang SC" pitchFamily="34" charset="0"/>
                <a:ea typeface="PingFang SC" pitchFamily="34" charset="-122"/>
                <a:cs typeface="PingFang SC" pitchFamily="34" charset="-120"/>
              </a:rPr>
              <a:t>已 · 己 · 巳</a:t>
            </a:r>
            <a:endParaRPr lang="en-US" sz="3000" dirty="0"/>
          </a:p>
        </p:txBody>
      </p:sp>
      <p:sp>
        <p:nvSpPr>
          <p:cNvPr id="8" name="Text 6"/>
          <p:cNvSpPr txBox="1"/>
          <p:nvPr/>
        </p:nvSpPr>
        <p:spPr>
          <a:xfrm>
            <a:off x="868680" y="3387090"/>
            <a:ext cx="3291840" cy="386334"/>
          </a:xfrm>
          <a:prstGeom prst="rect">
            <a:avLst/>
          </a:prstGeom>
          <a:noFill/>
          <a:ln/>
        </p:spPr>
        <p:txBody>
          <a:bodyPr wrap="square" lIns="0" tIns="0" rIns="0" bIns="0" rtlCol="0" anchor="t"/>
          <a:lstStyle/>
          <a:p>
            <a:pPr indent="0" marL="0">
              <a:buNone/>
            </a:pPr>
            <a:r>
              <a:rPr lang="en-US" sz="1200" dirty="0">
                <a:solidFill>
                  <a:srgbClr val="AEB6C6"/>
                </a:solidFill>
              </a:rPr>
              <a:t>“already” · “self” · a zodiac sign: one stroke closes further</a:t>
            </a:r>
            <a:endParaRPr lang="en-US" sz="1200" dirty="0"/>
          </a:p>
        </p:txBody>
      </p:sp>
      <p:sp>
        <p:nvSpPr>
          <p:cNvPr id="9" name="Text 7"/>
          <p:cNvSpPr txBox="1"/>
          <p:nvPr/>
        </p:nvSpPr>
        <p:spPr>
          <a:xfrm>
            <a:off x="868680" y="3810000"/>
            <a:ext cx="3291840" cy="561594"/>
          </a:xfrm>
          <a:prstGeom prst="rect">
            <a:avLst/>
          </a:prstGeom>
          <a:noFill/>
          <a:ln/>
        </p:spPr>
        <p:txBody>
          <a:bodyPr wrap="square" lIns="0" tIns="0" rIns="0" bIns="0" rtlCol="0" anchor="b"/>
          <a:lstStyle/>
          <a:p>
            <a:pPr indent="0" marL="0">
              <a:buNone/>
            </a:pPr>
            <a:r>
              <a:rPr lang="en-US" sz="3000" b="1" dirty="0">
                <a:solidFill>
                  <a:schemeClr val="bg1"/>
                </a:solidFill>
                <a:latin typeface="PingFang SC" pitchFamily="34" charset="0"/>
                <a:ea typeface="PingFang SC" pitchFamily="34" charset="-122"/>
                <a:cs typeface="PingFang SC" pitchFamily="34" charset="-120"/>
              </a:rPr>
              <a:t>未 · 末</a:t>
            </a:r>
            <a:endParaRPr lang="en-US" sz="3000" dirty="0"/>
          </a:p>
        </p:txBody>
      </p:sp>
      <p:sp>
        <p:nvSpPr>
          <p:cNvPr id="10" name="Text 8"/>
          <p:cNvSpPr txBox="1"/>
          <p:nvPr/>
        </p:nvSpPr>
        <p:spPr>
          <a:xfrm>
            <a:off x="868680" y="4408170"/>
            <a:ext cx="3291840" cy="386334"/>
          </a:xfrm>
          <a:prstGeom prst="rect">
            <a:avLst/>
          </a:prstGeom>
          <a:noFill/>
          <a:ln/>
        </p:spPr>
        <p:txBody>
          <a:bodyPr wrap="square" lIns="0" tIns="0" rIns="0" bIns="0" rtlCol="0" anchor="t"/>
          <a:lstStyle/>
          <a:p>
            <a:pPr indent="0" marL="0">
              <a:buNone/>
            </a:pPr>
            <a:r>
              <a:rPr lang="en-US" sz="1200" dirty="0">
                <a:solidFill>
                  <a:srgbClr val="AEB6C6"/>
                </a:solidFill>
              </a:rPr>
              <a:t>“not yet” · “end”: which line is longer</a:t>
            </a:r>
            <a:endParaRPr lang="en-US" sz="1200" dirty="0"/>
          </a:p>
        </p:txBody>
      </p:sp>
      <p:sp>
        <p:nvSpPr>
          <p:cNvPr id="11" name="Text 9"/>
          <p:cNvSpPr txBox="1"/>
          <p:nvPr/>
        </p:nvSpPr>
        <p:spPr>
          <a:xfrm>
            <a:off x="868680" y="4831080"/>
            <a:ext cx="3291840" cy="561594"/>
          </a:xfrm>
          <a:prstGeom prst="rect">
            <a:avLst/>
          </a:prstGeom>
          <a:noFill/>
          <a:ln/>
        </p:spPr>
        <p:txBody>
          <a:bodyPr wrap="square" lIns="0" tIns="0" rIns="0" bIns="0" rtlCol="0" anchor="b"/>
          <a:lstStyle/>
          <a:p>
            <a:pPr indent="0" marL="0">
              <a:buNone/>
            </a:pPr>
            <a:r>
              <a:rPr lang="en-US" sz="3000" b="1" dirty="0">
                <a:solidFill>
                  <a:schemeClr val="bg1"/>
                </a:solidFill>
                <a:latin typeface="PingFang SC" pitchFamily="34" charset="0"/>
                <a:ea typeface="PingFang SC" pitchFamily="34" charset="-122"/>
                <a:cs typeface="PingFang SC" pitchFamily="34" charset="-120"/>
              </a:rPr>
              <a:t>千 </a:t>
            </a:r>
            <a:pPr indent="0" marL="0">
              <a:buNone/>
            </a:pPr>
            <a:r>
              <a:rPr lang="en-US" sz="3000" b="1" dirty="0">
                <a:solidFill>
                  <a:schemeClr val="bg1"/>
                </a:solidFill>
              </a:rPr>
              <a:t>→ </a:t>
            </a:r>
            <a:pPr indent="0" marL="0">
              <a:buNone/>
            </a:pPr>
            <a:r>
              <a:rPr lang="en-US" sz="3000" b="1" dirty="0">
                <a:solidFill>
                  <a:schemeClr val="bg1"/>
                </a:solidFill>
                <a:latin typeface="PingFang SC" pitchFamily="34" charset="0"/>
                <a:ea typeface="PingFang SC" pitchFamily="34" charset="-122"/>
                <a:cs typeface="PingFang SC" pitchFamily="34" charset="-120"/>
              </a:rPr>
              <a:t>干</a:t>
            </a:r>
            <a:endParaRPr lang="en-US" sz="3000" dirty="0"/>
          </a:p>
        </p:txBody>
      </p:sp>
      <p:sp>
        <p:nvSpPr>
          <p:cNvPr id="12" name="Text 10"/>
          <p:cNvSpPr txBox="1"/>
          <p:nvPr/>
        </p:nvSpPr>
        <p:spPr>
          <a:xfrm>
            <a:off x="868680" y="5429250"/>
            <a:ext cx="3291840" cy="386334"/>
          </a:xfrm>
          <a:prstGeom prst="rect">
            <a:avLst/>
          </a:prstGeom>
          <a:noFill/>
          <a:ln/>
        </p:spPr>
        <p:txBody>
          <a:bodyPr wrap="square" lIns="0" tIns="0" rIns="0" bIns="0" rtlCol="0" anchor="t"/>
          <a:lstStyle/>
          <a:p>
            <a:pPr indent="0" marL="0">
              <a:buNone/>
            </a:pPr>
            <a:r>
              <a:rPr lang="en-US" sz="1200" dirty="0">
                <a:solidFill>
                  <a:srgbClr val="AEB6C6"/>
                </a:solidFill>
              </a:rPr>
              <a:t>“thousand” read as “dry”: a real misread in a reading contest</a:t>
            </a:r>
            <a:endParaRPr lang="en-US" sz="1200" dirty="0"/>
          </a:p>
        </p:txBody>
      </p:sp>
      <p:sp>
        <p:nvSpPr>
          <p:cNvPr id="13" name="card"/>
          <p:cNvSpPr/>
          <p:nvPr/>
        </p:nvSpPr>
        <p:spPr>
          <a:xfrm>
            <a:off x="4754880" y="1325880"/>
            <a:ext cx="6888175" cy="1417320"/>
          </a:xfrm>
          <a:prstGeom prst="roundRect">
            <a:avLst>
              <a:gd name="adj" fmla="val 5161"/>
            </a:avLst>
          </a:prstGeom>
          <a:solidFill>
            <a:schemeClr val="bg2"/>
          </a:solidFill>
          <a:ln/>
        </p:spPr>
      </p:sp>
      <p:pic>
        <p:nvPicPr>
          <p:cNvPr id="14" name="Image 0" descr="preencoded.png">    </p:cNvPr>
          <p:cNvPicPr>
            <a:picLocks noChangeAspect="1"/>
          </p:cNvPicPr>
          <p:nvPr/>
        </p:nvPicPr>
        <p:blipFill>
          <a:blip r:embed="rId1"/>
          <a:stretch>
            <a:fillRect/>
          </a:stretch>
        </p:blipFill>
        <p:spPr>
          <a:xfrm>
            <a:off x="4983480" y="1508760"/>
            <a:ext cx="292608" cy="292608"/>
          </a:xfrm>
          <a:prstGeom prst="rect">
            <a:avLst/>
          </a:prstGeom>
        </p:spPr>
      </p:pic>
      <p:sp>
        <p:nvSpPr>
          <p:cNvPr id="15" name="Text 12"/>
          <p:cNvSpPr txBox="1"/>
          <p:nvPr/>
        </p:nvSpPr>
        <p:spPr>
          <a:xfrm>
            <a:off x="5376672" y="1472184"/>
            <a:ext cx="3200400" cy="365760"/>
          </a:xfrm>
          <a:prstGeom prst="rect">
            <a:avLst/>
          </a:prstGeom>
          <a:noFill/>
          <a:ln/>
        </p:spPr>
        <p:txBody>
          <a:bodyPr wrap="square" lIns="0" tIns="0" rIns="0" bIns="0" rtlCol="0" anchor="ctr"/>
          <a:lstStyle/>
          <a:p>
            <a:pPr indent="0" marL="0">
              <a:buNone/>
            </a:pPr>
            <a:r>
              <a:rPr lang="en-US" sz="1300" b="1" dirty="0">
                <a:solidFill>
                  <a:schemeClr val="accent2"/>
                </a:solidFill>
              </a:rPr>
              <a:t>Reading breaks on</a:t>
            </a:r>
            <a:endParaRPr lang="en-US" sz="1300" dirty="0"/>
          </a:p>
        </p:txBody>
      </p:sp>
      <p:sp>
        <p:nvSpPr>
          <p:cNvPr id="16" name="Text 13"/>
          <p:cNvSpPr txBox="1"/>
          <p:nvPr/>
        </p:nvSpPr>
        <p:spPr>
          <a:xfrm>
            <a:off x="4983480" y="1892808"/>
            <a:ext cx="3733495" cy="804672"/>
          </a:xfrm>
          <a:prstGeom prst="rect">
            <a:avLst/>
          </a:prstGeom>
          <a:noFill/>
          <a:ln/>
        </p:spPr>
        <p:txBody>
          <a:bodyPr wrap="square" lIns="0" tIns="0" rIns="0" bIns="0" rtlCol="0" anchor="t"/>
          <a:lstStyle/>
          <a:p>
            <a:pPr indent="0" marL="0">
              <a:buNone/>
            </a:pPr>
            <a:r>
              <a:rPr lang="en-US" sz="1400" dirty="0">
                <a:solidFill>
                  <a:schemeClr val="tx1"/>
                </a:solidFill>
              </a:rPr>
              <a:t>Thousands of characters, many a stroke apart; dense pages; seals and stamps printed over the text.</a:t>
            </a:r>
            <a:endParaRPr lang="en-US" sz="1400" dirty="0"/>
          </a:p>
        </p:txBody>
      </p:sp>
      <p:sp>
        <p:nvSpPr>
          <p:cNvPr id="17" name="Shape 14"/>
          <p:cNvSpPr/>
          <p:nvPr/>
        </p:nvSpPr>
        <p:spPr>
          <a:xfrm>
            <a:off x="8899855" y="1426464"/>
            <a:ext cx="2615184" cy="1216152"/>
          </a:xfrm>
          <a:prstGeom prst="roundRect">
            <a:avLst>
              <a:gd name="adj" fmla="val 4511"/>
            </a:avLst>
          </a:prstGeom>
          <a:solidFill>
            <a:schemeClr val="bg1"/>
          </a:solidFill>
          <a:ln/>
        </p:spPr>
      </p:sp>
      <p:sp>
        <p:nvSpPr>
          <p:cNvPr id="18" name="Text 15"/>
          <p:cNvSpPr txBox="1"/>
          <p:nvPr/>
        </p:nvSpPr>
        <p:spPr>
          <a:xfrm>
            <a:off x="9046159" y="1444752"/>
            <a:ext cx="2340864" cy="420624"/>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 3×</a:t>
            </a:r>
            <a:endParaRPr lang="en-US" sz="2300" dirty="0"/>
          </a:p>
        </p:txBody>
      </p:sp>
      <p:sp>
        <p:nvSpPr>
          <p:cNvPr id="19" name="Text 16"/>
          <p:cNvSpPr txBox="1"/>
          <p:nvPr/>
        </p:nvSpPr>
        <p:spPr>
          <a:xfrm>
            <a:off x="9046159" y="1874520"/>
            <a:ext cx="2340864" cy="548640"/>
          </a:xfrm>
          <a:prstGeom prst="rect">
            <a:avLst/>
          </a:prstGeom>
          <a:noFill/>
          <a:ln/>
        </p:spPr>
        <p:txBody>
          <a:bodyPr wrap="square" lIns="0" tIns="0" rIns="0" bIns="0" rtlCol="0" anchor="t"/>
          <a:lstStyle/>
          <a:p>
            <a:pPr indent="0" marL="0">
              <a:buNone/>
            </a:pPr>
            <a:r>
              <a:rPr lang="en-US" sz="1050" dirty="0">
                <a:solidFill>
                  <a:schemeClr val="tx1"/>
                </a:solidFill>
              </a:rPr>
              <a:t>more text errors on Chinese pages than on English ones for GPT-4o (0.41 vs 0.14)</a:t>
            </a:r>
            <a:endParaRPr lang="en-US" sz="1050" dirty="0"/>
          </a:p>
        </p:txBody>
      </p:sp>
      <p:sp>
        <p:nvSpPr>
          <p:cNvPr id="20" name="Text 17"/>
          <p:cNvSpPr txBox="1"/>
          <p:nvPr/>
        </p:nvSpPr>
        <p:spPr>
          <a:xfrm>
            <a:off x="9046159" y="2404872"/>
            <a:ext cx="2340864" cy="201168"/>
          </a:xfrm>
          <a:prstGeom prst="rect">
            <a:avLst/>
          </a:prstGeom>
          <a:noFill/>
          <a:ln/>
        </p:spPr>
        <p:txBody>
          <a:bodyPr wrap="square" lIns="0" tIns="0" rIns="0" bIns="0" rtlCol="0" anchor="t"/>
          <a:lstStyle/>
          <a:p>
            <a:pPr indent="0" marL="0">
              <a:buNone/>
            </a:pPr>
            <a:r>
              <a:rPr lang="en-US" sz="850" dirty="0">
                <a:solidFill>
                  <a:schemeClr val="accent3"/>
                </a:solidFill>
              </a:rPr>
              <a:t>OmniDocBench, CVPR 2025</a:t>
            </a:r>
            <a:endParaRPr lang="en-US" sz="850" dirty="0"/>
          </a:p>
        </p:txBody>
      </p:sp>
      <p:sp>
        <p:nvSpPr>
          <p:cNvPr id="21" name="card"/>
          <p:cNvSpPr/>
          <p:nvPr/>
        </p:nvSpPr>
        <p:spPr>
          <a:xfrm>
            <a:off x="4754880" y="2862072"/>
            <a:ext cx="6888175" cy="1417320"/>
          </a:xfrm>
          <a:prstGeom prst="roundRect">
            <a:avLst>
              <a:gd name="adj" fmla="val 5161"/>
            </a:avLst>
          </a:prstGeom>
          <a:solidFill>
            <a:schemeClr val="bg2"/>
          </a:solidFill>
          <a:ln/>
        </p:spPr>
      </p:sp>
      <p:pic>
        <p:nvPicPr>
          <p:cNvPr id="22" name="Image 1" descr="preencoded.png">    </p:cNvPr>
          <p:cNvPicPr>
            <a:picLocks noChangeAspect="1"/>
          </p:cNvPicPr>
          <p:nvPr/>
        </p:nvPicPr>
        <p:blipFill>
          <a:blip r:embed="rId2"/>
          <a:stretch>
            <a:fillRect/>
          </a:stretch>
        </p:blipFill>
        <p:spPr>
          <a:xfrm>
            <a:off x="4983480" y="3044952"/>
            <a:ext cx="292608" cy="292608"/>
          </a:xfrm>
          <a:prstGeom prst="rect">
            <a:avLst/>
          </a:prstGeom>
        </p:spPr>
      </p:pic>
      <p:sp>
        <p:nvSpPr>
          <p:cNvPr id="23" name="Text 19"/>
          <p:cNvSpPr txBox="1"/>
          <p:nvPr/>
        </p:nvSpPr>
        <p:spPr>
          <a:xfrm>
            <a:off x="5376672" y="3008376"/>
            <a:ext cx="3200400" cy="365760"/>
          </a:xfrm>
          <a:prstGeom prst="rect">
            <a:avLst/>
          </a:prstGeom>
          <a:noFill/>
          <a:ln/>
        </p:spPr>
        <p:txBody>
          <a:bodyPr wrap="square" lIns="0" tIns="0" rIns="0" bIns="0" rtlCol="0" anchor="ctr"/>
          <a:lstStyle/>
          <a:p>
            <a:pPr indent="0" marL="0">
              <a:buNone/>
            </a:pPr>
            <a:r>
              <a:rPr lang="en-US" sz="1300" b="1" dirty="0">
                <a:solidFill>
                  <a:schemeClr val="accent1"/>
                </a:solidFill>
              </a:rPr>
              <a:t>Translating breaks on</a:t>
            </a:r>
            <a:endParaRPr lang="en-US" sz="1300" dirty="0"/>
          </a:p>
        </p:txBody>
      </p:sp>
      <p:sp>
        <p:nvSpPr>
          <p:cNvPr id="24" name="Text 20"/>
          <p:cNvSpPr txBox="1"/>
          <p:nvPr/>
        </p:nvSpPr>
        <p:spPr>
          <a:xfrm>
            <a:off x="4983480" y="3429000"/>
            <a:ext cx="3733495" cy="804672"/>
          </a:xfrm>
          <a:prstGeom prst="rect">
            <a:avLst/>
          </a:prstGeom>
          <a:noFill/>
          <a:ln/>
        </p:spPr>
        <p:txBody>
          <a:bodyPr wrap="square" lIns="0" tIns="0" rIns="0" bIns="0" rtlCol="0" anchor="t"/>
          <a:lstStyle/>
          <a:p>
            <a:pPr indent="0" marL="0">
              <a:buNone/>
            </a:pPr>
            <a:r>
              <a:rPr lang="en-US" sz="1400" dirty="0">
                <a:solidFill>
                  <a:schemeClr val="tx1"/>
                </a:solidFill>
              </a:rPr>
              <a:t>No tenses, dropped pronouns, Mainland vs Taiwan vocabulary (软件 / 軟體, “software”).</a:t>
            </a:r>
            <a:endParaRPr lang="en-US" sz="1400" dirty="0"/>
          </a:p>
        </p:txBody>
      </p:sp>
      <p:sp>
        <p:nvSpPr>
          <p:cNvPr id="25" name="Shape 21"/>
          <p:cNvSpPr/>
          <p:nvPr/>
        </p:nvSpPr>
        <p:spPr>
          <a:xfrm>
            <a:off x="8899855" y="2962656"/>
            <a:ext cx="2615184" cy="1216152"/>
          </a:xfrm>
          <a:prstGeom prst="roundRect">
            <a:avLst>
              <a:gd name="adj" fmla="val 4511"/>
            </a:avLst>
          </a:prstGeom>
          <a:solidFill>
            <a:schemeClr val="bg1"/>
          </a:solidFill>
          <a:ln/>
        </p:spPr>
      </p:sp>
      <p:sp>
        <p:nvSpPr>
          <p:cNvPr id="26" name="Text 22"/>
          <p:cNvSpPr txBox="1"/>
          <p:nvPr/>
        </p:nvSpPr>
        <p:spPr>
          <a:xfrm>
            <a:off x="9046159" y="2980944"/>
            <a:ext cx="2340864" cy="420624"/>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52% vs 20%</a:t>
            </a:r>
            <a:endParaRPr lang="en-US" sz="2300" dirty="0"/>
          </a:p>
        </p:txBody>
      </p:sp>
      <p:sp>
        <p:nvSpPr>
          <p:cNvPr id="27" name="Text 23"/>
          <p:cNvSpPr txBox="1"/>
          <p:nvPr/>
        </p:nvSpPr>
        <p:spPr>
          <a:xfrm>
            <a:off x="9046159" y="3410712"/>
            <a:ext cx="2340864" cy="548640"/>
          </a:xfrm>
          <a:prstGeom prst="rect">
            <a:avLst/>
          </a:prstGeom>
          <a:noFill/>
          <a:ln/>
        </p:spPr>
        <p:txBody>
          <a:bodyPr wrap="square" lIns="0" tIns="0" rIns="0" bIns="0" rtlCol="0" anchor="t"/>
          <a:lstStyle/>
          <a:p>
            <a:pPr indent="0" marL="0">
              <a:buNone/>
            </a:pPr>
            <a:r>
              <a:rPr lang="en-US" sz="1050" dirty="0">
                <a:solidFill>
                  <a:schemeClr val="tx1"/>
                </a:solidFill>
              </a:rPr>
              <a:t>of discharge-note sections with a risky error: hospital AI vs professionals</a:t>
            </a:r>
            <a:endParaRPr lang="en-US" sz="1050" dirty="0"/>
          </a:p>
        </p:txBody>
      </p:sp>
      <p:sp>
        <p:nvSpPr>
          <p:cNvPr id="28" name="Text 24"/>
          <p:cNvSpPr txBox="1"/>
          <p:nvPr/>
        </p:nvSpPr>
        <p:spPr>
          <a:xfrm>
            <a:off x="9046159" y="3941064"/>
            <a:ext cx="2340864" cy="201168"/>
          </a:xfrm>
          <a:prstGeom prst="rect">
            <a:avLst/>
          </a:prstGeom>
          <a:noFill/>
          <a:ln/>
        </p:spPr>
        <p:txBody>
          <a:bodyPr wrap="square" lIns="0" tIns="0" rIns="0" bIns="0" rtlCol="0" anchor="t"/>
          <a:lstStyle/>
          <a:p>
            <a:pPr indent="0" marL="0">
              <a:buNone/>
            </a:pPr>
            <a:r>
              <a:rPr lang="en-US" sz="850" dirty="0">
                <a:solidFill>
                  <a:schemeClr val="accent3"/>
                </a:solidFill>
              </a:rPr>
              <a:t>Martos et al., JAMA Netw Open 2025</a:t>
            </a:r>
            <a:endParaRPr lang="en-US" sz="850" dirty="0"/>
          </a:p>
        </p:txBody>
      </p:sp>
      <p:sp>
        <p:nvSpPr>
          <p:cNvPr id="29" name="card"/>
          <p:cNvSpPr/>
          <p:nvPr/>
        </p:nvSpPr>
        <p:spPr>
          <a:xfrm>
            <a:off x="4754880" y="4398264"/>
            <a:ext cx="6888175" cy="1591056"/>
          </a:xfrm>
          <a:prstGeom prst="roundRect">
            <a:avLst>
              <a:gd name="adj" fmla="val 4598"/>
            </a:avLst>
          </a:prstGeom>
          <a:solidFill>
            <a:srgbClr val="FBEDEA"/>
          </a:solidFill>
          <a:ln/>
        </p:spPr>
      </p:sp>
      <p:sp>
        <p:nvSpPr>
          <p:cNvPr id="30" name="Text 26"/>
          <p:cNvSpPr txBox="1"/>
          <p:nvPr/>
        </p:nvSpPr>
        <p:spPr>
          <a:xfrm>
            <a:off x="4983480" y="4507992"/>
            <a:ext cx="6430975" cy="292608"/>
          </a:xfrm>
          <a:prstGeom prst="rect">
            <a:avLst/>
          </a:prstGeom>
          <a:noFill/>
          <a:ln/>
        </p:spPr>
        <p:txBody>
          <a:bodyPr wrap="square" lIns="0" tIns="0" rIns="0" bIns="0" rtlCol="0" anchor="t"/>
          <a:lstStyle/>
          <a:p>
            <a:pPr indent="0" marL="0">
              <a:buNone/>
            </a:pPr>
            <a:r>
              <a:rPr lang="en-US" sz="1300" b="1" dirty="0">
                <a:solidFill>
                  <a:schemeClr val="accent1"/>
                </a:solidFill>
              </a:rPr>
              <a:t>In the real world</a:t>
            </a:r>
            <a:endParaRPr lang="en-US" sz="1300" dirty="0"/>
          </a:p>
        </p:txBody>
      </p:sp>
      <p:sp>
        <p:nvSpPr>
          <p:cNvPr id="31" name="Text 27"/>
          <p:cNvSpPr txBox="1"/>
          <p:nvPr/>
        </p:nvSpPr>
        <p:spPr>
          <a:xfrm>
            <a:off x="4983480" y="4809744"/>
            <a:ext cx="6430975" cy="877824"/>
          </a:xfrm>
          <a:prstGeom prst="rect">
            <a:avLst/>
          </a:prstGeom>
          <a:noFill/>
          <a:ln/>
        </p:spPr>
        <p:txBody>
          <a:bodyPr wrap="square" lIns="0" tIns="0" rIns="0" bIns="0" rtlCol="0" anchor="t"/>
          <a:lstStyle/>
          <a:p>
            <a:pPr indent="0" marL="0">
              <a:buNone/>
            </a:pPr>
            <a:r>
              <a:rPr lang="en-US" sz="1450" dirty="0">
                <a:solidFill>
                  <a:schemeClr val="tx1"/>
                </a:solidFill>
              </a:rPr>
              <a:t>“Hold the kidney medicine” became “keep taking the kidney medicine” in Chinese (and in Spanish). Overall, 8% of Chinese sentences could have caused harm, against 2% of Spanish.</a:t>
            </a:r>
            <a:endParaRPr lang="en-US" sz="1450" dirty="0"/>
          </a:p>
        </p:txBody>
      </p:sp>
      <p:sp>
        <p:nvSpPr>
          <p:cNvPr id="32" name="Text 28"/>
          <p:cNvSpPr txBox="1"/>
          <p:nvPr/>
        </p:nvSpPr>
        <p:spPr>
          <a:xfrm>
            <a:off x="4983480" y="5696712"/>
            <a:ext cx="6430975" cy="219456"/>
          </a:xfrm>
          <a:prstGeom prst="rect">
            <a:avLst/>
          </a:prstGeom>
          <a:noFill/>
          <a:ln/>
        </p:spPr>
        <p:txBody>
          <a:bodyPr wrap="square" lIns="0" tIns="0" rIns="0" bIns="0" rtlCol="0" anchor="t"/>
          <a:lstStyle/>
          <a:p>
            <a:pPr indent="0" marL="0">
              <a:buNone/>
            </a:pPr>
            <a:r>
              <a:rPr lang="en-US" sz="900" dirty="0">
                <a:solidFill>
                  <a:schemeClr val="accent3"/>
                </a:solidFill>
              </a:rPr>
              <a:t>Khoong et al., JAMA Internal Medicine 2019</a:t>
            </a:r>
            <a:endParaRPr lang="en-US" sz="9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Japanese and Korean: direction and politeness</a:t>
            </a:r>
            <a:endParaRPr lang="en-US" sz="3200" dirty="0"/>
          </a:p>
        </p:txBody>
      </p:sp>
      <p:sp>
        <p:nvSpPr>
          <p:cNvPr id="3" name="card"/>
          <p:cNvSpPr/>
          <p:nvPr/>
        </p:nvSpPr>
        <p:spPr>
          <a:xfrm>
            <a:off x="548640" y="1325880"/>
            <a:ext cx="3931920" cy="4663440"/>
          </a:xfrm>
          <a:prstGeom prst="roundRect">
            <a:avLst>
              <a:gd name="adj" fmla="val 1860"/>
            </a:avLst>
          </a:prstGeom>
          <a:solidFill>
            <a:schemeClr val="tx1"/>
          </a:solidFill>
          <a:ln/>
        </p:spPr>
      </p:sp>
      <p:sp>
        <p:nvSpPr>
          <p:cNvPr id="4" name="Text 2"/>
          <p:cNvSpPr txBox="1"/>
          <p:nvPr/>
        </p:nvSpPr>
        <p:spPr>
          <a:xfrm>
            <a:off x="868680" y="1527048"/>
            <a:ext cx="3291840" cy="731520"/>
          </a:xfrm>
          <a:prstGeom prst="rect">
            <a:avLst/>
          </a:prstGeom>
          <a:noFill/>
          <a:ln/>
        </p:spPr>
        <p:txBody>
          <a:bodyPr wrap="square" lIns="0" tIns="0" rIns="0" bIns="0" rtlCol="0" anchor="ctr"/>
          <a:lstStyle/>
          <a:p>
            <a:pPr indent="0" marL="0">
              <a:buNone/>
            </a:pPr>
            <a:r>
              <a:rPr lang="en-US" sz="3000" b="1" dirty="0">
                <a:solidFill>
                  <a:schemeClr val="bg1"/>
                </a:solidFill>
                <a:latin typeface="PingFang SC" pitchFamily="34" charset="0"/>
                <a:ea typeface="PingFang SC" pitchFamily="34" charset="-122"/>
                <a:cs typeface="PingFang SC" pitchFamily="34" charset="-120"/>
              </a:rPr>
              <a:t>日本語 · </a:t>
            </a:r>
            <a:pPr indent="0" marL="0">
              <a:buNone/>
            </a:pPr>
            <a:r>
              <a:rPr lang="en-US" sz="3000" b="1" dirty="0">
                <a:solidFill>
                  <a:schemeClr val="bg1"/>
                </a:solidFill>
                <a:latin typeface="Apple SD Gothic Neo" pitchFamily="34" charset="0"/>
                <a:ea typeface="Apple SD Gothic Neo" pitchFamily="34" charset="-122"/>
                <a:cs typeface="Apple SD Gothic Neo" pitchFamily="34" charset="-120"/>
              </a:rPr>
              <a:t>한국어</a:t>
            </a:r>
            <a:endParaRPr lang="en-US" sz="3000" dirty="0"/>
          </a:p>
        </p:txBody>
      </p:sp>
      <p:sp>
        <p:nvSpPr>
          <p:cNvPr id="5" name="Text 3"/>
          <p:cNvSpPr txBox="1"/>
          <p:nvPr/>
        </p:nvSpPr>
        <p:spPr>
          <a:xfrm>
            <a:off x="868680" y="2276856"/>
            <a:ext cx="3291840" cy="292608"/>
          </a:xfrm>
          <a:prstGeom prst="rect">
            <a:avLst/>
          </a:prstGeom>
          <a:noFill/>
          <a:ln/>
        </p:spPr>
        <p:txBody>
          <a:bodyPr wrap="square" lIns="0" tIns="0" rIns="0" bIns="0" rtlCol="0" anchor="t"/>
          <a:lstStyle/>
          <a:p>
            <a:pPr indent="0" marL="0">
              <a:buNone/>
            </a:pPr>
            <a:r>
              <a:rPr lang="en-US" sz="1300" b="1" dirty="0">
                <a:solidFill>
                  <a:srgbClr val="AEB6C6"/>
                </a:solidFill>
              </a:rPr>
              <a:t>Japanese · Korean</a:t>
            </a:r>
            <a:endParaRPr lang="en-US" sz="1300" dirty="0"/>
          </a:p>
        </p:txBody>
      </p:sp>
      <p:sp>
        <p:nvSpPr>
          <p:cNvPr id="6" name="Shape 4"/>
          <p:cNvSpPr/>
          <p:nvPr/>
        </p:nvSpPr>
        <p:spPr>
          <a:xfrm>
            <a:off x="868680" y="2679192"/>
            <a:ext cx="3291840" cy="0"/>
          </a:xfrm>
          <a:prstGeom prst="line">
            <a:avLst/>
          </a:prstGeom>
          <a:noFill/>
          <a:ln w="12700">
            <a:solidFill>
              <a:srgbClr val="46506A"/>
            </a:solidFill>
            <a:prstDash val="solid"/>
          </a:ln>
        </p:spPr>
      </p:sp>
      <p:sp>
        <p:nvSpPr>
          <p:cNvPr id="7" name="Text 5"/>
          <p:cNvSpPr txBox="1"/>
          <p:nvPr/>
        </p:nvSpPr>
        <p:spPr>
          <a:xfrm>
            <a:off x="868680" y="2788920"/>
            <a:ext cx="3291840" cy="561594"/>
          </a:xfrm>
          <a:prstGeom prst="rect">
            <a:avLst/>
          </a:prstGeom>
          <a:noFill/>
          <a:ln/>
        </p:spPr>
        <p:txBody>
          <a:bodyPr wrap="square" lIns="0" tIns="0" rIns="0" bIns="0" rtlCol="0" anchor="b"/>
          <a:lstStyle/>
          <a:p>
            <a:pPr indent="0" marL="0">
              <a:buNone/>
            </a:pPr>
            <a:r>
              <a:rPr lang="en-US" sz="2600" b="1" dirty="0">
                <a:solidFill>
                  <a:schemeClr val="bg1"/>
                </a:solidFill>
                <a:latin typeface="Hiragino Sans" pitchFamily="34" charset="0"/>
                <a:ea typeface="Hiragino Sans" pitchFamily="34" charset="-122"/>
                <a:cs typeface="Hiragino Sans" pitchFamily="34" charset="-120"/>
              </a:rPr>
              <a:t>ロ 口 · エ 工 · カ 力</a:t>
            </a:r>
            <a:endParaRPr lang="en-US" sz="2600" dirty="0"/>
          </a:p>
        </p:txBody>
      </p:sp>
      <p:sp>
        <p:nvSpPr>
          <p:cNvPr id="8" name="Text 6"/>
          <p:cNvSpPr txBox="1"/>
          <p:nvPr/>
        </p:nvSpPr>
        <p:spPr>
          <a:xfrm>
            <a:off x="868680" y="3387090"/>
            <a:ext cx="3291840" cy="386334"/>
          </a:xfrm>
          <a:prstGeom prst="rect">
            <a:avLst/>
          </a:prstGeom>
          <a:noFill/>
          <a:ln/>
        </p:spPr>
        <p:txBody>
          <a:bodyPr wrap="square" lIns="0" tIns="0" rIns="0" bIns="0" rtlCol="0" anchor="t"/>
          <a:lstStyle/>
          <a:p>
            <a:pPr indent="0" marL="0">
              <a:buNone/>
            </a:pPr>
            <a:r>
              <a:rPr lang="en-US" sz="1200" dirty="0">
                <a:solidFill>
                  <a:srgbClr val="AEB6C6"/>
                </a:solidFill>
              </a:rPr>
              <a:t>katakana ro, e, ka vs kanji “mouth”, “craft”, “power”</a:t>
            </a:r>
            <a:endParaRPr lang="en-US" sz="1200" dirty="0"/>
          </a:p>
        </p:txBody>
      </p:sp>
      <p:sp>
        <p:nvSpPr>
          <p:cNvPr id="9" name="Text 7"/>
          <p:cNvSpPr txBox="1"/>
          <p:nvPr/>
        </p:nvSpPr>
        <p:spPr>
          <a:xfrm>
            <a:off x="868680" y="3810000"/>
            <a:ext cx="3291840" cy="561594"/>
          </a:xfrm>
          <a:prstGeom prst="rect">
            <a:avLst/>
          </a:prstGeom>
          <a:noFill/>
          <a:ln/>
        </p:spPr>
        <p:txBody>
          <a:bodyPr wrap="square" lIns="0" tIns="0" rIns="0" bIns="0" rtlCol="0" anchor="b"/>
          <a:lstStyle/>
          <a:p>
            <a:pPr indent="0" marL="0">
              <a:buNone/>
            </a:pPr>
            <a:r>
              <a:rPr lang="en-US" sz="2800" b="1" dirty="0">
                <a:solidFill>
                  <a:schemeClr val="bg1"/>
                </a:solidFill>
                <a:latin typeface="Hiragino Sans" pitchFamily="34" charset="0"/>
                <a:ea typeface="Hiragino Sans" pitchFamily="34" charset="-122"/>
                <a:cs typeface="Hiragino Sans" pitchFamily="34" charset="-120"/>
              </a:rPr>
              <a:t>ボイ </a:t>
            </a:r>
            <a:pPr indent="0" marL="0">
              <a:buNone/>
            </a:pPr>
            <a:r>
              <a:rPr lang="en-US" sz="2800" b="1" dirty="0">
                <a:solidFill>
                  <a:schemeClr val="bg1"/>
                </a:solidFill>
              </a:rPr>
              <a:t>→ </a:t>
            </a:r>
            <a:pPr indent="0" marL="0">
              <a:buNone/>
            </a:pPr>
            <a:r>
              <a:rPr lang="en-US" sz="2800" b="1" dirty="0">
                <a:solidFill>
                  <a:schemeClr val="bg1"/>
                </a:solidFill>
                <a:latin typeface="Hiragino Sans" pitchFamily="34" charset="0"/>
                <a:ea typeface="Hiragino Sans" pitchFamily="34" charset="-122"/>
                <a:cs typeface="Hiragino Sans" pitchFamily="34" charset="-120"/>
              </a:rPr>
              <a:t>ホイ</a:t>
            </a:r>
            <a:endParaRPr lang="en-US" sz="2800" dirty="0"/>
          </a:p>
        </p:txBody>
      </p:sp>
      <p:sp>
        <p:nvSpPr>
          <p:cNvPr id="10" name="Text 8"/>
          <p:cNvSpPr txBox="1"/>
          <p:nvPr/>
        </p:nvSpPr>
        <p:spPr>
          <a:xfrm>
            <a:off x="868680" y="4408170"/>
            <a:ext cx="3291840" cy="386334"/>
          </a:xfrm>
          <a:prstGeom prst="rect">
            <a:avLst/>
          </a:prstGeom>
          <a:noFill/>
          <a:ln/>
        </p:spPr>
        <p:txBody>
          <a:bodyPr wrap="square" lIns="0" tIns="0" rIns="0" bIns="0" rtlCol="0" anchor="t"/>
          <a:lstStyle/>
          <a:p>
            <a:pPr indent="0" marL="0">
              <a:buNone/>
            </a:pPr>
            <a:r>
              <a:rPr lang="en-US" sz="1200" dirty="0">
                <a:solidFill>
                  <a:srgbClr val="AEB6C6"/>
                </a:solidFill>
              </a:rPr>
              <a:t>two small dots missed: a real misread</a:t>
            </a:r>
            <a:endParaRPr lang="en-US" sz="1200" dirty="0"/>
          </a:p>
        </p:txBody>
      </p:sp>
      <p:sp>
        <p:nvSpPr>
          <p:cNvPr id="11" name="Text 9"/>
          <p:cNvSpPr txBox="1"/>
          <p:nvPr/>
        </p:nvSpPr>
        <p:spPr>
          <a:xfrm>
            <a:off x="868680" y="4831080"/>
            <a:ext cx="3291840" cy="561594"/>
          </a:xfrm>
          <a:prstGeom prst="rect">
            <a:avLst/>
          </a:prstGeom>
          <a:noFill/>
          <a:ln/>
        </p:spPr>
        <p:txBody>
          <a:bodyPr wrap="square" lIns="0" tIns="0" rIns="0" bIns="0" rtlCol="0" anchor="b"/>
          <a:lstStyle/>
          <a:p>
            <a:pPr indent="0" marL="0">
              <a:buNone/>
            </a:pPr>
            <a:r>
              <a:rPr lang="en-US" sz="2000" b="1" dirty="0">
                <a:solidFill>
                  <a:schemeClr val="bg1"/>
                </a:solidFill>
                <a:latin typeface="Apple SD Gothic Neo" pitchFamily="34" charset="0"/>
                <a:ea typeface="Apple SD Gothic Neo" pitchFamily="34" charset="-122"/>
                <a:cs typeface="Apple SD Gothic Neo" pitchFamily="34" charset="-120"/>
              </a:rPr>
              <a:t>밥 먹었어? · 식사하셨어요?</a:t>
            </a:r>
            <a:endParaRPr lang="en-US" sz="2000" dirty="0"/>
          </a:p>
        </p:txBody>
      </p:sp>
      <p:sp>
        <p:nvSpPr>
          <p:cNvPr id="12" name="Text 10"/>
          <p:cNvSpPr txBox="1"/>
          <p:nvPr/>
        </p:nvSpPr>
        <p:spPr>
          <a:xfrm>
            <a:off x="868680" y="5429250"/>
            <a:ext cx="3291840" cy="386334"/>
          </a:xfrm>
          <a:prstGeom prst="rect">
            <a:avLst/>
          </a:prstGeom>
          <a:noFill/>
          <a:ln/>
        </p:spPr>
        <p:txBody>
          <a:bodyPr wrap="square" lIns="0" tIns="0" rIns="0" bIns="0" rtlCol="0" anchor="t"/>
          <a:lstStyle/>
          <a:p>
            <a:pPr indent="0" marL="0">
              <a:buNone/>
            </a:pPr>
            <a:r>
              <a:rPr lang="en-US" sz="1200" dirty="0">
                <a:solidFill>
                  <a:srgbClr val="AEB6C6"/>
                </a:solidFill>
              </a:rPr>
              <a:t>both “Have you eaten?”: to a friend, and to an elder</a:t>
            </a:r>
            <a:endParaRPr lang="en-US" sz="1200" dirty="0"/>
          </a:p>
        </p:txBody>
      </p:sp>
      <p:sp>
        <p:nvSpPr>
          <p:cNvPr id="13" name="card"/>
          <p:cNvSpPr/>
          <p:nvPr/>
        </p:nvSpPr>
        <p:spPr>
          <a:xfrm>
            <a:off x="4754880" y="1325880"/>
            <a:ext cx="6888175" cy="1417320"/>
          </a:xfrm>
          <a:prstGeom prst="roundRect">
            <a:avLst>
              <a:gd name="adj" fmla="val 5161"/>
            </a:avLst>
          </a:prstGeom>
          <a:solidFill>
            <a:schemeClr val="bg2"/>
          </a:solidFill>
          <a:ln/>
        </p:spPr>
      </p:sp>
      <p:pic>
        <p:nvPicPr>
          <p:cNvPr id="14" name="Image 0" descr="preencoded.png">    </p:cNvPr>
          <p:cNvPicPr>
            <a:picLocks noChangeAspect="1"/>
          </p:cNvPicPr>
          <p:nvPr/>
        </p:nvPicPr>
        <p:blipFill>
          <a:blip r:embed="rId1"/>
          <a:stretch>
            <a:fillRect/>
          </a:stretch>
        </p:blipFill>
        <p:spPr>
          <a:xfrm>
            <a:off x="4983480" y="1508760"/>
            <a:ext cx="292608" cy="292608"/>
          </a:xfrm>
          <a:prstGeom prst="rect">
            <a:avLst/>
          </a:prstGeom>
        </p:spPr>
      </p:pic>
      <p:sp>
        <p:nvSpPr>
          <p:cNvPr id="15" name="Text 12"/>
          <p:cNvSpPr txBox="1"/>
          <p:nvPr/>
        </p:nvSpPr>
        <p:spPr>
          <a:xfrm>
            <a:off x="5376672" y="1472184"/>
            <a:ext cx="3200400" cy="365760"/>
          </a:xfrm>
          <a:prstGeom prst="rect">
            <a:avLst/>
          </a:prstGeom>
          <a:noFill/>
          <a:ln/>
        </p:spPr>
        <p:txBody>
          <a:bodyPr wrap="square" lIns="0" tIns="0" rIns="0" bIns="0" rtlCol="0" anchor="ctr"/>
          <a:lstStyle/>
          <a:p>
            <a:pPr indent="0" marL="0">
              <a:buNone/>
            </a:pPr>
            <a:r>
              <a:rPr lang="en-US" sz="1300" b="1" dirty="0">
                <a:solidFill>
                  <a:schemeClr val="accent2"/>
                </a:solidFill>
              </a:rPr>
              <a:t>Reading breaks on</a:t>
            </a:r>
            <a:endParaRPr lang="en-US" sz="1300" dirty="0"/>
          </a:p>
        </p:txBody>
      </p:sp>
      <p:sp>
        <p:nvSpPr>
          <p:cNvPr id="16" name="Text 13"/>
          <p:cNvSpPr txBox="1"/>
          <p:nvPr/>
        </p:nvSpPr>
        <p:spPr>
          <a:xfrm>
            <a:off x="4983480" y="1892808"/>
            <a:ext cx="3733495" cy="804672"/>
          </a:xfrm>
          <a:prstGeom prst="rect">
            <a:avLst/>
          </a:prstGeom>
          <a:noFill/>
          <a:ln/>
        </p:spPr>
        <p:txBody>
          <a:bodyPr wrap="square" lIns="0" tIns="0" rIns="0" bIns="0" rtlCol="0" anchor="t"/>
          <a:lstStyle/>
          <a:p>
            <a:pPr indent="0" marL="0">
              <a:buNone/>
            </a:pPr>
            <a:r>
              <a:rPr lang="en-US" sz="1400" dirty="0">
                <a:solidFill>
                  <a:schemeClr val="tx1"/>
                </a:solidFill>
              </a:rPr>
              <a:t>Three scripts in one sentence; look-alikes across them; novels, newspapers and signs written vertically.</a:t>
            </a:r>
            <a:endParaRPr lang="en-US" sz="1400" dirty="0"/>
          </a:p>
        </p:txBody>
      </p:sp>
      <p:sp>
        <p:nvSpPr>
          <p:cNvPr id="17" name="Shape 14"/>
          <p:cNvSpPr/>
          <p:nvPr/>
        </p:nvSpPr>
        <p:spPr>
          <a:xfrm>
            <a:off x="8899855" y="1426464"/>
            <a:ext cx="2615184" cy="1216152"/>
          </a:xfrm>
          <a:prstGeom prst="roundRect">
            <a:avLst>
              <a:gd name="adj" fmla="val 4511"/>
            </a:avLst>
          </a:prstGeom>
          <a:solidFill>
            <a:schemeClr val="bg1"/>
          </a:solidFill>
          <a:ln/>
        </p:spPr>
      </p:sp>
      <p:sp>
        <p:nvSpPr>
          <p:cNvPr id="18" name="Text 15"/>
          <p:cNvSpPr txBox="1"/>
          <p:nvPr/>
        </p:nvSpPr>
        <p:spPr>
          <a:xfrm>
            <a:off x="9046159" y="1444752"/>
            <a:ext cx="2340864" cy="420624"/>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1 → 56</a:t>
            </a:r>
            <a:endParaRPr lang="en-US" sz="2300" dirty="0"/>
          </a:p>
        </p:txBody>
      </p:sp>
      <p:sp>
        <p:nvSpPr>
          <p:cNvPr id="19" name="Text 16"/>
          <p:cNvSpPr txBox="1"/>
          <p:nvPr/>
        </p:nvSpPr>
        <p:spPr>
          <a:xfrm>
            <a:off x="9046159" y="1874520"/>
            <a:ext cx="2340864" cy="548640"/>
          </a:xfrm>
          <a:prstGeom prst="rect">
            <a:avLst/>
          </a:prstGeom>
          <a:noFill/>
          <a:ln/>
        </p:spPr>
        <p:txBody>
          <a:bodyPr wrap="square" lIns="0" tIns="0" rIns="0" bIns="0" rtlCol="0" anchor="t"/>
          <a:lstStyle/>
          <a:p>
            <a:pPr indent="0" marL="0">
              <a:buNone/>
            </a:pPr>
            <a:r>
              <a:rPr lang="en-US" sz="1050" dirty="0">
                <a:solidFill>
                  <a:schemeClr val="tx1"/>
                </a:solidFill>
              </a:rPr>
              <a:t>mistakes per 100 characters for GPT-4.1: horizontal vs vertical Japanese pages</a:t>
            </a:r>
            <a:endParaRPr lang="en-US" sz="1050" dirty="0"/>
          </a:p>
        </p:txBody>
      </p:sp>
      <p:sp>
        <p:nvSpPr>
          <p:cNvPr id="20" name="Text 17"/>
          <p:cNvSpPr txBox="1"/>
          <p:nvPr/>
        </p:nvSpPr>
        <p:spPr>
          <a:xfrm>
            <a:off x="9046159" y="2404872"/>
            <a:ext cx="2340864" cy="201168"/>
          </a:xfrm>
          <a:prstGeom prst="rect">
            <a:avLst/>
          </a:prstGeom>
          <a:noFill/>
          <a:ln/>
        </p:spPr>
        <p:txBody>
          <a:bodyPr wrap="square" lIns="0" tIns="0" rIns="0" bIns="0" rtlCol="0" anchor="t"/>
          <a:lstStyle/>
          <a:p>
            <a:pPr indent="0" marL="0">
              <a:buNone/>
            </a:pPr>
            <a:r>
              <a:rPr lang="en-US" sz="850" dirty="0">
                <a:solidFill>
                  <a:schemeClr val="accent3"/>
                </a:solidFill>
              </a:rPr>
              <a:t>Sasagawa et al., 2025</a:t>
            </a:r>
            <a:endParaRPr lang="en-US" sz="850" dirty="0"/>
          </a:p>
        </p:txBody>
      </p:sp>
      <p:sp>
        <p:nvSpPr>
          <p:cNvPr id="21" name="card"/>
          <p:cNvSpPr/>
          <p:nvPr/>
        </p:nvSpPr>
        <p:spPr>
          <a:xfrm>
            <a:off x="4754880" y="2862072"/>
            <a:ext cx="6888175" cy="1417320"/>
          </a:xfrm>
          <a:prstGeom prst="roundRect">
            <a:avLst>
              <a:gd name="adj" fmla="val 5161"/>
            </a:avLst>
          </a:prstGeom>
          <a:solidFill>
            <a:schemeClr val="bg2"/>
          </a:solidFill>
          <a:ln/>
        </p:spPr>
      </p:sp>
      <p:pic>
        <p:nvPicPr>
          <p:cNvPr id="22" name="Image 1" descr="preencoded.png">    </p:cNvPr>
          <p:cNvPicPr>
            <a:picLocks noChangeAspect="1"/>
          </p:cNvPicPr>
          <p:nvPr/>
        </p:nvPicPr>
        <p:blipFill>
          <a:blip r:embed="rId2"/>
          <a:stretch>
            <a:fillRect/>
          </a:stretch>
        </p:blipFill>
        <p:spPr>
          <a:xfrm>
            <a:off x="4983480" y="3044952"/>
            <a:ext cx="292608" cy="292608"/>
          </a:xfrm>
          <a:prstGeom prst="rect">
            <a:avLst/>
          </a:prstGeom>
        </p:spPr>
      </p:pic>
      <p:sp>
        <p:nvSpPr>
          <p:cNvPr id="23" name="Text 19"/>
          <p:cNvSpPr txBox="1"/>
          <p:nvPr/>
        </p:nvSpPr>
        <p:spPr>
          <a:xfrm>
            <a:off x="5376672" y="3008376"/>
            <a:ext cx="3200400" cy="365760"/>
          </a:xfrm>
          <a:prstGeom prst="rect">
            <a:avLst/>
          </a:prstGeom>
          <a:noFill/>
          <a:ln/>
        </p:spPr>
        <p:txBody>
          <a:bodyPr wrap="square" lIns="0" tIns="0" rIns="0" bIns="0" rtlCol="0" anchor="ctr"/>
          <a:lstStyle/>
          <a:p>
            <a:pPr indent="0" marL="0">
              <a:buNone/>
            </a:pPr>
            <a:r>
              <a:rPr lang="en-US" sz="1300" b="1" dirty="0">
                <a:solidFill>
                  <a:schemeClr val="accent1"/>
                </a:solidFill>
              </a:rPr>
              <a:t>Translating breaks on</a:t>
            </a:r>
            <a:endParaRPr lang="en-US" sz="1300" dirty="0"/>
          </a:p>
        </p:txBody>
      </p:sp>
      <p:sp>
        <p:nvSpPr>
          <p:cNvPr id="24" name="Text 20"/>
          <p:cNvSpPr txBox="1"/>
          <p:nvPr/>
        </p:nvSpPr>
        <p:spPr>
          <a:xfrm>
            <a:off x="4983480" y="3429000"/>
            <a:ext cx="3733495" cy="804672"/>
          </a:xfrm>
          <a:prstGeom prst="rect">
            <a:avLst/>
          </a:prstGeom>
          <a:noFill/>
          <a:ln/>
        </p:spPr>
        <p:txBody>
          <a:bodyPr wrap="square" lIns="0" tIns="0" rIns="0" bIns="0" rtlCol="0" anchor="t"/>
          <a:lstStyle/>
          <a:p>
            <a:pPr indent="0" marL="0">
              <a:buNone/>
            </a:pPr>
            <a:r>
              <a:rPr lang="en-US" sz="1400" dirty="0">
                <a:solidFill>
                  <a:schemeClr val="tx1"/>
                </a:solidFill>
              </a:rPr>
              <a:t>Subjects are usually left out; politeness is built into the grammar. English “you” has no level at all.</a:t>
            </a:r>
            <a:endParaRPr lang="en-US" sz="1400" dirty="0"/>
          </a:p>
        </p:txBody>
      </p:sp>
      <p:sp>
        <p:nvSpPr>
          <p:cNvPr id="25" name="Shape 21"/>
          <p:cNvSpPr/>
          <p:nvPr/>
        </p:nvSpPr>
        <p:spPr>
          <a:xfrm>
            <a:off x="8899855" y="2962656"/>
            <a:ext cx="2615184" cy="1216152"/>
          </a:xfrm>
          <a:prstGeom prst="roundRect">
            <a:avLst>
              <a:gd name="adj" fmla="val 4511"/>
            </a:avLst>
          </a:prstGeom>
          <a:solidFill>
            <a:schemeClr val="bg1"/>
          </a:solidFill>
          <a:ln/>
        </p:spPr>
      </p:sp>
      <p:sp>
        <p:nvSpPr>
          <p:cNvPr id="26" name="Text 22"/>
          <p:cNvSpPr txBox="1"/>
          <p:nvPr/>
        </p:nvSpPr>
        <p:spPr>
          <a:xfrm>
            <a:off x="9046159" y="2980944"/>
            <a:ext cx="2340864" cy="420624"/>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29% vs 74%</a:t>
            </a:r>
            <a:endParaRPr lang="en-US" sz="2300" dirty="0"/>
          </a:p>
        </p:txBody>
      </p:sp>
      <p:sp>
        <p:nvSpPr>
          <p:cNvPr id="27" name="Text 23"/>
          <p:cNvSpPr txBox="1"/>
          <p:nvPr/>
        </p:nvSpPr>
        <p:spPr>
          <a:xfrm>
            <a:off x="9046159" y="3410712"/>
            <a:ext cx="2340864" cy="548640"/>
          </a:xfrm>
          <a:prstGeom prst="rect">
            <a:avLst/>
          </a:prstGeom>
          <a:noFill/>
          <a:ln/>
        </p:spPr>
        <p:txBody>
          <a:bodyPr wrap="square" lIns="0" tIns="0" rIns="0" bIns="0" rtlCol="0" anchor="t"/>
          <a:lstStyle/>
          <a:p>
            <a:pPr indent="0" marL="0">
              <a:buNone/>
            </a:pPr>
            <a:r>
              <a:rPr lang="en-US" sz="1050" dirty="0">
                <a:solidFill>
                  <a:schemeClr val="tx1"/>
                </a:solidFill>
              </a:rPr>
              <a:t>formal Japanese from two commercial translators: same input, opposite habits</a:t>
            </a:r>
            <a:endParaRPr lang="en-US" sz="1050" dirty="0"/>
          </a:p>
        </p:txBody>
      </p:sp>
      <p:sp>
        <p:nvSpPr>
          <p:cNvPr id="28" name="Text 24"/>
          <p:cNvSpPr txBox="1"/>
          <p:nvPr/>
        </p:nvSpPr>
        <p:spPr>
          <a:xfrm>
            <a:off x="9046159" y="3941064"/>
            <a:ext cx="2340864" cy="201168"/>
          </a:xfrm>
          <a:prstGeom prst="rect">
            <a:avLst/>
          </a:prstGeom>
          <a:noFill/>
          <a:ln/>
        </p:spPr>
        <p:txBody>
          <a:bodyPr wrap="square" lIns="0" tIns="0" rIns="0" bIns="0" rtlCol="0" anchor="t"/>
          <a:lstStyle/>
          <a:p>
            <a:pPr indent="0" marL="0">
              <a:buNone/>
            </a:pPr>
            <a:r>
              <a:rPr lang="en-US" sz="850" dirty="0">
                <a:solidFill>
                  <a:schemeClr val="accent3"/>
                </a:solidFill>
              </a:rPr>
              <a:t>CoCoA-MT, NAACL Findings 2022</a:t>
            </a:r>
            <a:endParaRPr lang="en-US" sz="850" dirty="0"/>
          </a:p>
        </p:txBody>
      </p:sp>
      <p:sp>
        <p:nvSpPr>
          <p:cNvPr id="29" name="card"/>
          <p:cNvSpPr/>
          <p:nvPr/>
        </p:nvSpPr>
        <p:spPr>
          <a:xfrm>
            <a:off x="4754880" y="4398264"/>
            <a:ext cx="6888175" cy="1591056"/>
          </a:xfrm>
          <a:prstGeom prst="roundRect">
            <a:avLst>
              <a:gd name="adj" fmla="val 4598"/>
            </a:avLst>
          </a:prstGeom>
          <a:solidFill>
            <a:srgbClr val="FBEDEA"/>
          </a:solidFill>
          <a:ln/>
        </p:spPr>
      </p:sp>
      <p:sp>
        <p:nvSpPr>
          <p:cNvPr id="30" name="Text 26"/>
          <p:cNvSpPr txBox="1"/>
          <p:nvPr/>
        </p:nvSpPr>
        <p:spPr>
          <a:xfrm>
            <a:off x="4983480" y="4507992"/>
            <a:ext cx="6430975" cy="292608"/>
          </a:xfrm>
          <a:prstGeom prst="rect">
            <a:avLst/>
          </a:prstGeom>
          <a:noFill/>
          <a:ln/>
        </p:spPr>
        <p:txBody>
          <a:bodyPr wrap="square" lIns="0" tIns="0" rIns="0" bIns="0" rtlCol="0" anchor="t"/>
          <a:lstStyle/>
          <a:p>
            <a:pPr indent="0" marL="0">
              <a:buNone/>
            </a:pPr>
            <a:r>
              <a:rPr lang="en-US" sz="1300" b="1" dirty="0">
                <a:solidFill>
                  <a:schemeClr val="accent1"/>
                </a:solidFill>
              </a:rPr>
              <a:t>In the real world</a:t>
            </a:r>
            <a:endParaRPr lang="en-US" sz="1300" dirty="0"/>
          </a:p>
        </p:txBody>
      </p:sp>
      <p:sp>
        <p:nvSpPr>
          <p:cNvPr id="31" name="Text 27"/>
          <p:cNvSpPr txBox="1"/>
          <p:nvPr/>
        </p:nvSpPr>
        <p:spPr>
          <a:xfrm>
            <a:off x="4983480" y="4809744"/>
            <a:ext cx="6430975" cy="877824"/>
          </a:xfrm>
          <a:prstGeom prst="rect">
            <a:avLst/>
          </a:prstGeom>
          <a:noFill/>
          <a:ln/>
        </p:spPr>
        <p:txBody>
          <a:bodyPr wrap="square" lIns="0" tIns="0" rIns="0" bIns="0" rtlCol="0" anchor="t"/>
          <a:lstStyle/>
          <a:p>
            <a:pPr indent="0" marL="0">
              <a:buNone/>
            </a:pPr>
            <a:r>
              <a:rPr lang="en-US" sz="1450" dirty="0">
                <a:solidFill>
                  <a:schemeClr val="tx1"/>
                </a:solidFill>
              </a:rPr>
              <a:t>Osaka Metro put Bing Translator output on its website unchecked: the Sakaisuji Line (堺筋線) became the “Sakai Muscle Line”, because 筋 also means “muscle”. The pages came down within days.</a:t>
            </a:r>
            <a:endParaRPr lang="en-US" sz="1450" dirty="0"/>
          </a:p>
        </p:txBody>
      </p:sp>
      <p:sp>
        <p:nvSpPr>
          <p:cNvPr id="32" name="Text 28"/>
          <p:cNvSpPr txBox="1"/>
          <p:nvPr/>
        </p:nvSpPr>
        <p:spPr>
          <a:xfrm>
            <a:off x="4983480" y="5696712"/>
            <a:ext cx="6430975" cy="219456"/>
          </a:xfrm>
          <a:prstGeom prst="rect">
            <a:avLst/>
          </a:prstGeom>
          <a:noFill/>
          <a:ln/>
        </p:spPr>
        <p:txBody>
          <a:bodyPr wrap="square" lIns="0" tIns="0" rIns="0" bIns="0" rtlCol="0" anchor="t"/>
          <a:lstStyle/>
          <a:p>
            <a:pPr indent="0" marL="0">
              <a:buNone/>
            </a:pPr>
            <a:r>
              <a:rPr lang="en-US" sz="900" dirty="0">
                <a:solidFill>
                  <a:schemeClr val="accent3"/>
                </a:solidFill>
              </a:rPr>
              <a:t>ITmedia NEWS, 20 Mar 2019; SoraNews24, 21 Mar 2019</a:t>
            </a:r>
            <a:endParaRPr lang="en-US" sz="9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Vietnamese: the marks are the meaning</a:t>
            </a:r>
            <a:endParaRPr lang="en-US" sz="3200" dirty="0"/>
          </a:p>
        </p:txBody>
      </p:sp>
      <p:sp>
        <p:nvSpPr>
          <p:cNvPr id="3" name="card"/>
          <p:cNvSpPr/>
          <p:nvPr/>
        </p:nvSpPr>
        <p:spPr>
          <a:xfrm>
            <a:off x="548640" y="1325880"/>
            <a:ext cx="3931920" cy="4663440"/>
          </a:xfrm>
          <a:prstGeom prst="roundRect">
            <a:avLst>
              <a:gd name="adj" fmla="val 1860"/>
            </a:avLst>
          </a:prstGeom>
          <a:solidFill>
            <a:schemeClr val="tx1"/>
          </a:solidFill>
          <a:ln/>
        </p:spPr>
      </p:sp>
      <p:sp>
        <p:nvSpPr>
          <p:cNvPr id="4" name="Text 2"/>
          <p:cNvSpPr txBox="1"/>
          <p:nvPr/>
        </p:nvSpPr>
        <p:spPr>
          <a:xfrm>
            <a:off x="868680" y="1527048"/>
            <a:ext cx="3291840" cy="731520"/>
          </a:xfrm>
          <a:prstGeom prst="rect">
            <a:avLst/>
          </a:prstGeom>
          <a:noFill/>
          <a:ln/>
        </p:spPr>
        <p:txBody>
          <a:bodyPr wrap="square" lIns="0" tIns="0" rIns="0" bIns="0" rtlCol="0" anchor="ctr"/>
          <a:lstStyle/>
          <a:p>
            <a:pPr indent="0" marL="0">
              <a:buNone/>
            </a:pPr>
            <a:r>
              <a:rPr lang="en-US" sz="3400" b="1" dirty="0">
                <a:solidFill>
                  <a:schemeClr val="bg1"/>
                </a:solidFill>
              </a:rPr>
              <a:t>Tiếng Việt</a:t>
            </a:r>
            <a:endParaRPr lang="en-US" sz="3400" dirty="0"/>
          </a:p>
        </p:txBody>
      </p:sp>
      <p:sp>
        <p:nvSpPr>
          <p:cNvPr id="5" name="Text 3"/>
          <p:cNvSpPr txBox="1"/>
          <p:nvPr/>
        </p:nvSpPr>
        <p:spPr>
          <a:xfrm>
            <a:off x="868680" y="2276856"/>
            <a:ext cx="3291840" cy="292608"/>
          </a:xfrm>
          <a:prstGeom prst="rect">
            <a:avLst/>
          </a:prstGeom>
          <a:noFill/>
          <a:ln/>
        </p:spPr>
        <p:txBody>
          <a:bodyPr wrap="square" lIns="0" tIns="0" rIns="0" bIns="0" rtlCol="0" anchor="t"/>
          <a:lstStyle/>
          <a:p>
            <a:pPr indent="0" marL="0">
              <a:buNone/>
            </a:pPr>
            <a:r>
              <a:rPr lang="en-US" sz="1300" b="1" dirty="0">
                <a:solidFill>
                  <a:srgbClr val="AEB6C6"/>
                </a:solidFill>
              </a:rPr>
              <a:t>Vietnamese</a:t>
            </a:r>
            <a:endParaRPr lang="en-US" sz="1300" dirty="0"/>
          </a:p>
        </p:txBody>
      </p:sp>
      <p:sp>
        <p:nvSpPr>
          <p:cNvPr id="6" name="Shape 4"/>
          <p:cNvSpPr/>
          <p:nvPr/>
        </p:nvSpPr>
        <p:spPr>
          <a:xfrm>
            <a:off x="868680" y="2679192"/>
            <a:ext cx="3291840" cy="0"/>
          </a:xfrm>
          <a:prstGeom prst="line">
            <a:avLst/>
          </a:prstGeom>
          <a:noFill/>
          <a:ln w="12700">
            <a:solidFill>
              <a:srgbClr val="46506A"/>
            </a:solidFill>
            <a:prstDash val="solid"/>
          </a:ln>
        </p:spPr>
      </p:sp>
      <p:sp>
        <p:nvSpPr>
          <p:cNvPr id="7" name="Text 5"/>
          <p:cNvSpPr txBox="1"/>
          <p:nvPr/>
        </p:nvSpPr>
        <p:spPr>
          <a:xfrm>
            <a:off x="868680" y="2788920"/>
            <a:ext cx="3291840" cy="658368"/>
          </a:xfrm>
          <a:prstGeom prst="rect">
            <a:avLst/>
          </a:prstGeom>
          <a:noFill/>
          <a:ln/>
        </p:spPr>
        <p:txBody>
          <a:bodyPr wrap="square" lIns="0" tIns="0" rIns="0" bIns="0" rtlCol="0" anchor="b"/>
          <a:lstStyle/>
          <a:p>
            <a:pPr indent="0" marL="0">
              <a:buNone/>
            </a:pPr>
            <a:r>
              <a:rPr lang="en-US" sz="2200" b="1" dirty="0">
                <a:solidFill>
                  <a:schemeClr val="bg1"/>
                </a:solidFill>
              </a:rPr>
              <a:t>ma · má · mà · mả · mã · mạ</a:t>
            </a:r>
            <a:endParaRPr lang="en-US" sz="2200" dirty="0"/>
          </a:p>
        </p:txBody>
      </p:sp>
      <p:sp>
        <p:nvSpPr>
          <p:cNvPr id="8" name="Text 6"/>
          <p:cNvSpPr txBox="1"/>
          <p:nvPr/>
        </p:nvSpPr>
        <p:spPr>
          <a:xfrm>
            <a:off x="868680" y="3483864"/>
            <a:ext cx="3291840" cy="800100"/>
          </a:xfrm>
          <a:prstGeom prst="rect">
            <a:avLst/>
          </a:prstGeom>
          <a:noFill/>
          <a:ln/>
        </p:spPr>
        <p:txBody>
          <a:bodyPr wrap="square" lIns="0" tIns="0" rIns="0" bIns="0" rtlCol="0" anchor="t"/>
          <a:lstStyle/>
          <a:p>
            <a:pPr indent="0" marL="0">
              <a:buNone/>
            </a:pPr>
            <a:r>
              <a:rPr lang="en-US" sz="1200" dirty="0">
                <a:solidFill>
                  <a:srgbClr val="AEB6C6"/>
                </a:solidFill>
              </a:rPr>
              <a:t>ghost · mother · but · grave · horse · rice seedling</a:t>
            </a:r>
            <a:endParaRPr lang="en-US" sz="1200" dirty="0"/>
          </a:p>
        </p:txBody>
      </p:sp>
      <p:sp>
        <p:nvSpPr>
          <p:cNvPr id="9" name="Text 7"/>
          <p:cNvSpPr txBox="1"/>
          <p:nvPr/>
        </p:nvSpPr>
        <p:spPr>
          <a:xfrm>
            <a:off x="868680" y="4320540"/>
            <a:ext cx="3291840" cy="658368"/>
          </a:xfrm>
          <a:prstGeom prst="rect">
            <a:avLst/>
          </a:prstGeom>
          <a:noFill/>
          <a:ln/>
        </p:spPr>
        <p:txBody>
          <a:bodyPr wrap="square" lIns="0" tIns="0" rIns="0" bIns="0" rtlCol="0" anchor="b"/>
          <a:lstStyle/>
          <a:p>
            <a:pPr indent="0" marL="0">
              <a:buNone/>
            </a:pPr>
            <a:r>
              <a:rPr lang="en-US" sz="2400" b="1" dirty="0">
                <a:solidFill>
                  <a:schemeClr val="bg1"/>
                </a:solidFill>
              </a:rPr>
              <a:t>đảm đang · dâm đãng</a:t>
            </a:r>
            <a:endParaRPr lang="en-US" sz="2400" dirty="0"/>
          </a:p>
        </p:txBody>
      </p:sp>
      <p:sp>
        <p:nvSpPr>
          <p:cNvPr id="10" name="Text 8"/>
          <p:cNvSpPr txBox="1"/>
          <p:nvPr/>
        </p:nvSpPr>
        <p:spPr>
          <a:xfrm>
            <a:off x="868680" y="5015484"/>
            <a:ext cx="3291840" cy="800100"/>
          </a:xfrm>
          <a:prstGeom prst="rect">
            <a:avLst/>
          </a:prstGeom>
          <a:noFill/>
          <a:ln/>
        </p:spPr>
        <p:txBody>
          <a:bodyPr wrap="square" lIns="0" tIns="0" rIns="0" bIns="0" rtlCol="0" anchor="t"/>
          <a:lstStyle/>
          <a:p>
            <a:pPr indent="0" marL="0">
              <a:buNone/>
            </a:pPr>
            <a:r>
              <a:rPr lang="en-US" sz="1200" dirty="0">
                <a:solidFill>
                  <a:srgbClr val="AEB6C6"/>
                </a:solidFill>
              </a:rPr>
              <a:t>“capable” · “lustful”: the same letters without their marks</a:t>
            </a:r>
            <a:endParaRPr lang="en-US" sz="1200" dirty="0"/>
          </a:p>
        </p:txBody>
      </p:sp>
      <p:sp>
        <p:nvSpPr>
          <p:cNvPr id="11" name="card"/>
          <p:cNvSpPr/>
          <p:nvPr/>
        </p:nvSpPr>
        <p:spPr>
          <a:xfrm>
            <a:off x="4754880" y="1325880"/>
            <a:ext cx="6888175" cy="1417320"/>
          </a:xfrm>
          <a:prstGeom prst="roundRect">
            <a:avLst>
              <a:gd name="adj" fmla="val 5161"/>
            </a:avLst>
          </a:prstGeom>
          <a:solidFill>
            <a:schemeClr val="bg2"/>
          </a:solidFill>
          <a:ln/>
        </p:spPr>
      </p:sp>
      <p:pic>
        <p:nvPicPr>
          <p:cNvPr id="12" name="Image 0" descr="preencoded.png">    </p:cNvPr>
          <p:cNvPicPr>
            <a:picLocks noChangeAspect="1"/>
          </p:cNvPicPr>
          <p:nvPr/>
        </p:nvPicPr>
        <p:blipFill>
          <a:blip r:embed="rId1"/>
          <a:stretch>
            <a:fillRect/>
          </a:stretch>
        </p:blipFill>
        <p:spPr>
          <a:xfrm>
            <a:off x="4983480" y="1508760"/>
            <a:ext cx="292608" cy="292608"/>
          </a:xfrm>
          <a:prstGeom prst="rect">
            <a:avLst/>
          </a:prstGeom>
        </p:spPr>
      </p:pic>
      <p:sp>
        <p:nvSpPr>
          <p:cNvPr id="13" name="Text 10"/>
          <p:cNvSpPr txBox="1"/>
          <p:nvPr/>
        </p:nvSpPr>
        <p:spPr>
          <a:xfrm>
            <a:off x="5376672" y="1472184"/>
            <a:ext cx="3200400" cy="365760"/>
          </a:xfrm>
          <a:prstGeom prst="rect">
            <a:avLst/>
          </a:prstGeom>
          <a:noFill/>
          <a:ln/>
        </p:spPr>
        <p:txBody>
          <a:bodyPr wrap="square" lIns="0" tIns="0" rIns="0" bIns="0" rtlCol="0" anchor="ctr"/>
          <a:lstStyle/>
          <a:p>
            <a:pPr indent="0" marL="0">
              <a:buNone/>
            </a:pPr>
            <a:r>
              <a:rPr lang="en-US" sz="1300" b="1" dirty="0">
                <a:solidFill>
                  <a:schemeClr val="accent2"/>
                </a:solidFill>
              </a:rPr>
              <a:t>Reading breaks on</a:t>
            </a:r>
            <a:endParaRPr lang="en-US" sz="1300" dirty="0"/>
          </a:p>
        </p:txBody>
      </p:sp>
      <p:sp>
        <p:nvSpPr>
          <p:cNvPr id="14" name="Text 11"/>
          <p:cNvSpPr txBox="1"/>
          <p:nvPr/>
        </p:nvSpPr>
        <p:spPr>
          <a:xfrm>
            <a:off x="4983480" y="1892808"/>
            <a:ext cx="3733495" cy="804672"/>
          </a:xfrm>
          <a:prstGeom prst="rect">
            <a:avLst/>
          </a:prstGeom>
          <a:noFill/>
          <a:ln/>
        </p:spPr>
        <p:txBody>
          <a:bodyPr wrap="square" lIns="0" tIns="0" rIns="0" bIns="0" rtlCol="0" anchor="t"/>
          <a:lstStyle/>
          <a:p>
            <a:pPr indent="0" marL="0">
              <a:buNone/>
            </a:pPr>
            <a:r>
              <a:rPr lang="en-US" sz="1400" dirty="0">
                <a:solidFill>
                  <a:schemeClr val="tx1"/>
                </a:solidFill>
              </a:rPr>
              <a:t>Latin letters with one or two stacked marks on almost every syllable; drop or swap one and it's another word.</a:t>
            </a:r>
            <a:endParaRPr lang="en-US" sz="1400" dirty="0"/>
          </a:p>
        </p:txBody>
      </p:sp>
      <p:sp>
        <p:nvSpPr>
          <p:cNvPr id="15" name="Shape 12"/>
          <p:cNvSpPr/>
          <p:nvPr/>
        </p:nvSpPr>
        <p:spPr>
          <a:xfrm>
            <a:off x="8899855" y="1426464"/>
            <a:ext cx="2615184" cy="1216152"/>
          </a:xfrm>
          <a:prstGeom prst="roundRect">
            <a:avLst>
              <a:gd name="adj" fmla="val 4511"/>
            </a:avLst>
          </a:prstGeom>
          <a:solidFill>
            <a:schemeClr val="bg1"/>
          </a:solidFill>
          <a:ln/>
        </p:spPr>
      </p:sp>
      <p:sp>
        <p:nvSpPr>
          <p:cNvPr id="16" name="Text 13"/>
          <p:cNvSpPr txBox="1"/>
          <p:nvPr/>
        </p:nvSpPr>
        <p:spPr>
          <a:xfrm>
            <a:off x="9046159" y="1444752"/>
            <a:ext cx="2340864" cy="420624"/>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 3×</a:t>
            </a:r>
            <a:endParaRPr lang="en-US" sz="2300" dirty="0"/>
          </a:p>
        </p:txBody>
      </p:sp>
      <p:sp>
        <p:nvSpPr>
          <p:cNvPr id="17" name="Text 14"/>
          <p:cNvSpPr txBox="1"/>
          <p:nvPr/>
        </p:nvSpPr>
        <p:spPr>
          <a:xfrm>
            <a:off x="9046159" y="1874520"/>
            <a:ext cx="2340864" cy="548640"/>
          </a:xfrm>
          <a:prstGeom prst="rect">
            <a:avLst/>
          </a:prstGeom>
          <a:noFill/>
          <a:ln/>
        </p:spPr>
        <p:txBody>
          <a:bodyPr wrap="square" lIns="0" tIns="0" rIns="0" bIns="0" rtlCol="0" anchor="t"/>
          <a:lstStyle/>
          <a:p>
            <a:pPr indent="0" marL="0">
              <a:buNone/>
            </a:pPr>
            <a:r>
              <a:rPr lang="en-US" sz="1050" dirty="0">
                <a:solidFill>
                  <a:schemeClr val="tx1"/>
                </a:solidFill>
              </a:rPr>
              <a:t>average text error vs English (0.30 vs 0.10); the best reader is close to English</a:t>
            </a:r>
            <a:endParaRPr lang="en-US" sz="1050" dirty="0"/>
          </a:p>
        </p:txBody>
      </p:sp>
      <p:sp>
        <p:nvSpPr>
          <p:cNvPr id="18" name="Text 15"/>
          <p:cNvSpPr txBox="1"/>
          <p:nvPr/>
        </p:nvSpPr>
        <p:spPr>
          <a:xfrm>
            <a:off x="9046159" y="2404872"/>
            <a:ext cx="2340864" cy="201168"/>
          </a:xfrm>
          <a:prstGeom prst="rect">
            <a:avLst/>
          </a:prstGeom>
          <a:noFill/>
          <a:ln/>
        </p:spPr>
        <p:txBody>
          <a:bodyPr wrap="square" lIns="0" tIns="0" rIns="0" bIns="0" rtlCol="0" anchor="t"/>
          <a:lstStyle/>
          <a:p>
            <a:pPr indent="0" marL="0">
              <a:buNone/>
            </a:pPr>
            <a:r>
              <a:rPr lang="en-US" sz="850" dirty="0">
                <a:solidFill>
                  <a:schemeClr val="accent3"/>
                </a:solidFill>
              </a:rPr>
              <a:t>SEA-Vision, 2026</a:t>
            </a:r>
            <a:endParaRPr lang="en-US" sz="850" dirty="0"/>
          </a:p>
        </p:txBody>
      </p:sp>
      <p:sp>
        <p:nvSpPr>
          <p:cNvPr id="19" name="card"/>
          <p:cNvSpPr/>
          <p:nvPr/>
        </p:nvSpPr>
        <p:spPr>
          <a:xfrm>
            <a:off x="4754880" y="2862072"/>
            <a:ext cx="6888175" cy="1417320"/>
          </a:xfrm>
          <a:prstGeom prst="roundRect">
            <a:avLst>
              <a:gd name="adj" fmla="val 5161"/>
            </a:avLst>
          </a:prstGeom>
          <a:solidFill>
            <a:schemeClr val="bg2"/>
          </a:solidFill>
          <a:ln/>
        </p:spPr>
      </p:sp>
      <p:pic>
        <p:nvPicPr>
          <p:cNvPr id="20" name="Image 1" descr="preencoded.png">    </p:cNvPr>
          <p:cNvPicPr>
            <a:picLocks noChangeAspect="1"/>
          </p:cNvPicPr>
          <p:nvPr/>
        </p:nvPicPr>
        <p:blipFill>
          <a:blip r:embed="rId2"/>
          <a:stretch>
            <a:fillRect/>
          </a:stretch>
        </p:blipFill>
        <p:spPr>
          <a:xfrm>
            <a:off x="4983480" y="3044952"/>
            <a:ext cx="292608" cy="292608"/>
          </a:xfrm>
          <a:prstGeom prst="rect">
            <a:avLst/>
          </a:prstGeom>
        </p:spPr>
      </p:pic>
      <p:sp>
        <p:nvSpPr>
          <p:cNvPr id="21" name="Text 17"/>
          <p:cNvSpPr txBox="1"/>
          <p:nvPr/>
        </p:nvSpPr>
        <p:spPr>
          <a:xfrm>
            <a:off x="5376672" y="3008376"/>
            <a:ext cx="3200400" cy="365760"/>
          </a:xfrm>
          <a:prstGeom prst="rect">
            <a:avLst/>
          </a:prstGeom>
          <a:noFill/>
          <a:ln/>
        </p:spPr>
        <p:txBody>
          <a:bodyPr wrap="square" lIns="0" tIns="0" rIns="0" bIns="0" rtlCol="0" anchor="ctr"/>
          <a:lstStyle/>
          <a:p>
            <a:pPr indent="0" marL="0">
              <a:buNone/>
            </a:pPr>
            <a:r>
              <a:rPr lang="en-US" sz="1300" b="1" dirty="0">
                <a:solidFill>
                  <a:schemeClr val="accent1"/>
                </a:solidFill>
              </a:rPr>
              <a:t>Translating breaks on</a:t>
            </a:r>
            <a:endParaRPr lang="en-US" sz="1300" dirty="0"/>
          </a:p>
        </p:txBody>
      </p:sp>
      <p:sp>
        <p:nvSpPr>
          <p:cNvPr id="22" name="Text 18"/>
          <p:cNvSpPr txBox="1"/>
          <p:nvPr/>
        </p:nvSpPr>
        <p:spPr>
          <a:xfrm>
            <a:off x="4983480" y="3429000"/>
            <a:ext cx="3733495" cy="804672"/>
          </a:xfrm>
          <a:prstGeom prst="rect">
            <a:avLst/>
          </a:prstGeom>
          <a:noFill/>
          <a:ln/>
        </p:spPr>
        <p:txBody>
          <a:bodyPr wrap="square" lIns="0" tIns="0" rIns="0" bIns="0" rtlCol="0" anchor="t"/>
          <a:lstStyle/>
          <a:p>
            <a:pPr indent="0" marL="0">
              <a:buNone/>
            </a:pPr>
            <a:r>
              <a:rPr lang="en-US" sz="1400" dirty="0">
                <a:solidFill>
                  <a:schemeClr val="tx1"/>
                </a:solidFill>
              </a:rPr>
              <a:t>Text typed without marks is ambiguous; pronouns are family words (anh, chị, em) that English flattens to “you”.</a:t>
            </a:r>
            <a:endParaRPr lang="en-US" sz="1400" dirty="0"/>
          </a:p>
        </p:txBody>
      </p:sp>
      <p:sp>
        <p:nvSpPr>
          <p:cNvPr id="23" name="Shape 19"/>
          <p:cNvSpPr/>
          <p:nvPr/>
        </p:nvSpPr>
        <p:spPr>
          <a:xfrm>
            <a:off x="8899855" y="2962656"/>
            <a:ext cx="2615184" cy="1216152"/>
          </a:xfrm>
          <a:prstGeom prst="roundRect">
            <a:avLst>
              <a:gd name="adj" fmla="val 4511"/>
            </a:avLst>
          </a:prstGeom>
          <a:solidFill>
            <a:schemeClr val="bg1"/>
          </a:solidFill>
          <a:ln/>
        </p:spPr>
      </p:sp>
      <p:sp>
        <p:nvSpPr>
          <p:cNvPr id="24" name="Text 20"/>
          <p:cNvSpPr txBox="1"/>
          <p:nvPr/>
        </p:nvSpPr>
        <p:spPr>
          <a:xfrm>
            <a:off x="9046159" y="2980944"/>
            <a:ext cx="2340864" cy="420624"/>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77.5%</a:t>
            </a:r>
            <a:endParaRPr lang="en-US" sz="2300" dirty="0"/>
          </a:p>
        </p:txBody>
      </p:sp>
      <p:sp>
        <p:nvSpPr>
          <p:cNvPr id="25" name="Text 21"/>
          <p:cNvSpPr txBox="1"/>
          <p:nvPr/>
        </p:nvSpPr>
        <p:spPr>
          <a:xfrm>
            <a:off x="9046159" y="3410712"/>
            <a:ext cx="2340864" cy="548640"/>
          </a:xfrm>
          <a:prstGeom prst="rect">
            <a:avLst/>
          </a:prstGeom>
          <a:noFill/>
          <a:ln/>
        </p:spPr>
        <p:txBody>
          <a:bodyPr wrap="square" lIns="0" tIns="0" rIns="0" bIns="0" rtlCol="0" anchor="t"/>
          <a:lstStyle/>
          <a:p>
            <a:pPr indent="0" marL="0">
              <a:buNone/>
            </a:pPr>
            <a:r>
              <a:rPr lang="en-US" sz="1050" dirty="0">
                <a:solidFill>
                  <a:schemeClr val="tx1"/>
                </a:solidFill>
              </a:rPr>
              <a:t>of emergency instructions kept their meaning via Google Translate (Spanish 94%)</a:t>
            </a:r>
            <a:endParaRPr lang="en-US" sz="1050" dirty="0"/>
          </a:p>
        </p:txBody>
      </p:sp>
      <p:sp>
        <p:nvSpPr>
          <p:cNvPr id="26" name="Text 22"/>
          <p:cNvSpPr txBox="1"/>
          <p:nvPr/>
        </p:nvSpPr>
        <p:spPr>
          <a:xfrm>
            <a:off x="9046159" y="3941064"/>
            <a:ext cx="2340864" cy="201168"/>
          </a:xfrm>
          <a:prstGeom prst="rect">
            <a:avLst/>
          </a:prstGeom>
          <a:noFill/>
          <a:ln/>
        </p:spPr>
        <p:txBody>
          <a:bodyPr wrap="square" lIns="0" tIns="0" rIns="0" bIns="0" rtlCol="0" anchor="t"/>
          <a:lstStyle/>
          <a:p>
            <a:pPr indent="0" marL="0">
              <a:buNone/>
            </a:pPr>
            <a:r>
              <a:rPr lang="en-US" sz="850" dirty="0">
                <a:solidFill>
                  <a:schemeClr val="accent3"/>
                </a:solidFill>
              </a:rPr>
              <a:t>Taira et al., J Gen Intern Med 2021</a:t>
            </a:r>
            <a:endParaRPr lang="en-US" sz="850" dirty="0"/>
          </a:p>
        </p:txBody>
      </p:sp>
      <p:sp>
        <p:nvSpPr>
          <p:cNvPr id="27" name="card"/>
          <p:cNvSpPr/>
          <p:nvPr/>
        </p:nvSpPr>
        <p:spPr>
          <a:xfrm>
            <a:off x="4754880" y="4398264"/>
            <a:ext cx="6888175" cy="1591056"/>
          </a:xfrm>
          <a:prstGeom prst="roundRect">
            <a:avLst>
              <a:gd name="adj" fmla="val 4598"/>
            </a:avLst>
          </a:prstGeom>
          <a:solidFill>
            <a:srgbClr val="FBEDEA"/>
          </a:solidFill>
          <a:ln/>
        </p:spPr>
      </p:sp>
      <p:sp>
        <p:nvSpPr>
          <p:cNvPr id="28" name="Text 24"/>
          <p:cNvSpPr txBox="1"/>
          <p:nvPr/>
        </p:nvSpPr>
        <p:spPr>
          <a:xfrm>
            <a:off x="4983480" y="4507992"/>
            <a:ext cx="6430975" cy="292608"/>
          </a:xfrm>
          <a:prstGeom prst="rect">
            <a:avLst/>
          </a:prstGeom>
          <a:noFill/>
          <a:ln/>
        </p:spPr>
        <p:txBody>
          <a:bodyPr wrap="square" lIns="0" tIns="0" rIns="0" bIns="0" rtlCol="0" anchor="t"/>
          <a:lstStyle/>
          <a:p>
            <a:pPr indent="0" marL="0">
              <a:buNone/>
            </a:pPr>
            <a:r>
              <a:rPr lang="en-US" sz="1300" b="1" dirty="0">
                <a:solidFill>
                  <a:schemeClr val="accent1"/>
                </a:solidFill>
              </a:rPr>
              <a:t>In the real world</a:t>
            </a:r>
            <a:endParaRPr lang="en-US" sz="1300" dirty="0"/>
          </a:p>
        </p:txBody>
      </p:sp>
      <p:sp>
        <p:nvSpPr>
          <p:cNvPr id="29" name="Text 25"/>
          <p:cNvSpPr txBox="1"/>
          <p:nvPr/>
        </p:nvSpPr>
        <p:spPr>
          <a:xfrm>
            <a:off x="4983480" y="4809744"/>
            <a:ext cx="6430975" cy="877824"/>
          </a:xfrm>
          <a:prstGeom prst="rect">
            <a:avLst/>
          </a:prstGeom>
          <a:noFill/>
          <a:ln/>
        </p:spPr>
        <p:txBody>
          <a:bodyPr wrap="square" lIns="0" tIns="0" rIns="0" bIns="0" rtlCol="0" anchor="t"/>
          <a:lstStyle/>
          <a:p>
            <a:pPr indent="0" marL="0">
              <a:buNone/>
            </a:pPr>
            <a:r>
              <a:rPr lang="en-US" sz="1450" dirty="0">
                <a:solidFill>
                  <a:schemeClr val="tx1"/>
                </a:solidFill>
              </a:rPr>
              <a:t>At a children's hospital, 41% of Vietnamese discharge-note sections from an AI translator had an error that could affect care. Professional translators: 14%.</a:t>
            </a:r>
            <a:endParaRPr lang="en-US" sz="1450" dirty="0"/>
          </a:p>
        </p:txBody>
      </p:sp>
      <p:sp>
        <p:nvSpPr>
          <p:cNvPr id="30" name="Text 26"/>
          <p:cNvSpPr txBox="1"/>
          <p:nvPr/>
        </p:nvSpPr>
        <p:spPr>
          <a:xfrm>
            <a:off x="4983480" y="5696712"/>
            <a:ext cx="6430975" cy="219456"/>
          </a:xfrm>
          <a:prstGeom prst="rect">
            <a:avLst/>
          </a:prstGeom>
          <a:noFill/>
          <a:ln/>
        </p:spPr>
        <p:txBody>
          <a:bodyPr wrap="square" lIns="0" tIns="0" rIns="0" bIns="0" rtlCol="0" anchor="t"/>
          <a:lstStyle/>
          <a:p>
            <a:pPr indent="0" marL="0">
              <a:buNone/>
            </a:pPr>
            <a:r>
              <a:rPr lang="en-US" sz="900" dirty="0">
                <a:solidFill>
                  <a:schemeClr val="accent3"/>
                </a:solidFill>
              </a:rPr>
              <a:t>Martos et al., JAMA Network Open 2025</a:t>
            </a:r>
            <a:endParaRPr lang="en-US" sz="9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Thai, Lao, Khmer, Burmese: no spaces, little data</a:t>
            </a:r>
            <a:endParaRPr lang="en-US" sz="3200" dirty="0"/>
          </a:p>
        </p:txBody>
      </p:sp>
      <p:sp>
        <p:nvSpPr>
          <p:cNvPr id="3" name="card"/>
          <p:cNvSpPr/>
          <p:nvPr/>
        </p:nvSpPr>
        <p:spPr>
          <a:xfrm>
            <a:off x="548640" y="1325880"/>
            <a:ext cx="3931920" cy="4663440"/>
          </a:xfrm>
          <a:prstGeom prst="roundRect">
            <a:avLst>
              <a:gd name="adj" fmla="val 1860"/>
            </a:avLst>
          </a:prstGeom>
          <a:solidFill>
            <a:schemeClr val="tx1"/>
          </a:solidFill>
          <a:ln/>
        </p:spPr>
      </p:sp>
      <p:sp>
        <p:nvSpPr>
          <p:cNvPr id="4" name="Text 2"/>
          <p:cNvSpPr txBox="1"/>
          <p:nvPr/>
        </p:nvSpPr>
        <p:spPr>
          <a:xfrm>
            <a:off x="868680" y="1527048"/>
            <a:ext cx="3291840" cy="731520"/>
          </a:xfrm>
          <a:prstGeom prst="rect">
            <a:avLst/>
          </a:prstGeom>
          <a:noFill/>
          <a:ln/>
        </p:spPr>
        <p:txBody>
          <a:bodyPr wrap="square" lIns="0" tIns="0" rIns="0" bIns="0" rtlCol="0" anchor="ctr"/>
          <a:lstStyle/>
          <a:p>
            <a:pPr indent="0" marL="0">
              <a:buNone/>
            </a:pPr>
            <a:r>
              <a:rPr lang="en-US" sz="2400" b="1" dirty="0">
                <a:solidFill>
                  <a:schemeClr val="bg1"/>
                </a:solidFill>
                <a:latin typeface="Thonburi" pitchFamily="34" charset="0"/>
                <a:ea typeface="Thonburi" pitchFamily="34" charset="-122"/>
                <a:cs typeface="Thonburi" pitchFamily="34" charset="-120"/>
              </a:rPr>
              <a:t>ไทย · </a:t>
            </a:r>
            <a:pPr indent="0" marL="0">
              <a:buNone/>
            </a:pPr>
            <a:r>
              <a:rPr lang="en-US" sz="2400" b="1" dirty="0">
                <a:solidFill>
                  <a:schemeClr val="bg1"/>
                </a:solidFill>
                <a:latin typeface="Lao Sangam MN" pitchFamily="34" charset="0"/>
                <a:ea typeface="Lao Sangam MN" pitchFamily="34" charset="-122"/>
                <a:cs typeface="Lao Sangam MN" pitchFamily="34" charset="-120"/>
              </a:rPr>
              <a:t>ລາວ · </a:t>
            </a:r>
            <a:pPr indent="0" marL="0">
              <a:buNone/>
            </a:pPr>
            <a:r>
              <a:rPr lang="en-US" sz="2400" b="1" dirty="0">
                <a:solidFill>
                  <a:schemeClr val="bg1"/>
                </a:solidFill>
                <a:latin typeface="Khmer Sangam MN" pitchFamily="34" charset="0"/>
                <a:ea typeface="Khmer Sangam MN" pitchFamily="34" charset="-122"/>
                <a:cs typeface="Khmer Sangam MN" pitchFamily="34" charset="-120"/>
              </a:rPr>
              <a:t>ខ្មែរ · </a:t>
            </a:r>
            <a:pPr indent="0" marL="0">
              <a:buNone/>
            </a:pPr>
            <a:r>
              <a:rPr lang="en-US" sz="2400" b="1" dirty="0">
                <a:solidFill>
                  <a:schemeClr val="bg1"/>
                </a:solidFill>
                <a:latin typeface="Myanmar Sangam MN" pitchFamily="34" charset="0"/>
                <a:ea typeface="Myanmar Sangam MN" pitchFamily="34" charset="-122"/>
                <a:cs typeface="Myanmar Sangam MN" pitchFamily="34" charset="-120"/>
              </a:rPr>
              <a:t>မြန်မာ</a:t>
            </a:r>
            <a:endParaRPr lang="en-US" sz="2400" dirty="0"/>
          </a:p>
        </p:txBody>
      </p:sp>
      <p:sp>
        <p:nvSpPr>
          <p:cNvPr id="5" name="Text 3"/>
          <p:cNvSpPr txBox="1"/>
          <p:nvPr/>
        </p:nvSpPr>
        <p:spPr>
          <a:xfrm>
            <a:off x="868680" y="2276856"/>
            <a:ext cx="3291840" cy="292608"/>
          </a:xfrm>
          <a:prstGeom prst="rect">
            <a:avLst/>
          </a:prstGeom>
          <a:noFill/>
          <a:ln/>
        </p:spPr>
        <p:txBody>
          <a:bodyPr wrap="square" lIns="0" tIns="0" rIns="0" bIns="0" rtlCol="0" anchor="t"/>
          <a:lstStyle/>
          <a:p>
            <a:pPr indent="0" marL="0">
              <a:buNone/>
            </a:pPr>
            <a:r>
              <a:rPr lang="en-US" sz="1300" b="1" dirty="0">
                <a:solidFill>
                  <a:srgbClr val="AEB6C6"/>
                </a:solidFill>
              </a:rPr>
              <a:t>Thai · Lao · Khmer · Burmese</a:t>
            </a:r>
            <a:endParaRPr lang="en-US" sz="1300" dirty="0"/>
          </a:p>
        </p:txBody>
      </p:sp>
      <p:sp>
        <p:nvSpPr>
          <p:cNvPr id="6" name="Shape 4"/>
          <p:cNvSpPr/>
          <p:nvPr/>
        </p:nvSpPr>
        <p:spPr>
          <a:xfrm>
            <a:off x="868680" y="2679192"/>
            <a:ext cx="3291840" cy="0"/>
          </a:xfrm>
          <a:prstGeom prst="line">
            <a:avLst/>
          </a:prstGeom>
          <a:noFill/>
          <a:ln w="12700">
            <a:solidFill>
              <a:srgbClr val="46506A"/>
            </a:solidFill>
            <a:prstDash val="solid"/>
          </a:ln>
        </p:spPr>
      </p:sp>
      <p:sp>
        <p:nvSpPr>
          <p:cNvPr id="7" name="Text 5"/>
          <p:cNvSpPr txBox="1"/>
          <p:nvPr/>
        </p:nvSpPr>
        <p:spPr>
          <a:xfrm>
            <a:off x="868680" y="2788920"/>
            <a:ext cx="3291840" cy="658368"/>
          </a:xfrm>
          <a:prstGeom prst="rect">
            <a:avLst/>
          </a:prstGeom>
          <a:noFill/>
          <a:ln/>
        </p:spPr>
        <p:txBody>
          <a:bodyPr wrap="square" lIns="0" tIns="0" rIns="0" bIns="0" rtlCol="0" anchor="b"/>
          <a:lstStyle/>
          <a:p>
            <a:pPr indent="0" marL="0">
              <a:buNone/>
            </a:pPr>
            <a:r>
              <a:rPr lang="en-US" sz="3000" b="1" dirty="0">
                <a:solidFill>
                  <a:schemeClr val="bg1"/>
                </a:solidFill>
                <a:latin typeface="Thonburi" pitchFamily="34" charset="0"/>
                <a:ea typeface="Thonburi" pitchFamily="34" charset="-122"/>
                <a:cs typeface="Thonburi" pitchFamily="34" charset="-120"/>
              </a:rPr>
              <a:t>ขาว · ข่าว · ข้าว</a:t>
            </a:r>
            <a:endParaRPr lang="en-US" sz="3000" dirty="0"/>
          </a:p>
        </p:txBody>
      </p:sp>
      <p:sp>
        <p:nvSpPr>
          <p:cNvPr id="8" name="Text 6"/>
          <p:cNvSpPr txBox="1"/>
          <p:nvPr/>
        </p:nvSpPr>
        <p:spPr>
          <a:xfrm>
            <a:off x="868680" y="3483864"/>
            <a:ext cx="3291840" cy="800100"/>
          </a:xfrm>
          <a:prstGeom prst="rect">
            <a:avLst/>
          </a:prstGeom>
          <a:noFill/>
          <a:ln/>
        </p:spPr>
        <p:txBody>
          <a:bodyPr wrap="square" lIns="0" tIns="0" rIns="0" bIns="0" rtlCol="0" anchor="t"/>
          <a:lstStyle/>
          <a:p>
            <a:pPr indent="0" marL="0">
              <a:buNone/>
            </a:pPr>
            <a:r>
              <a:rPr lang="en-US" sz="1200" dirty="0">
                <a:solidFill>
                  <a:srgbClr val="AEB6C6"/>
                </a:solidFill>
              </a:rPr>
              <a:t>“white” · “news” · “rice”: one tone mark apart</a:t>
            </a:r>
            <a:endParaRPr lang="en-US" sz="1200" dirty="0"/>
          </a:p>
        </p:txBody>
      </p:sp>
      <p:sp>
        <p:nvSpPr>
          <p:cNvPr id="9" name="Text 7"/>
          <p:cNvSpPr txBox="1"/>
          <p:nvPr/>
        </p:nvSpPr>
        <p:spPr>
          <a:xfrm>
            <a:off x="868680" y="4320540"/>
            <a:ext cx="3291840" cy="658368"/>
          </a:xfrm>
          <a:prstGeom prst="rect">
            <a:avLst/>
          </a:prstGeom>
          <a:noFill/>
          <a:ln/>
        </p:spPr>
        <p:txBody>
          <a:bodyPr wrap="square" lIns="0" tIns="0" rIns="0" bIns="0" rtlCol="0" anchor="b"/>
          <a:lstStyle/>
          <a:p>
            <a:pPr indent="0" marL="0">
              <a:buNone/>
            </a:pPr>
            <a:r>
              <a:rPr lang="en-US" sz="3000" b="1" dirty="0">
                <a:solidFill>
                  <a:schemeClr val="bg1"/>
                </a:solidFill>
                <a:latin typeface="Thonburi" pitchFamily="34" charset="0"/>
                <a:ea typeface="Thonburi" pitchFamily="34" charset="-122"/>
                <a:cs typeface="Thonburi" pitchFamily="34" charset="-120"/>
              </a:rPr>
              <a:t>ตากลม</a:t>
            </a:r>
            <a:endParaRPr lang="en-US" sz="3000" dirty="0"/>
          </a:p>
        </p:txBody>
      </p:sp>
      <p:sp>
        <p:nvSpPr>
          <p:cNvPr id="10" name="Text 8"/>
          <p:cNvSpPr txBox="1"/>
          <p:nvPr/>
        </p:nvSpPr>
        <p:spPr>
          <a:xfrm>
            <a:off x="868680" y="5015484"/>
            <a:ext cx="3291840" cy="800100"/>
          </a:xfrm>
          <a:prstGeom prst="rect">
            <a:avLst/>
          </a:prstGeom>
          <a:noFill/>
          <a:ln/>
        </p:spPr>
        <p:txBody>
          <a:bodyPr wrap="square" lIns="0" tIns="0" rIns="0" bIns="0" rtlCol="0" anchor="t"/>
          <a:lstStyle/>
          <a:p>
            <a:pPr indent="0" marL="0">
              <a:buNone/>
            </a:pPr>
            <a:r>
              <a:rPr lang="en-US" sz="1200" dirty="0">
                <a:solidFill>
                  <a:srgbClr val="AEB6C6"/>
                </a:solidFill>
                <a:latin typeface="Thonburi" pitchFamily="34" charset="0"/>
                <a:ea typeface="Thonburi" pitchFamily="34" charset="-122"/>
                <a:cs typeface="Thonburi" pitchFamily="34" charset="-120"/>
              </a:rPr>
              <a:t>ตาก-ลม </a:t>
            </a:r>
            <a:pPr indent="0" marL="0">
              <a:buNone/>
            </a:pPr>
            <a:r>
              <a:rPr lang="en-US" sz="1200" dirty="0">
                <a:solidFill>
                  <a:srgbClr val="AEB6C6"/>
                </a:solidFill>
              </a:rPr>
              <a:t>“air-dry” or </a:t>
            </a:r>
            <a:pPr indent="0" marL="0">
              <a:buNone/>
            </a:pPr>
            <a:r>
              <a:rPr lang="en-US" sz="1200" dirty="0">
                <a:solidFill>
                  <a:srgbClr val="AEB6C6"/>
                </a:solidFill>
                <a:latin typeface="Thonburi" pitchFamily="34" charset="0"/>
                <a:ea typeface="Thonburi" pitchFamily="34" charset="-122"/>
                <a:cs typeface="Thonburi" pitchFamily="34" charset="-120"/>
              </a:rPr>
              <a:t>ตา-กลม </a:t>
            </a:r>
            <a:pPr indent="0" marL="0">
              <a:buNone/>
            </a:pPr>
            <a:r>
              <a:rPr lang="en-US" sz="1200" dirty="0">
                <a:solidFill>
                  <a:srgbClr val="AEB6C6"/>
                </a:solidFill>
              </a:rPr>
              <a:t>“round eyes”: where does the word end?</a:t>
            </a:r>
            <a:endParaRPr lang="en-US" sz="1200" dirty="0"/>
          </a:p>
        </p:txBody>
      </p:sp>
      <p:sp>
        <p:nvSpPr>
          <p:cNvPr id="11" name="card"/>
          <p:cNvSpPr/>
          <p:nvPr/>
        </p:nvSpPr>
        <p:spPr>
          <a:xfrm>
            <a:off x="4754880" y="1325880"/>
            <a:ext cx="6888175" cy="1417320"/>
          </a:xfrm>
          <a:prstGeom prst="roundRect">
            <a:avLst>
              <a:gd name="adj" fmla="val 5161"/>
            </a:avLst>
          </a:prstGeom>
          <a:solidFill>
            <a:schemeClr val="bg2"/>
          </a:solidFill>
          <a:ln/>
        </p:spPr>
      </p:sp>
      <p:pic>
        <p:nvPicPr>
          <p:cNvPr id="12" name="Image 0" descr="preencoded.png">    </p:cNvPr>
          <p:cNvPicPr>
            <a:picLocks noChangeAspect="1"/>
          </p:cNvPicPr>
          <p:nvPr/>
        </p:nvPicPr>
        <p:blipFill>
          <a:blip r:embed="rId1"/>
          <a:stretch>
            <a:fillRect/>
          </a:stretch>
        </p:blipFill>
        <p:spPr>
          <a:xfrm>
            <a:off x="4983480" y="1508760"/>
            <a:ext cx="292608" cy="292608"/>
          </a:xfrm>
          <a:prstGeom prst="rect">
            <a:avLst/>
          </a:prstGeom>
        </p:spPr>
      </p:pic>
      <p:sp>
        <p:nvSpPr>
          <p:cNvPr id="13" name="Text 10"/>
          <p:cNvSpPr txBox="1"/>
          <p:nvPr/>
        </p:nvSpPr>
        <p:spPr>
          <a:xfrm>
            <a:off x="5376672" y="1472184"/>
            <a:ext cx="3200400" cy="365760"/>
          </a:xfrm>
          <a:prstGeom prst="rect">
            <a:avLst/>
          </a:prstGeom>
          <a:noFill/>
          <a:ln/>
        </p:spPr>
        <p:txBody>
          <a:bodyPr wrap="square" lIns="0" tIns="0" rIns="0" bIns="0" rtlCol="0" anchor="ctr"/>
          <a:lstStyle/>
          <a:p>
            <a:pPr indent="0" marL="0">
              <a:buNone/>
            </a:pPr>
            <a:r>
              <a:rPr lang="en-US" sz="1300" b="1" dirty="0">
                <a:solidFill>
                  <a:schemeClr val="accent2"/>
                </a:solidFill>
              </a:rPr>
              <a:t>Reading breaks on</a:t>
            </a:r>
            <a:endParaRPr lang="en-US" sz="1300" dirty="0"/>
          </a:p>
        </p:txBody>
      </p:sp>
      <p:sp>
        <p:nvSpPr>
          <p:cNvPr id="14" name="Text 11"/>
          <p:cNvSpPr txBox="1"/>
          <p:nvPr/>
        </p:nvSpPr>
        <p:spPr>
          <a:xfrm>
            <a:off x="4983480" y="1892808"/>
            <a:ext cx="3733495" cy="804672"/>
          </a:xfrm>
          <a:prstGeom prst="rect">
            <a:avLst/>
          </a:prstGeom>
          <a:noFill/>
          <a:ln/>
        </p:spPr>
        <p:txBody>
          <a:bodyPr wrap="square" lIns="0" tIns="0" rIns="0" bIns="0" rtlCol="0" anchor="t"/>
          <a:lstStyle/>
          <a:p>
            <a:pPr indent="0" marL="0">
              <a:buNone/>
            </a:pPr>
            <a:r>
              <a:rPr lang="en-US" sz="1400" dirty="0">
                <a:solidFill>
                  <a:schemeClr val="tx1"/>
                </a:solidFill>
              </a:rPr>
              <a:t>No spaces between words; vowels and tone marks above and below; Khmer and Burmese stack letters under letters.</a:t>
            </a:r>
            <a:endParaRPr lang="en-US" sz="1400" dirty="0"/>
          </a:p>
        </p:txBody>
      </p:sp>
      <p:sp>
        <p:nvSpPr>
          <p:cNvPr id="15" name="Shape 12"/>
          <p:cNvSpPr/>
          <p:nvPr/>
        </p:nvSpPr>
        <p:spPr>
          <a:xfrm>
            <a:off x="8899855" y="1426464"/>
            <a:ext cx="2615184" cy="1216152"/>
          </a:xfrm>
          <a:prstGeom prst="roundRect">
            <a:avLst>
              <a:gd name="adj" fmla="val 4511"/>
            </a:avLst>
          </a:prstGeom>
          <a:solidFill>
            <a:schemeClr val="bg1"/>
          </a:solidFill>
          <a:ln/>
        </p:spPr>
      </p:sp>
      <p:sp>
        <p:nvSpPr>
          <p:cNvPr id="16" name="Text 13"/>
          <p:cNvSpPr txBox="1"/>
          <p:nvPr/>
        </p:nvSpPr>
        <p:spPr>
          <a:xfrm>
            <a:off x="9046159" y="1444752"/>
            <a:ext cx="2340864" cy="420624"/>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0.17 vs 0.64</a:t>
            </a:r>
            <a:endParaRPr lang="en-US" sz="1800" dirty="0"/>
          </a:p>
        </p:txBody>
      </p:sp>
      <p:sp>
        <p:nvSpPr>
          <p:cNvPr id="17" name="Text 14"/>
          <p:cNvSpPr txBox="1"/>
          <p:nvPr/>
        </p:nvSpPr>
        <p:spPr>
          <a:xfrm>
            <a:off x="9046159" y="1874520"/>
            <a:ext cx="2340864" cy="548640"/>
          </a:xfrm>
          <a:prstGeom prst="rect">
            <a:avLst/>
          </a:prstGeom>
          <a:noFill/>
          <a:ln/>
        </p:spPr>
        <p:txBody>
          <a:bodyPr wrap="square" lIns="0" tIns="0" rIns="0" bIns="0" rtlCol="0" anchor="t"/>
          <a:lstStyle/>
          <a:p>
            <a:pPr indent="0" marL="0">
              <a:buNone/>
            </a:pPr>
            <a:r>
              <a:rPr lang="en-US" sz="1050" dirty="0">
                <a:solidFill>
                  <a:schemeClr val="tx1"/>
                </a:solidFill>
              </a:rPr>
              <a:t>average page error of 13 readers: English vs Khmer (Lao 0.58, Burmese 0.48)</a:t>
            </a:r>
            <a:endParaRPr lang="en-US" sz="1050" dirty="0"/>
          </a:p>
        </p:txBody>
      </p:sp>
      <p:sp>
        <p:nvSpPr>
          <p:cNvPr id="18" name="Text 15"/>
          <p:cNvSpPr txBox="1"/>
          <p:nvPr/>
        </p:nvSpPr>
        <p:spPr>
          <a:xfrm>
            <a:off x="9046159" y="2404872"/>
            <a:ext cx="2340864" cy="201168"/>
          </a:xfrm>
          <a:prstGeom prst="rect">
            <a:avLst/>
          </a:prstGeom>
          <a:noFill/>
          <a:ln/>
        </p:spPr>
        <p:txBody>
          <a:bodyPr wrap="square" lIns="0" tIns="0" rIns="0" bIns="0" rtlCol="0" anchor="t"/>
          <a:lstStyle/>
          <a:p>
            <a:pPr indent="0" marL="0">
              <a:buNone/>
            </a:pPr>
            <a:r>
              <a:rPr lang="en-US" sz="850" dirty="0">
                <a:solidFill>
                  <a:schemeClr val="accent3"/>
                </a:solidFill>
              </a:rPr>
              <a:t>SEA-Vision, 2026</a:t>
            </a:r>
            <a:endParaRPr lang="en-US" sz="850" dirty="0"/>
          </a:p>
        </p:txBody>
      </p:sp>
      <p:sp>
        <p:nvSpPr>
          <p:cNvPr id="19" name="card"/>
          <p:cNvSpPr/>
          <p:nvPr/>
        </p:nvSpPr>
        <p:spPr>
          <a:xfrm>
            <a:off x="4754880" y="2862072"/>
            <a:ext cx="6888175" cy="1417320"/>
          </a:xfrm>
          <a:prstGeom prst="roundRect">
            <a:avLst>
              <a:gd name="adj" fmla="val 5161"/>
            </a:avLst>
          </a:prstGeom>
          <a:solidFill>
            <a:schemeClr val="bg2"/>
          </a:solidFill>
          <a:ln/>
        </p:spPr>
      </p:sp>
      <p:pic>
        <p:nvPicPr>
          <p:cNvPr id="20" name="Image 1" descr="preencoded.png">    </p:cNvPr>
          <p:cNvPicPr>
            <a:picLocks noChangeAspect="1"/>
          </p:cNvPicPr>
          <p:nvPr/>
        </p:nvPicPr>
        <p:blipFill>
          <a:blip r:embed="rId2"/>
          <a:stretch>
            <a:fillRect/>
          </a:stretch>
        </p:blipFill>
        <p:spPr>
          <a:xfrm>
            <a:off x="4983480" y="3044952"/>
            <a:ext cx="292608" cy="292608"/>
          </a:xfrm>
          <a:prstGeom prst="rect">
            <a:avLst/>
          </a:prstGeom>
        </p:spPr>
      </p:pic>
      <p:sp>
        <p:nvSpPr>
          <p:cNvPr id="21" name="Text 17"/>
          <p:cNvSpPr txBox="1"/>
          <p:nvPr/>
        </p:nvSpPr>
        <p:spPr>
          <a:xfrm>
            <a:off x="5376672" y="3008376"/>
            <a:ext cx="3200400" cy="365760"/>
          </a:xfrm>
          <a:prstGeom prst="rect">
            <a:avLst/>
          </a:prstGeom>
          <a:noFill/>
          <a:ln/>
        </p:spPr>
        <p:txBody>
          <a:bodyPr wrap="square" lIns="0" tIns="0" rIns="0" bIns="0" rtlCol="0" anchor="ctr"/>
          <a:lstStyle/>
          <a:p>
            <a:pPr indent="0" marL="0">
              <a:buNone/>
            </a:pPr>
            <a:r>
              <a:rPr lang="en-US" sz="1300" b="1" dirty="0">
                <a:solidFill>
                  <a:schemeClr val="accent1"/>
                </a:solidFill>
              </a:rPr>
              <a:t>Translating breaks on</a:t>
            </a:r>
            <a:endParaRPr lang="en-US" sz="1300" dirty="0"/>
          </a:p>
        </p:txBody>
      </p:sp>
      <p:sp>
        <p:nvSpPr>
          <p:cNvPr id="22" name="Text 18"/>
          <p:cNvSpPr txBox="1"/>
          <p:nvPr/>
        </p:nvSpPr>
        <p:spPr>
          <a:xfrm>
            <a:off x="4983480" y="3429000"/>
            <a:ext cx="3733495" cy="804672"/>
          </a:xfrm>
          <a:prstGeom prst="rect">
            <a:avLst/>
          </a:prstGeom>
          <a:noFill/>
          <a:ln/>
        </p:spPr>
        <p:txBody>
          <a:bodyPr wrap="square" lIns="0" tIns="0" rIns="0" bIns="0" rtlCol="0" anchor="t"/>
          <a:lstStyle/>
          <a:p>
            <a:pPr indent="0" marL="0">
              <a:buNone/>
            </a:pPr>
            <a:r>
              <a:rPr lang="en-US" sz="1400" dirty="0">
                <a:solidFill>
                  <a:schemeClr val="tx1"/>
                </a:solidFill>
              </a:rPr>
              <a:t>Finding the word boundaries; pronouns that don't mark gender, so English has to guess.</a:t>
            </a:r>
            <a:endParaRPr lang="en-US" sz="1400" dirty="0"/>
          </a:p>
        </p:txBody>
      </p:sp>
      <p:sp>
        <p:nvSpPr>
          <p:cNvPr id="23" name="Shape 19"/>
          <p:cNvSpPr/>
          <p:nvPr/>
        </p:nvSpPr>
        <p:spPr>
          <a:xfrm>
            <a:off x="8899855" y="2962656"/>
            <a:ext cx="2615184" cy="1216152"/>
          </a:xfrm>
          <a:prstGeom prst="roundRect">
            <a:avLst>
              <a:gd name="adj" fmla="val 4511"/>
            </a:avLst>
          </a:prstGeom>
          <a:solidFill>
            <a:schemeClr val="bg1"/>
          </a:solidFill>
          <a:ln/>
        </p:spPr>
      </p:sp>
      <p:sp>
        <p:nvSpPr>
          <p:cNvPr id="24" name="Text 20"/>
          <p:cNvSpPr txBox="1"/>
          <p:nvPr/>
        </p:nvSpPr>
        <p:spPr>
          <a:xfrm>
            <a:off x="9046159" y="2980944"/>
            <a:ext cx="2340864" cy="420624"/>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35 of 50</a:t>
            </a:r>
            <a:endParaRPr lang="en-US" sz="2300" dirty="0"/>
          </a:p>
        </p:txBody>
      </p:sp>
      <p:sp>
        <p:nvSpPr>
          <p:cNvPr id="25" name="Text 21"/>
          <p:cNvSpPr txBox="1"/>
          <p:nvPr/>
        </p:nvSpPr>
        <p:spPr>
          <a:xfrm>
            <a:off x="9046159" y="3410712"/>
            <a:ext cx="2340864" cy="548640"/>
          </a:xfrm>
          <a:prstGeom prst="rect">
            <a:avLst/>
          </a:prstGeom>
          <a:noFill/>
          <a:ln/>
        </p:spPr>
        <p:txBody>
          <a:bodyPr wrap="square" lIns="0" tIns="0" rIns="0" bIns="0" rtlCol="0" anchor="t"/>
          <a:lstStyle/>
          <a:p>
            <a:pPr indent="0" marL="0">
              <a:buNone/>
            </a:pPr>
            <a:r>
              <a:rPr lang="en-US" sz="1050" dirty="0">
                <a:solidFill>
                  <a:schemeClr val="tx1"/>
                </a:solidFill>
              </a:rPr>
              <a:t>gender-neutral Thai job sentences that ChatGPT translated with “he”</a:t>
            </a:r>
            <a:endParaRPr lang="en-US" sz="1050" dirty="0"/>
          </a:p>
        </p:txBody>
      </p:sp>
      <p:sp>
        <p:nvSpPr>
          <p:cNvPr id="26" name="Text 22"/>
          <p:cNvSpPr txBox="1"/>
          <p:nvPr/>
        </p:nvSpPr>
        <p:spPr>
          <a:xfrm>
            <a:off x="9046159" y="3941064"/>
            <a:ext cx="2340864" cy="201168"/>
          </a:xfrm>
          <a:prstGeom prst="rect">
            <a:avLst/>
          </a:prstGeom>
          <a:noFill/>
          <a:ln/>
        </p:spPr>
        <p:txBody>
          <a:bodyPr wrap="square" lIns="0" tIns="0" rIns="0" bIns="0" rtlCol="0" anchor="t"/>
          <a:lstStyle/>
          <a:p>
            <a:pPr indent="0" marL="0">
              <a:buNone/>
            </a:pPr>
            <a:r>
              <a:rPr lang="en-US" sz="850" dirty="0">
                <a:solidFill>
                  <a:schemeClr val="accent3"/>
                </a:solidFill>
              </a:rPr>
              <a:t>Ghosh &amp; Caliskan, AIES 2023</a:t>
            </a:r>
            <a:endParaRPr lang="en-US" sz="850" dirty="0"/>
          </a:p>
        </p:txBody>
      </p:sp>
      <p:sp>
        <p:nvSpPr>
          <p:cNvPr id="27" name="card"/>
          <p:cNvSpPr/>
          <p:nvPr/>
        </p:nvSpPr>
        <p:spPr>
          <a:xfrm>
            <a:off x="4754880" y="4398264"/>
            <a:ext cx="6888175" cy="1591056"/>
          </a:xfrm>
          <a:prstGeom prst="roundRect">
            <a:avLst>
              <a:gd name="adj" fmla="val 4598"/>
            </a:avLst>
          </a:prstGeom>
          <a:solidFill>
            <a:srgbClr val="FBEDEA"/>
          </a:solidFill>
          <a:ln/>
        </p:spPr>
      </p:sp>
      <p:sp>
        <p:nvSpPr>
          <p:cNvPr id="28" name="Text 24"/>
          <p:cNvSpPr txBox="1"/>
          <p:nvPr/>
        </p:nvSpPr>
        <p:spPr>
          <a:xfrm>
            <a:off x="4983480" y="4507992"/>
            <a:ext cx="6430975" cy="292608"/>
          </a:xfrm>
          <a:prstGeom prst="rect">
            <a:avLst/>
          </a:prstGeom>
          <a:noFill/>
          <a:ln/>
        </p:spPr>
        <p:txBody>
          <a:bodyPr wrap="square" lIns="0" tIns="0" rIns="0" bIns="0" rtlCol="0" anchor="t"/>
          <a:lstStyle/>
          <a:p>
            <a:pPr indent="0" marL="0">
              <a:buNone/>
            </a:pPr>
            <a:r>
              <a:rPr lang="en-US" sz="1300" b="1" dirty="0">
                <a:solidFill>
                  <a:schemeClr val="accent1"/>
                </a:solidFill>
              </a:rPr>
              <a:t>In the real world</a:t>
            </a:r>
            <a:endParaRPr lang="en-US" sz="1300" dirty="0"/>
          </a:p>
        </p:txBody>
      </p:sp>
      <p:sp>
        <p:nvSpPr>
          <p:cNvPr id="29" name="Text 25"/>
          <p:cNvSpPr txBox="1"/>
          <p:nvPr/>
        </p:nvSpPr>
        <p:spPr>
          <a:xfrm>
            <a:off x="4983480" y="4809744"/>
            <a:ext cx="6430975" cy="877824"/>
          </a:xfrm>
          <a:prstGeom prst="rect">
            <a:avLst/>
          </a:prstGeom>
          <a:noFill/>
          <a:ln/>
        </p:spPr>
        <p:txBody>
          <a:bodyPr wrap="square" lIns="0" tIns="0" rIns="0" bIns="0" rtlCol="0" anchor="t"/>
          <a:lstStyle/>
          <a:p>
            <a:pPr indent="0" marL="0">
              <a:buNone/>
            </a:pPr>
            <a:r>
              <a:rPr lang="en-US" sz="1450" dirty="0">
                <a:solidFill>
                  <a:schemeClr val="tx1"/>
                </a:solidFill>
              </a:rPr>
              <a:t>Facebook's Burmese translator didn't know Xi Jinping's name, so it guessed a similar-sounding word: during his 2020 state visit, Aung San Suu Kyi's official page called him a vulgar insult in English.</a:t>
            </a:r>
            <a:endParaRPr lang="en-US" sz="1450" dirty="0"/>
          </a:p>
        </p:txBody>
      </p:sp>
      <p:sp>
        <p:nvSpPr>
          <p:cNvPr id="30" name="Text 26"/>
          <p:cNvSpPr txBox="1"/>
          <p:nvPr/>
        </p:nvSpPr>
        <p:spPr>
          <a:xfrm>
            <a:off x="4983480" y="5696712"/>
            <a:ext cx="6430975" cy="219456"/>
          </a:xfrm>
          <a:prstGeom prst="rect">
            <a:avLst/>
          </a:prstGeom>
          <a:noFill/>
          <a:ln/>
        </p:spPr>
        <p:txBody>
          <a:bodyPr wrap="square" lIns="0" tIns="0" rIns="0" bIns="0" rtlCol="0" anchor="t"/>
          <a:lstStyle/>
          <a:p>
            <a:pPr indent="0" marL="0">
              <a:buNone/>
            </a:pPr>
            <a:r>
              <a:rPr lang="en-US" sz="900" dirty="0">
                <a:solidFill>
                  <a:schemeClr val="accent3"/>
                </a:solidFill>
              </a:rPr>
              <a:t>Reuters via The Wire; Global Voices, 20 Jan 2020</a:t>
            </a:r>
            <a:endParaRPr lang="en-US" sz="9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South Asia: many scripts, very different results</a:t>
            </a:r>
            <a:endParaRPr lang="en-US" sz="3200" dirty="0"/>
          </a:p>
        </p:txBody>
      </p:sp>
      <p:sp>
        <p:nvSpPr>
          <p:cNvPr id="3" name="card"/>
          <p:cNvSpPr/>
          <p:nvPr/>
        </p:nvSpPr>
        <p:spPr>
          <a:xfrm>
            <a:off x="548640" y="1325880"/>
            <a:ext cx="3931920" cy="4663440"/>
          </a:xfrm>
          <a:prstGeom prst="roundRect">
            <a:avLst>
              <a:gd name="adj" fmla="val 1860"/>
            </a:avLst>
          </a:prstGeom>
          <a:solidFill>
            <a:schemeClr val="tx1"/>
          </a:solidFill>
          <a:ln/>
        </p:spPr>
      </p:sp>
      <p:sp>
        <p:nvSpPr>
          <p:cNvPr id="4" name="Text 2"/>
          <p:cNvSpPr txBox="1"/>
          <p:nvPr/>
        </p:nvSpPr>
        <p:spPr>
          <a:xfrm>
            <a:off x="868680" y="1527048"/>
            <a:ext cx="3291840" cy="731520"/>
          </a:xfrm>
          <a:prstGeom prst="rect">
            <a:avLst/>
          </a:prstGeom>
          <a:noFill/>
          <a:ln/>
        </p:spPr>
        <p:txBody>
          <a:bodyPr wrap="square" lIns="0" tIns="0" rIns="0" bIns="0" rtlCol="0" anchor="ctr"/>
          <a:lstStyle/>
          <a:p>
            <a:pPr indent="0" marL="0">
              <a:buNone/>
            </a:pPr>
            <a:r>
              <a:rPr lang="en-US" sz="1800" b="1" dirty="0">
                <a:solidFill>
                  <a:schemeClr val="bg1"/>
                </a:solidFill>
                <a:latin typeface="Kohinoor Devanagari" pitchFamily="34" charset="0"/>
                <a:ea typeface="Kohinoor Devanagari" pitchFamily="34" charset="-122"/>
                <a:cs typeface="Kohinoor Devanagari" pitchFamily="34" charset="-120"/>
              </a:rPr>
              <a:t>हिन्दी · </a:t>
            </a:r>
            <a:pPr indent="0" marL="0">
              <a:buNone/>
            </a:pPr>
            <a:r>
              <a:rPr lang="en-US" sz="1800" b="1" dirty="0">
                <a:solidFill>
                  <a:schemeClr val="bg1"/>
                </a:solidFill>
                <a:latin typeface="Kohinoor Bangla" pitchFamily="34" charset="0"/>
                <a:ea typeface="Kohinoor Bangla" pitchFamily="34" charset="-122"/>
                <a:cs typeface="Kohinoor Bangla" pitchFamily="34" charset="-120"/>
              </a:rPr>
              <a:t>বাংলা · </a:t>
            </a:r>
            <a:pPr indent="0" marL="0">
              <a:buNone/>
            </a:pPr>
            <a:r>
              <a:rPr lang="en-US" sz="1800" b="1" dirty="0">
                <a:solidFill>
                  <a:schemeClr val="bg1"/>
                </a:solidFill>
                <a:latin typeface="Tamil Sangam MN" pitchFamily="34" charset="0"/>
                <a:ea typeface="Tamil Sangam MN" pitchFamily="34" charset="-122"/>
                <a:cs typeface="Tamil Sangam MN" pitchFamily="34" charset="-120"/>
              </a:rPr>
              <a:t>தமிழ் · </a:t>
            </a:r>
            <a:pPr indent="0" marL="0">
              <a:buNone/>
            </a:pPr>
            <a:r>
              <a:rPr lang="en-US" sz="1800" b="1" dirty="0">
                <a:solidFill>
                  <a:schemeClr val="bg1"/>
                </a:solidFill>
                <a:latin typeface="Kohinoor Telugu" pitchFamily="34" charset="0"/>
                <a:ea typeface="Kohinoor Telugu" pitchFamily="34" charset="-122"/>
                <a:cs typeface="Kohinoor Telugu" pitchFamily="34" charset="-120"/>
              </a:rPr>
              <a:t>తెలుగు</a:t>
            </a:r>
            <a:endParaRPr lang="en-US" sz="1800" dirty="0"/>
          </a:p>
        </p:txBody>
      </p:sp>
      <p:sp>
        <p:nvSpPr>
          <p:cNvPr id="5" name="Text 3"/>
          <p:cNvSpPr txBox="1"/>
          <p:nvPr/>
        </p:nvSpPr>
        <p:spPr>
          <a:xfrm>
            <a:off x="868680" y="2276856"/>
            <a:ext cx="3291840" cy="292608"/>
          </a:xfrm>
          <a:prstGeom prst="rect">
            <a:avLst/>
          </a:prstGeom>
          <a:noFill/>
          <a:ln/>
        </p:spPr>
        <p:txBody>
          <a:bodyPr wrap="square" lIns="0" tIns="0" rIns="0" bIns="0" rtlCol="0" anchor="t"/>
          <a:lstStyle/>
          <a:p>
            <a:pPr indent="0" marL="0">
              <a:buNone/>
            </a:pPr>
            <a:r>
              <a:rPr lang="en-US" sz="1300" b="1" dirty="0">
                <a:solidFill>
                  <a:srgbClr val="AEB6C6"/>
                </a:solidFill>
              </a:rPr>
              <a:t>Hindi · Bengali · Tamil · Telugu</a:t>
            </a:r>
            <a:endParaRPr lang="en-US" sz="1300" dirty="0"/>
          </a:p>
        </p:txBody>
      </p:sp>
      <p:sp>
        <p:nvSpPr>
          <p:cNvPr id="6" name="Shape 4"/>
          <p:cNvSpPr/>
          <p:nvPr/>
        </p:nvSpPr>
        <p:spPr>
          <a:xfrm>
            <a:off x="868680" y="2679192"/>
            <a:ext cx="3291840" cy="0"/>
          </a:xfrm>
          <a:prstGeom prst="line">
            <a:avLst/>
          </a:prstGeom>
          <a:noFill/>
          <a:ln w="12700">
            <a:solidFill>
              <a:srgbClr val="46506A"/>
            </a:solidFill>
            <a:prstDash val="solid"/>
          </a:ln>
        </p:spPr>
      </p:sp>
      <p:sp>
        <p:nvSpPr>
          <p:cNvPr id="7" name="Text 5"/>
          <p:cNvSpPr txBox="1"/>
          <p:nvPr/>
        </p:nvSpPr>
        <p:spPr>
          <a:xfrm>
            <a:off x="868680" y="2788920"/>
            <a:ext cx="3291840" cy="561594"/>
          </a:xfrm>
          <a:prstGeom prst="rect">
            <a:avLst/>
          </a:prstGeom>
          <a:noFill/>
          <a:ln/>
        </p:spPr>
        <p:txBody>
          <a:bodyPr wrap="square" lIns="0" tIns="0" rIns="0" bIns="0" rtlCol="0" anchor="b"/>
          <a:lstStyle/>
          <a:p>
            <a:pPr indent="0" marL="0">
              <a:buNone/>
            </a:pPr>
            <a:r>
              <a:rPr lang="en-US" sz="3000" b="1" dirty="0">
                <a:solidFill>
                  <a:schemeClr val="bg1"/>
                </a:solidFill>
                <a:latin typeface="Kohinoor Devanagari" pitchFamily="34" charset="0"/>
                <a:ea typeface="Kohinoor Devanagari" pitchFamily="34" charset="-122"/>
                <a:cs typeface="Kohinoor Devanagari" pitchFamily="34" charset="-120"/>
              </a:rPr>
              <a:t>क्ष · त्र · ज्ञ</a:t>
            </a:r>
            <a:endParaRPr lang="en-US" sz="3000" dirty="0"/>
          </a:p>
        </p:txBody>
      </p:sp>
      <p:sp>
        <p:nvSpPr>
          <p:cNvPr id="8" name="Text 6"/>
          <p:cNvSpPr txBox="1"/>
          <p:nvPr/>
        </p:nvSpPr>
        <p:spPr>
          <a:xfrm>
            <a:off x="868680" y="3387090"/>
            <a:ext cx="3291840" cy="386334"/>
          </a:xfrm>
          <a:prstGeom prst="rect">
            <a:avLst/>
          </a:prstGeom>
          <a:noFill/>
          <a:ln/>
        </p:spPr>
        <p:txBody>
          <a:bodyPr wrap="square" lIns="0" tIns="0" rIns="0" bIns="0" rtlCol="0" anchor="t"/>
          <a:lstStyle/>
          <a:p>
            <a:pPr indent="0" marL="0">
              <a:buNone/>
            </a:pPr>
            <a:r>
              <a:rPr lang="en-US" sz="1200" dirty="0">
                <a:solidFill>
                  <a:srgbClr val="AEB6C6"/>
                </a:solidFill>
              </a:rPr>
              <a:t>letters fuse into clusters under one top bar</a:t>
            </a:r>
            <a:endParaRPr lang="en-US" sz="1200" dirty="0"/>
          </a:p>
        </p:txBody>
      </p:sp>
      <p:sp>
        <p:nvSpPr>
          <p:cNvPr id="9" name="Text 7"/>
          <p:cNvSpPr txBox="1"/>
          <p:nvPr/>
        </p:nvSpPr>
        <p:spPr>
          <a:xfrm>
            <a:off x="868680" y="3810000"/>
            <a:ext cx="3291840" cy="561594"/>
          </a:xfrm>
          <a:prstGeom prst="rect">
            <a:avLst/>
          </a:prstGeom>
          <a:noFill/>
          <a:ln/>
        </p:spPr>
        <p:txBody>
          <a:bodyPr wrap="square" lIns="0" tIns="0" rIns="0" bIns="0" rtlCol="0" anchor="b"/>
          <a:lstStyle/>
          <a:p>
            <a:pPr indent="0" marL="0">
              <a:buNone/>
            </a:pPr>
            <a:r>
              <a:rPr lang="en-US" sz="3000" b="1" dirty="0">
                <a:solidFill>
                  <a:schemeClr val="bg1"/>
                </a:solidFill>
                <a:latin typeface="Tamil Sangam MN" pitchFamily="34" charset="0"/>
                <a:ea typeface="Tamil Sangam MN" pitchFamily="34" charset="-122"/>
                <a:cs typeface="Tamil Sangam MN" pitchFamily="34" charset="-120"/>
              </a:rPr>
              <a:t>ந · ன · ண</a:t>
            </a:r>
            <a:endParaRPr lang="en-US" sz="3000" dirty="0"/>
          </a:p>
        </p:txBody>
      </p:sp>
      <p:sp>
        <p:nvSpPr>
          <p:cNvPr id="10" name="Text 8"/>
          <p:cNvSpPr txBox="1"/>
          <p:nvPr/>
        </p:nvSpPr>
        <p:spPr>
          <a:xfrm>
            <a:off x="868680" y="4408170"/>
            <a:ext cx="3291840" cy="386334"/>
          </a:xfrm>
          <a:prstGeom prst="rect">
            <a:avLst/>
          </a:prstGeom>
          <a:noFill/>
          <a:ln/>
        </p:spPr>
        <p:txBody>
          <a:bodyPr wrap="square" lIns="0" tIns="0" rIns="0" bIns="0" rtlCol="0" anchor="t"/>
          <a:lstStyle/>
          <a:p>
            <a:pPr indent="0" marL="0">
              <a:buNone/>
            </a:pPr>
            <a:r>
              <a:rPr lang="en-US" sz="1200" dirty="0">
                <a:solidFill>
                  <a:srgbClr val="AEB6C6"/>
                </a:solidFill>
              </a:rPr>
              <a:t>three different Tamil n's</a:t>
            </a:r>
            <a:endParaRPr lang="en-US" sz="1200" dirty="0"/>
          </a:p>
        </p:txBody>
      </p:sp>
      <p:sp>
        <p:nvSpPr>
          <p:cNvPr id="11" name="Text 9"/>
          <p:cNvSpPr txBox="1"/>
          <p:nvPr/>
        </p:nvSpPr>
        <p:spPr>
          <a:xfrm>
            <a:off x="868680" y="4831080"/>
            <a:ext cx="3291840" cy="561594"/>
          </a:xfrm>
          <a:prstGeom prst="rect">
            <a:avLst/>
          </a:prstGeom>
          <a:noFill/>
          <a:ln/>
        </p:spPr>
        <p:txBody>
          <a:bodyPr wrap="square" lIns="0" tIns="0" rIns="0" bIns="0" rtlCol="0" anchor="b"/>
          <a:lstStyle/>
          <a:p>
            <a:pPr indent="0" marL="0">
              <a:buNone/>
            </a:pPr>
            <a:r>
              <a:rPr lang="en-US" sz="2400" b="1" dirty="0">
                <a:solidFill>
                  <a:schemeClr val="bg1"/>
                </a:solidFill>
              </a:rPr>
              <a:t>Arvind → Aravid</a:t>
            </a:r>
            <a:endParaRPr lang="en-US" sz="2400" dirty="0"/>
          </a:p>
        </p:txBody>
      </p:sp>
      <p:sp>
        <p:nvSpPr>
          <p:cNvPr id="12" name="Text 10"/>
          <p:cNvSpPr txBox="1"/>
          <p:nvPr/>
        </p:nvSpPr>
        <p:spPr>
          <a:xfrm>
            <a:off x="868680" y="5429250"/>
            <a:ext cx="3291840" cy="386334"/>
          </a:xfrm>
          <a:prstGeom prst="rect">
            <a:avLst/>
          </a:prstGeom>
          <a:noFill/>
          <a:ln/>
        </p:spPr>
        <p:txBody>
          <a:bodyPr wrap="square" lIns="0" tIns="0" rIns="0" bIns="0" rtlCol="0" anchor="t"/>
          <a:lstStyle/>
          <a:p>
            <a:pPr indent="0" marL="0">
              <a:buNone/>
            </a:pPr>
            <a:r>
              <a:rPr lang="en-US" sz="1200" dirty="0">
                <a:solidFill>
                  <a:srgbClr val="AEB6C6"/>
                </a:solidFill>
              </a:rPr>
              <a:t>one dropped vowel sign changes a name (a real misread)</a:t>
            </a:r>
            <a:endParaRPr lang="en-US" sz="1200" dirty="0"/>
          </a:p>
        </p:txBody>
      </p:sp>
      <p:sp>
        <p:nvSpPr>
          <p:cNvPr id="13" name="card"/>
          <p:cNvSpPr/>
          <p:nvPr/>
        </p:nvSpPr>
        <p:spPr>
          <a:xfrm>
            <a:off x="4754880" y="1325880"/>
            <a:ext cx="6888175" cy="1417320"/>
          </a:xfrm>
          <a:prstGeom prst="roundRect">
            <a:avLst>
              <a:gd name="adj" fmla="val 5161"/>
            </a:avLst>
          </a:prstGeom>
          <a:solidFill>
            <a:schemeClr val="bg2"/>
          </a:solidFill>
          <a:ln/>
        </p:spPr>
      </p:sp>
      <p:pic>
        <p:nvPicPr>
          <p:cNvPr id="14" name="Image 0" descr="preencoded.png">    </p:cNvPr>
          <p:cNvPicPr>
            <a:picLocks noChangeAspect="1"/>
          </p:cNvPicPr>
          <p:nvPr/>
        </p:nvPicPr>
        <p:blipFill>
          <a:blip r:embed="rId1"/>
          <a:stretch>
            <a:fillRect/>
          </a:stretch>
        </p:blipFill>
        <p:spPr>
          <a:xfrm>
            <a:off x="4983480" y="1508760"/>
            <a:ext cx="292608" cy="292608"/>
          </a:xfrm>
          <a:prstGeom prst="rect">
            <a:avLst/>
          </a:prstGeom>
        </p:spPr>
      </p:pic>
      <p:sp>
        <p:nvSpPr>
          <p:cNvPr id="15" name="Text 12"/>
          <p:cNvSpPr txBox="1"/>
          <p:nvPr/>
        </p:nvSpPr>
        <p:spPr>
          <a:xfrm>
            <a:off x="5376672" y="1472184"/>
            <a:ext cx="3200400" cy="365760"/>
          </a:xfrm>
          <a:prstGeom prst="rect">
            <a:avLst/>
          </a:prstGeom>
          <a:noFill/>
          <a:ln/>
        </p:spPr>
        <p:txBody>
          <a:bodyPr wrap="square" lIns="0" tIns="0" rIns="0" bIns="0" rtlCol="0" anchor="ctr"/>
          <a:lstStyle/>
          <a:p>
            <a:pPr indent="0" marL="0">
              <a:buNone/>
            </a:pPr>
            <a:r>
              <a:rPr lang="en-US" sz="1300" b="1" dirty="0">
                <a:solidFill>
                  <a:schemeClr val="accent2"/>
                </a:solidFill>
              </a:rPr>
              <a:t>Reading breaks on</a:t>
            </a:r>
            <a:endParaRPr lang="en-US" sz="1300" dirty="0"/>
          </a:p>
        </p:txBody>
      </p:sp>
      <p:sp>
        <p:nvSpPr>
          <p:cNvPr id="16" name="Text 13"/>
          <p:cNvSpPr txBox="1"/>
          <p:nvPr/>
        </p:nvSpPr>
        <p:spPr>
          <a:xfrm>
            <a:off x="4983480" y="1892808"/>
            <a:ext cx="3733495" cy="804672"/>
          </a:xfrm>
          <a:prstGeom prst="rect">
            <a:avLst/>
          </a:prstGeom>
          <a:noFill/>
          <a:ln/>
        </p:spPr>
        <p:txBody>
          <a:bodyPr wrap="square" lIns="0" tIns="0" rIns="0" bIns="0" rtlCol="0" anchor="t"/>
          <a:lstStyle/>
          <a:p>
            <a:pPr indent="0" marL="0">
              <a:buNone/>
            </a:pPr>
            <a:r>
              <a:rPr lang="en-US" sz="1400" dirty="0">
                <a:solidFill>
                  <a:schemeClr val="tx1"/>
                </a:solidFill>
              </a:rPr>
              <a:t>Vowel signs before, after, above and below the letter; hundreds of clusters; a dozen scripts with little data.</a:t>
            </a:r>
            <a:endParaRPr lang="en-US" sz="1400" dirty="0"/>
          </a:p>
        </p:txBody>
      </p:sp>
      <p:sp>
        <p:nvSpPr>
          <p:cNvPr id="17" name="Shape 14"/>
          <p:cNvSpPr/>
          <p:nvPr/>
        </p:nvSpPr>
        <p:spPr>
          <a:xfrm>
            <a:off x="8899855" y="1426464"/>
            <a:ext cx="2615184" cy="1216152"/>
          </a:xfrm>
          <a:prstGeom prst="roundRect">
            <a:avLst>
              <a:gd name="adj" fmla="val 4511"/>
            </a:avLst>
          </a:prstGeom>
          <a:solidFill>
            <a:schemeClr val="bg1"/>
          </a:solidFill>
          <a:ln/>
        </p:spPr>
      </p:sp>
      <p:sp>
        <p:nvSpPr>
          <p:cNvPr id="18" name="Text 15"/>
          <p:cNvSpPr txBox="1"/>
          <p:nvPr/>
        </p:nvSpPr>
        <p:spPr>
          <a:xfrm>
            <a:off x="9046159" y="1444752"/>
            <a:ext cx="2340864" cy="420624"/>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7 vs 70</a:t>
            </a:r>
            <a:endParaRPr lang="en-US" sz="2300" dirty="0"/>
          </a:p>
        </p:txBody>
      </p:sp>
      <p:sp>
        <p:nvSpPr>
          <p:cNvPr id="19" name="Text 16"/>
          <p:cNvSpPr txBox="1"/>
          <p:nvPr/>
        </p:nvSpPr>
        <p:spPr>
          <a:xfrm>
            <a:off x="9046159" y="1874520"/>
            <a:ext cx="2340864" cy="548640"/>
          </a:xfrm>
          <a:prstGeom prst="rect">
            <a:avLst/>
          </a:prstGeom>
          <a:noFill/>
          <a:ln/>
        </p:spPr>
        <p:txBody>
          <a:bodyPr wrap="square" lIns="0" tIns="0" rIns="0" bIns="0" rtlCol="0" anchor="t"/>
          <a:lstStyle/>
          <a:p>
            <a:pPr indent="0" marL="0">
              <a:buNone/>
            </a:pPr>
            <a:r>
              <a:rPr lang="en-US" sz="1050" dirty="0">
                <a:solidFill>
                  <a:schemeClr val="tx1"/>
                </a:solidFill>
              </a:rPr>
              <a:t>mistakes per 100 characters on Telugu book pages: Gemini 2.5 Flash vs GPT-4o</a:t>
            </a:r>
            <a:endParaRPr lang="en-US" sz="1050" dirty="0"/>
          </a:p>
        </p:txBody>
      </p:sp>
      <p:sp>
        <p:nvSpPr>
          <p:cNvPr id="20" name="Text 17"/>
          <p:cNvSpPr txBox="1"/>
          <p:nvPr/>
        </p:nvSpPr>
        <p:spPr>
          <a:xfrm>
            <a:off x="9046159" y="2404872"/>
            <a:ext cx="2340864" cy="201168"/>
          </a:xfrm>
          <a:prstGeom prst="rect">
            <a:avLst/>
          </a:prstGeom>
          <a:noFill/>
          <a:ln/>
        </p:spPr>
        <p:txBody>
          <a:bodyPr wrap="square" lIns="0" tIns="0" rIns="0" bIns="0" rtlCol="0" anchor="t"/>
          <a:lstStyle/>
          <a:p>
            <a:pPr indent="0" marL="0">
              <a:buNone/>
            </a:pPr>
            <a:r>
              <a:rPr lang="en-US" sz="850" dirty="0">
                <a:solidFill>
                  <a:schemeClr val="accent3"/>
                </a:solidFill>
              </a:rPr>
              <a:t>IndicVisionBench, 2025</a:t>
            </a:r>
            <a:endParaRPr lang="en-US" sz="850" dirty="0"/>
          </a:p>
        </p:txBody>
      </p:sp>
      <p:sp>
        <p:nvSpPr>
          <p:cNvPr id="21" name="card"/>
          <p:cNvSpPr/>
          <p:nvPr/>
        </p:nvSpPr>
        <p:spPr>
          <a:xfrm>
            <a:off x="4754880" y="2862072"/>
            <a:ext cx="6888175" cy="1417320"/>
          </a:xfrm>
          <a:prstGeom prst="roundRect">
            <a:avLst>
              <a:gd name="adj" fmla="val 5161"/>
            </a:avLst>
          </a:prstGeom>
          <a:solidFill>
            <a:schemeClr val="bg2"/>
          </a:solidFill>
          <a:ln/>
        </p:spPr>
      </p:sp>
      <p:pic>
        <p:nvPicPr>
          <p:cNvPr id="22" name="Image 1" descr="preencoded.png">    </p:cNvPr>
          <p:cNvPicPr>
            <a:picLocks noChangeAspect="1"/>
          </p:cNvPicPr>
          <p:nvPr/>
        </p:nvPicPr>
        <p:blipFill>
          <a:blip r:embed="rId2"/>
          <a:stretch>
            <a:fillRect/>
          </a:stretch>
        </p:blipFill>
        <p:spPr>
          <a:xfrm>
            <a:off x="4983480" y="3044952"/>
            <a:ext cx="292608" cy="292608"/>
          </a:xfrm>
          <a:prstGeom prst="rect">
            <a:avLst/>
          </a:prstGeom>
        </p:spPr>
      </p:pic>
      <p:sp>
        <p:nvSpPr>
          <p:cNvPr id="23" name="Text 19"/>
          <p:cNvSpPr txBox="1"/>
          <p:nvPr/>
        </p:nvSpPr>
        <p:spPr>
          <a:xfrm>
            <a:off x="5376672" y="3008376"/>
            <a:ext cx="3200400" cy="365760"/>
          </a:xfrm>
          <a:prstGeom prst="rect">
            <a:avLst/>
          </a:prstGeom>
          <a:noFill/>
          <a:ln/>
        </p:spPr>
        <p:txBody>
          <a:bodyPr wrap="square" lIns="0" tIns="0" rIns="0" bIns="0" rtlCol="0" anchor="ctr"/>
          <a:lstStyle/>
          <a:p>
            <a:pPr indent="0" marL="0">
              <a:buNone/>
            </a:pPr>
            <a:r>
              <a:rPr lang="en-US" sz="1300" b="1" dirty="0">
                <a:solidFill>
                  <a:schemeClr val="accent1"/>
                </a:solidFill>
              </a:rPr>
              <a:t>Translating breaks on</a:t>
            </a:r>
            <a:endParaRPr lang="en-US" sz="1300" dirty="0"/>
          </a:p>
        </p:txBody>
      </p:sp>
      <p:sp>
        <p:nvSpPr>
          <p:cNvPr id="24" name="Text 20"/>
          <p:cNvSpPr txBox="1"/>
          <p:nvPr/>
        </p:nvSpPr>
        <p:spPr>
          <a:xfrm>
            <a:off x="4983480" y="3429000"/>
            <a:ext cx="3733495" cy="804672"/>
          </a:xfrm>
          <a:prstGeom prst="rect">
            <a:avLst/>
          </a:prstGeom>
          <a:noFill/>
          <a:ln/>
        </p:spPr>
        <p:txBody>
          <a:bodyPr wrap="square" lIns="0" tIns="0" rIns="0" bIns="0" rtlCol="0" anchor="t"/>
          <a:lstStyle/>
          <a:p>
            <a:pPr indent="0" marL="0">
              <a:buNone/>
            </a:pPr>
            <a:r>
              <a:rPr lang="en-US" sz="1400" dirty="0">
                <a:solidFill>
                  <a:schemeClr val="tx1"/>
                </a:solidFill>
              </a:rPr>
              <a:t>Verbs show the speaker's gender; three levels of “you”; English mixed in; spoken and written Tamil differ.</a:t>
            </a:r>
            <a:endParaRPr lang="en-US" sz="1400" dirty="0"/>
          </a:p>
        </p:txBody>
      </p:sp>
      <p:sp>
        <p:nvSpPr>
          <p:cNvPr id="25" name="Shape 21"/>
          <p:cNvSpPr/>
          <p:nvPr/>
        </p:nvSpPr>
        <p:spPr>
          <a:xfrm>
            <a:off x="8899855" y="2962656"/>
            <a:ext cx="2615184" cy="1216152"/>
          </a:xfrm>
          <a:prstGeom prst="roundRect">
            <a:avLst>
              <a:gd name="adj" fmla="val 4511"/>
            </a:avLst>
          </a:prstGeom>
          <a:solidFill>
            <a:schemeClr val="bg1"/>
          </a:solidFill>
          <a:ln/>
        </p:spPr>
      </p:sp>
      <p:sp>
        <p:nvSpPr>
          <p:cNvPr id="26" name="Text 22"/>
          <p:cNvSpPr txBox="1"/>
          <p:nvPr/>
        </p:nvSpPr>
        <p:spPr>
          <a:xfrm>
            <a:off x="9046159" y="2980944"/>
            <a:ext cx="2340864" cy="420624"/>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54% vs 1%</a:t>
            </a:r>
            <a:endParaRPr lang="en-US" sz="2300" dirty="0"/>
          </a:p>
        </p:txBody>
      </p:sp>
      <p:sp>
        <p:nvSpPr>
          <p:cNvPr id="27" name="Text 23"/>
          <p:cNvSpPr txBox="1"/>
          <p:nvPr/>
        </p:nvSpPr>
        <p:spPr>
          <a:xfrm>
            <a:off x="9046159" y="3410712"/>
            <a:ext cx="2340864" cy="548640"/>
          </a:xfrm>
          <a:prstGeom prst="rect">
            <a:avLst/>
          </a:prstGeom>
          <a:noFill/>
          <a:ln/>
        </p:spPr>
        <p:txBody>
          <a:bodyPr wrap="square" lIns="0" tIns="0" rIns="0" bIns="0" rtlCol="0" anchor="t"/>
          <a:lstStyle/>
          <a:p>
            <a:pPr indent="0" marL="0">
              <a:buNone/>
            </a:pPr>
            <a:r>
              <a:rPr lang="en-US" sz="1050" dirty="0">
                <a:solidFill>
                  <a:schemeClr val="tx1"/>
                </a:solidFill>
              </a:rPr>
              <a:t>of English test sentences that needed a gender choice: in Hindi vs in German</a:t>
            </a:r>
            <a:endParaRPr lang="en-US" sz="1050" dirty="0"/>
          </a:p>
        </p:txBody>
      </p:sp>
      <p:sp>
        <p:nvSpPr>
          <p:cNvPr id="28" name="Text 24"/>
          <p:cNvSpPr txBox="1"/>
          <p:nvPr/>
        </p:nvSpPr>
        <p:spPr>
          <a:xfrm>
            <a:off x="9046159" y="3941064"/>
            <a:ext cx="2340864" cy="201168"/>
          </a:xfrm>
          <a:prstGeom prst="rect">
            <a:avLst/>
          </a:prstGeom>
          <a:noFill/>
          <a:ln/>
        </p:spPr>
        <p:txBody>
          <a:bodyPr wrap="square" lIns="0" tIns="0" rIns="0" bIns="0" rtlCol="0" anchor="t"/>
          <a:lstStyle/>
          <a:p>
            <a:pPr indent="0" marL="0">
              <a:buNone/>
            </a:pPr>
            <a:r>
              <a:rPr lang="en-US" sz="850" dirty="0">
                <a:solidFill>
                  <a:schemeClr val="accent3"/>
                </a:solidFill>
              </a:rPr>
              <a:t>CoCoA-MT, NAACL Findings 2022</a:t>
            </a:r>
            <a:endParaRPr lang="en-US" sz="850" dirty="0"/>
          </a:p>
        </p:txBody>
      </p:sp>
      <p:sp>
        <p:nvSpPr>
          <p:cNvPr id="29" name="card"/>
          <p:cNvSpPr/>
          <p:nvPr/>
        </p:nvSpPr>
        <p:spPr>
          <a:xfrm>
            <a:off x="4754880" y="4398264"/>
            <a:ext cx="6888175" cy="1591056"/>
          </a:xfrm>
          <a:prstGeom prst="roundRect">
            <a:avLst>
              <a:gd name="adj" fmla="val 4598"/>
            </a:avLst>
          </a:prstGeom>
          <a:solidFill>
            <a:srgbClr val="FBEDEA"/>
          </a:solidFill>
          <a:ln/>
        </p:spPr>
      </p:sp>
      <p:sp>
        <p:nvSpPr>
          <p:cNvPr id="30" name="Text 26"/>
          <p:cNvSpPr txBox="1"/>
          <p:nvPr/>
        </p:nvSpPr>
        <p:spPr>
          <a:xfrm>
            <a:off x="4983480" y="4507992"/>
            <a:ext cx="6430975" cy="292608"/>
          </a:xfrm>
          <a:prstGeom prst="rect">
            <a:avLst/>
          </a:prstGeom>
          <a:noFill/>
          <a:ln/>
        </p:spPr>
        <p:txBody>
          <a:bodyPr wrap="square" lIns="0" tIns="0" rIns="0" bIns="0" rtlCol="0" anchor="t"/>
          <a:lstStyle/>
          <a:p>
            <a:pPr indent="0" marL="0">
              <a:buNone/>
            </a:pPr>
            <a:r>
              <a:rPr lang="en-US" sz="1300" b="1" dirty="0">
                <a:solidFill>
                  <a:schemeClr val="accent1"/>
                </a:solidFill>
              </a:rPr>
              <a:t>In the real world</a:t>
            </a:r>
            <a:endParaRPr lang="en-US" sz="1300" dirty="0"/>
          </a:p>
        </p:txBody>
      </p:sp>
      <p:sp>
        <p:nvSpPr>
          <p:cNvPr id="31" name="Text 27"/>
          <p:cNvSpPr txBox="1"/>
          <p:nvPr/>
        </p:nvSpPr>
        <p:spPr>
          <a:xfrm>
            <a:off x="4983480" y="4809744"/>
            <a:ext cx="6430975" cy="877824"/>
          </a:xfrm>
          <a:prstGeom prst="rect">
            <a:avLst/>
          </a:prstGeom>
          <a:noFill/>
          <a:ln/>
        </p:spPr>
        <p:txBody>
          <a:bodyPr wrap="square" lIns="0" tIns="0" rIns="0" bIns="0" rtlCol="0" anchor="t"/>
          <a:lstStyle/>
          <a:p>
            <a:pPr indent="0" marL="0">
              <a:buNone/>
            </a:pPr>
            <a:r>
              <a:rPr lang="en-US" sz="1450" dirty="0">
                <a:solidFill>
                  <a:schemeClr val="tx1"/>
                </a:solidFill>
              </a:rPr>
              <a:t>Reading Bengali street text, the best AI system turned a wall slogan, “Student Union”, into “Happy Birthday”, and changed the year 2025 to 2023. Fluent, plausible, wrong.</a:t>
            </a:r>
            <a:endParaRPr lang="en-US" sz="1450" dirty="0"/>
          </a:p>
        </p:txBody>
      </p:sp>
      <p:sp>
        <p:nvSpPr>
          <p:cNvPr id="32" name="Text 28"/>
          <p:cNvSpPr txBox="1"/>
          <p:nvPr/>
        </p:nvSpPr>
        <p:spPr>
          <a:xfrm>
            <a:off x="4983480" y="5696712"/>
            <a:ext cx="6430975" cy="219456"/>
          </a:xfrm>
          <a:prstGeom prst="rect">
            <a:avLst/>
          </a:prstGeom>
          <a:noFill/>
          <a:ln/>
        </p:spPr>
        <p:txBody>
          <a:bodyPr wrap="square" lIns="0" tIns="0" rIns="0" bIns="0" rtlCol="0" anchor="t"/>
          <a:lstStyle/>
          <a:p>
            <a:pPr indent="0" marL="0">
              <a:buNone/>
            </a:pPr>
            <a:r>
              <a:rPr lang="en-US" sz="900" dirty="0">
                <a:solidFill>
                  <a:schemeClr val="accent3"/>
                </a:solidFill>
              </a:rPr>
              <a:t>BanglaWild benchmark, 2026</a:t>
            </a:r>
            <a:endParaRPr lang="en-US" sz="9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Arabic: dots, joins and dialects</a:t>
            </a:r>
            <a:endParaRPr lang="en-US" sz="3200" dirty="0"/>
          </a:p>
        </p:txBody>
      </p:sp>
      <p:sp>
        <p:nvSpPr>
          <p:cNvPr id="3" name="card"/>
          <p:cNvSpPr/>
          <p:nvPr/>
        </p:nvSpPr>
        <p:spPr>
          <a:xfrm>
            <a:off x="548640" y="1325880"/>
            <a:ext cx="3931920" cy="4663440"/>
          </a:xfrm>
          <a:prstGeom prst="roundRect">
            <a:avLst>
              <a:gd name="adj" fmla="val 1860"/>
            </a:avLst>
          </a:prstGeom>
          <a:solidFill>
            <a:schemeClr val="tx1"/>
          </a:solidFill>
          <a:ln/>
        </p:spPr>
      </p:sp>
      <p:sp>
        <p:nvSpPr>
          <p:cNvPr id="4" name="Text 2"/>
          <p:cNvSpPr txBox="1"/>
          <p:nvPr/>
        </p:nvSpPr>
        <p:spPr>
          <a:xfrm>
            <a:off x="868680" y="1527048"/>
            <a:ext cx="3291840" cy="731520"/>
          </a:xfrm>
          <a:prstGeom prst="rect">
            <a:avLst/>
          </a:prstGeom>
          <a:noFill/>
          <a:ln/>
        </p:spPr>
        <p:txBody>
          <a:bodyPr wrap="square" lIns="0" tIns="0" rIns="0" bIns="0" rtlCol="0" anchor="ctr"/>
          <a:lstStyle/>
          <a:p>
            <a:pPr indent="0" marL="0">
              <a:buNone/>
            </a:pPr>
            <a:r>
              <a:rPr lang="en-US" sz="3800" b="1" dirty="0">
                <a:solidFill>
                  <a:schemeClr val="bg1"/>
                </a:solidFill>
                <a:latin typeface="Geeza Pro" pitchFamily="34" charset="0"/>
                <a:ea typeface="Geeza Pro" pitchFamily="34" charset="-122"/>
                <a:cs typeface="Geeza Pro" pitchFamily="34" charset="-120"/>
              </a:rPr>
              <a:t>العربية</a:t>
            </a:r>
            <a:endParaRPr lang="en-US" sz="3800" dirty="0"/>
          </a:p>
        </p:txBody>
      </p:sp>
      <p:sp>
        <p:nvSpPr>
          <p:cNvPr id="5" name="Text 3"/>
          <p:cNvSpPr txBox="1"/>
          <p:nvPr/>
        </p:nvSpPr>
        <p:spPr>
          <a:xfrm>
            <a:off x="868680" y="2276856"/>
            <a:ext cx="3291840" cy="292608"/>
          </a:xfrm>
          <a:prstGeom prst="rect">
            <a:avLst/>
          </a:prstGeom>
          <a:noFill/>
          <a:ln/>
        </p:spPr>
        <p:txBody>
          <a:bodyPr wrap="square" lIns="0" tIns="0" rIns="0" bIns="0" rtlCol="0" anchor="t"/>
          <a:lstStyle/>
          <a:p>
            <a:pPr indent="0" marL="0">
              <a:buNone/>
            </a:pPr>
            <a:r>
              <a:rPr lang="en-US" sz="1300" b="1" dirty="0">
                <a:solidFill>
                  <a:srgbClr val="AEB6C6"/>
                </a:solidFill>
              </a:rPr>
              <a:t>Arabic</a:t>
            </a:r>
            <a:endParaRPr lang="en-US" sz="1300" dirty="0"/>
          </a:p>
        </p:txBody>
      </p:sp>
      <p:sp>
        <p:nvSpPr>
          <p:cNvPr id="6" name="Shape 4"/>
          <p:cNvSpPr/>
          <p:nvPr/>
        </p:nvSpPr>
        <p:spPr>
          <a:xfrm>
            <a:off x="868680" y="2679192"/>
            <a:ext cx="3291840" cy="0"/>
          </a:xfrm>
          <a:prstGeom prst="line">
            <a:avLst/>
          </a:prstGeom>
          <a:noFill/>
          <a:ln w="12700">
            <a:solidFill>
              <a:srgbClr val="46506A"/>
            </a:solidFill>
            <a:prstDash val="solid"/>
          </a:ln>
        </p:spPr>
      </p:sp>
      <p:sp>
        <p:nvSpPr>
          <p:cNvPr id="7" name="Text 5"/>
          <p:cNvSpPr txBox="1"/>
          <p:nvPr/>
        </p:nvSpPr>
        <p:spPr>
          <a:xfrm>
            <a:off x="868680" y="2788920"/>
            <a:ext cx="3291840" cy="658368"/>
          </a:xfrm>
          <a:prstGeom prst="rect">
            <a:avLst/>
          </a:prstGeom>
          <a:noFill/>
          <a:ln/>
        </p:spPr>
        <p:txBody>
          <a:bodyPr wrap="square" lIns="0" tIns="0" rIns="0" bIns="0" rtlCol="0" anchor="b"/>
          <a:lstStyle/>
          <a:p>
            <a:pPr indent="0" marL="0">
              <a:buNone/>
            </a:pPr>
            <a:r>
              <a:rPr lang="en-US" sz="3400" b="1" dirty="0">
                <a:solidFill>
                  <a:schemeClr val="bg1"/>
                </a:solidFill>
                <a:latin typeface="Geeza Pro" pitchFamily="34" charset="0"/>
                <a:ea typeface="Geeza Pro" pitchFamily="34" charset="-122"/>
                <a:cs typeface="Geeza Pro" pitchFamily="34" charset="-120"/>
              </a:rPr>
              <a:t>ب ت ث ن ي</a:t>
            </a:r>
            <a:endParaRPr lang="en-US" sz="3400" dirty="0"/>
          </a:p>
        </p:txBody>
      </p:sp>
      <p:sp>
        <p:nvSpPr>
          <p:cNvPr id="8" name="Text 6"/>
          <p:cNvSpPr txBox="1"/>
          <p:nvPr/>
        </p:nvSpPr>
        <p:spPr>
          <a:xfrm>
            <a:off x="868680" y="3483864"/>
            <a:ext cx="3291840" cy="800100"/>
          </a:xfrm>
          <a:prstGeom prst="rect">
            <a:avLst/>
          </a:prstGeom>
          <a:noFill/>
          <a:ln/>
        </p:spPr>
        <p:txBody>
          <a:bodyPr wrap="square" lIns="0" tIns="0" rIns="0" bIns="0" rtlCol="0" anchor="t"/>
          <a:lstStyle/>
          <a:p>
            <a:pPr indent="0" marL="0">
              <a:buNone/>
            </a:pPr>
            <a:r>
              <a:rPr lang="en-US" sz="1200" dirty="0">
                <a:solidFill>
                  <a:srgbClr val="AEB6C6"/>
                </a:solidFill>
              </a:rPr>
              <a:t>one letter shape, only the dots differ: b, t, th, n, y (read right to left)</a:t>
            </a:r>
            <a:endParaRPr lang="en-US" sz="1200" dirty="0"/>
          </a:p>
        </p:txBody>
      </p:sp>
      <p:sp>
        <p:nvSpPr>
          <p:cNvPr id="9" name="Text 7"/>
          <p:cNvSpPr txBox="1"/>
          <p:nvPr/>
        </p:nvSpPr>
        <p:spPr>
          <a:xfrm>
            <a:off x="868680" y="4320540"/>
            <a:ext cx="3291840" cy="658368"/>
          </a:xfrm>
          <a:prstGeom prst="rect">
            <a:avLst/>
          </a:prstGeom>
          <a:noFill/>
          <a:ln/>
        </p:spPr>
        <p:txBody>
          <a:bodyPr wrap="square" lIns="0" tIns="0" rIns="0" bIns="0" rtlCol="0" anchor="b"/>
          <a:lstStyle/>
          <a:p>
            <a:pPr indent="0" marL="0">
              <a:buNone/>
            </a:pPr>
            <a:r>
              <a:rPr lang="en-US" sz="3600" b="1" dirty="0">
                <a:solidFill>
                  <a:schemeClr val="bg1"/>
                </a:solidFill>
                <a:latin typeface="Geeza Pro" pitchFamily="34" charset="0"/>
                <a:ea typeface="Geeza Pro" pitchFamily="34" charset="-122"/>
                <a:cs typeface="Geeza Pro" pitchFamily="34" charset="-120"/>
              </a:rPr>
              <a:t>كتب</a:t>
            </a:r>
            <a:endParaRPr lang="en-US" sz="3600" dirty="0"/>
          </a:p>
        </p:txBody>
      </p:sp>
      <p:sp>
        <p:nvSpPr>
          <p:cNvPr id="10" name="Text 8"/>
          <p:cNvSpPr txBox="1"/>
          <p:nvPr/>
        </p:nvSpPr>
        <p:spPr>
          <a:xfrm>
            <a:off x="868680" y="5015484"/>
            <a:ext cx="3291840" cy="800100"/>
          </a:xfrm>
          <a:prstGeom prst="rect">
            <a:avLst/>
          </a:prstGeom>
          <a:noFill/>
          <a:ln/>
        </p:spPr>
        <p:txBody>
          <a:bodyPr wrap="square" lIns="0" tIns="0" rIns="0" bIns="0" rtlCol="0" anchor="t"/>
          <a:lstStyle/>
          <a:p>
            <a:pPr indent="0" marL="0">
              <a:buNone/>
            </a:pPr>
            <a:r>
              <a:rPr lang="en-US" sz="1200" dirty="0">
                <a:solidFill>
                  <a:srgbClr val="AEB6C6"/>
                </a:solidFill>
              </a:rPr>
              <a:t>kataba “he wrote” or kutub “books”: short vowels aren't written</a:t>
            </a:r>
            <a:endParaRPr lang="en-US" sz="1200" dirty="0"/>
          </a:p>
        </p:txBody>
      </p:sp>
      <p:sp>
        <p:nvSpPr>
          <p:cNvPr id="11" name="card"/>
          <p:cNvSpPr/>
          <p:nvPr/>
        </p:nvSpPr>
        <p:spPr>
          <a:xfrm>
            <a:off x="4754880" y="1325880"/>
            <a:ext cx="6888175" cy="1417320"/>
          </a:xfrm>
          <a:prstGeom prst="roundRect">
            <a:avLst>
              <a:gd name="adj" fmla="val 5161"/>
            </a:avLst>
          </a:prstGeom>
          <a:solidFill>
            <a:schemeClr val="bg2"/>
          </a:solidFill>
          <a:ln/>
        </p:spPr>
      </p:sp>
      <p:pic>
        <p:nvPicPr>
          <p:cNvPr id="12" name="Image 0" descr="preencoded.png">    </p:cNvPr>
          <p:cNvPicPr>
            <a:picLocks noChangeAspect="1"/>
          </p:cNvPicPr>
          <p:nvPr/>
        </p:nvPicPr>
        <p:blipFill>
          <a:blip r:embed="rId1"/>
          <a:stretch>
            <a:fillRect/>
          </a:stretch>
        </p:blipFill>
        <p:spPr>
          <a:xfrm>
            <a:off x="4983480" y="1508760"/>
            <a:ext cx="292608" cy="292608"/>
          </a:xfrm>
          <a:prstGeom prst="rect">
            <a:avLst/>
          </a:prstGeom>
        </p:spPr>
      </p:pic>
      <p:sp>
        <p:nvSpPr>
          <p:cNvPr id="13" name="Text 10"/>
          <p:cNvSpPr txBox="1"/>
          <p:nvPr/>
        </p:nvSpPr>
        <p:spPr>
          <a:xfrm>
            <a:off x="5376672" y="1472184"/>
            <a:ext cx="3200400" cy="365760"/>
          </a:xfrm>
          <a:prstGeom prst="rect">
            <a:avLst/>
          </a:prstGeom>
          <a:noFill/>
          <a:ln/>
        </p:spPr>
        <p:txBody>
          <a:bodyPr wrap="square" lIns="0" tIns="0" rIns="0" bIns="0" rtlCol="0" anchor="ctr"/>
          <a:lstStyle/>
          <a:p>
            <a:pPr indent="0" marL="0">
              <a:buNone/>
            </a:pPr>
            <a:r>
              <a:rPr lang="en-US" sz="1300" b="1" dirty="0">
                <a:solidFill>
                  <a:schemeClr val="accent2"/>
                </a:solidFill>
              </a:rPr>
              <a:t>Reading breaks on</a:t>
            </a:r>
            <a:endParaRPr lang="en-US" sz="1300" dirty="0"/>
          </a:p>
        </p:txBody>
      </p:sp>
      <p:sp>
        <p:nvSpPr>
          <p:cNvPr id="14" name="Text 11"/>
          <p:cNvSpPr txBox="1"/>
          <p:nvPr/>
        </p:nvSpPr>
        <p:spPr>
          <a:xfrm>
            <a:off x="4983480" y="1892808"/>
            <a:ext cx="3733495" cy="804672"/>
          </a:xfrm>
          <a:prstGeom prst="rect">
            <a:avLst/>
          </a:prstGeom>
          <a:noFill/>
          <a:ln/>
        </p:spPr>
        <p:txBody>
          <a:bodyPr wrap="square" lIns="0" tIns="0" rIns="0" bIns="0" rtlCol="0" anchor="t"/>
          <a:lstStyle/>
          <a:p>
            <a:pPr indent="0" marL="0">
              <a:buNone/>
            </a:pPr>
            <a:r>
              <a:rPr lang="en-US" sz="1400" dirty="0">
                <a:solidFill>
                  <a:schemeClr val="tx1"/>
                </a:solidFill>
              </a:rPr>
              <a:t>Right to left; letters join and change shape; dots tell letters apart; numbers inside run left to right.</a:t>
            </a:r>
            <a:endParaRPr lang="en-US" sz="1400" dirty="0"/>
          </a:p>
        </p:txBody>
      </p:sp>
      <p:sp>
        <p:nvSpPr>
          <p:cNvPr id="15" name="Shape 12"/>
          <p:cNvSpPr/>
          <p:nvPr/>
        </p:nvSpPr>
        <p:spPr>
          <a:xfrm>
            <a:off x="8899855" y="1426464"/>
            <a:ext cx="2615184" cy="1216152"/>
          </a:xfrm>
          <a:prstGeom prst="roundRect">
            <a:avLst>
              <a:gd name="adj" fmla="val 4511"/>
            </a:avLst>
          </a:prstGeom>
          <a:solidFill>
            <a:schemeClr val="bg1"/>
          </a:solidFill>
          <a:ln/>
        </p:spPr>
      </p:sp>
      <p:sp>
        <p:nvSpPr>
          <p:cNvPr id="16" name="Text 13"/>
          <p:cNvSpPr txBox="1"/>
          <p:nvPr/>
        </p:nvSpPr>
        <p:spPr>
          <a:xfrm>
            <a:off x="9046159" y="1444752"/>
            <a:ext cx="2340864" cy="420624"/>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13 · 31 · 54</a:t>
            </a:r>
            <a:endParaRPr lang="en-US" sz="1800" dirty="0"/>
          </a:p>
        </p:txBody>
      </p:sp>
      <p:sp>
        <p:nvSpPr>
          <p:cNvPr id="17" name="Text 14"/>
          <p:cNvSpPr txBox="1"/>
          <p:nvPr/>
        </p:nvSpPr>
        <p:spPr>
          <a:xfrm>
            <a:off x="9046159" y="1874520"/>
            <a:ext cx="2340864" cy="548640"/>
          </a:xfrm>
          <a:prstGeom prst="rect">
            <a:avLst/>
          </a:prstGeom>
          <a:noFill/>
          <a:ln/>
        </p:spPr>
        <p:txBody>
          <a:bodyPr wrap="square" lIns="0" tIns="0" rIns="0" bIns="0" rtlCol="0" anchor="t"/>
          <a:lstStyle/>
          <a:p>
            <a:pPr indent="0" marL="0">
              <a:buNone/>
            </a:pPr>
            <a:r>
              <a:rPr lang="en-US" sz="1050" dirty="0">
                <a:solidFill>
                  <a:schemeClr val="tx1"/>
                </a:solidFill>
              </a:rPr>
              <a:t>mistakes per 100 characters: Gemini 2.0 Flash · GPT-4o · Tesseract</a:t>
            </a:r>
            <a:endParaRPr lang="en-US" sz="1050" dirty="0"/>
          </a:p>
        </p:txBody>
      </p:sp>
      <p:sp>
        <p:nvSpPr>
          <p:cNvPr id="18" name="Text 15"/>
          <p:cNvSpPr txBox="1"/>
          <p:nvPr/>
        </p:nvSpPr>
        <p:spPr>
          <a:xfrm>
            <a:off x="9046159" y="2404872"/>
            <a:ext cx="2340864" cy="201168"/>
          </a:xfrm>
          <a:prstGeom prst="rect">
            <a:avLst/>
          </a:prstGeom>
          <a:noFill/>
          <a:ln/>
        </p:spPr>
        <p:txBody>
          <a:bodyPr wrap="square" lIns="0" tIns="0" rIns="0" bIns="0" rtlCol="0" anchor="t"/>
          <a:lstStyle/>
          <a:p>
            <a:pPr indent="0" marL="0">
              <a:buNone/>
            </a:pPr>
            <a:r>
              <a:rPr lang="en-US" sz="850" dirty="0">
                <a:solidFill>
                  <a:schemeClr val="accent3"/>
                </a:solidFill>
              </a:rPr>
              <a:t>KITAB-Bench, ACL Findings 2025</a:t>
            </a:r>
            <a:endParaRPr lang="en-US" sz="850" dirty="0"/>
          </a:p>
        </p:txBody>
      </p:sp>
      <p:sp>
        <p:nvSpPr>
          <p:cNvPr id="19" name="card"/>
          <p:cNvSpPr/>
          <p:nvPr/>
        </p:nvSpPr>
        <p:spPr>
          <a:xfrm>
            <a:off x="4754880" y="2862072"/>
            <a:ext cx="6888175" cy="1417320"/>
          </a:xfrm>
          <a:prstGeom prst="roundRect">
            <a:avLst>
              <a:gd name="adj" fmla="val 5161"/>
            </a:avLst>
          </a:prstGeom>
          <a:solidFill>
            <a:schemeClr val="bg2"/>
          </a:solidFill>
          <a:ln/>
        </p:spPr>
      </p:sp>
      <p:pic>
        <p:nvPicPr>
          <p:cNvPr id="20" name="Image 1" descr="preencoded.png">    </p:cNvPr>
          <p:cNvPicPr>
            <a:picLocks noChangeAspect="1"/>
          </p:cNvPicPr>
          <p:nvPr/>
        </p:nvPicPr>
        <p:blipFill>
          <a:blip r:embed="rId2"/>
          <a:stretch>
            <a:fillRect/>
          </a:stretch>
        </p:blipFill>
        <p:spPr>
          <a:xfrm>
            <a:off x="4983480" y="3044952"/>
            <a:ext cx="292608" cy="292608"/>
          </a:xfrm>
          <a:prstGeom prst="rect">
            <a:avLst/>
          </a:prstGeom>
        </p:spPr>
      </p:pic>
      <p:sp>
        <p:nvSpPr>
          <p:cNvPr id="21" name="Text 17"/>
          <p:cNvSpPr txBox="1"/>
          <p:nvPr/>
        </p:nvSpPr>
        <p:spPr>
          <a:xfrm>
            <a:off x="5376672" y="3008376"/>
            <a:ext cx="3200400" cy="365760"/>
          </a:xfrm>
          <a:prstGeom prst="rect">
            <a:avLst/>
          </a:prstGeom>
          <a:noFill/>
          <a:ln/>
        </p:spPr>
        <p:txBody>
          <a:bodyPr wrap="square" lIns="0" tIns="0" rIns="0" bIns="0" rtlCol="0" anchor="ctr"/>
          <a:lstStyle/>
          <a:p>
            <a:pPr indent="0" marL="0">
              <a:buNone/>
            </a:pPr>
            <a:r>
              <a:rPr lang="en-US" sz="1300" b="1" dirty="0">
                <a:solidFill>
                  <a:schemeClr val="accent1"/>
                </a:solidFill>
              </a:rPr>
              <a:t>Translating breaks on</a:t>
            </a:r>
            <a:endParaRPr lang="en-US" sz="1300" dirty="0"/>
          </a:p>
        </p:txBody>
      </p:sp>
      <p:sp>
        <p:nvSpPr>
          <p:cNvPr id="22" name="Text 18"/>
          <p:cNvSpPr txBox="1"/>
          <p:nvPr/>
        </p:nvSpPr>
        <p:spPr>
          <a:xfrm>
            <a:off x="4983480" y="3429000"/>
            <a:ext cx="3733495" cy="804672"/>
          </a:xfrm>
          <a:prstGeom prst="rect">
            <a:avLst/>
          </a:prstGeom>
          <a:noFill/>
          <a:ln/>
        </p:spPr>
        <p:txBody>
          <a:bodyPr wrap="square" lIns="0" tIns="0" rIns="0" bIns="0" rtlCol="0" anchor="t"/>
          <a:lstStyle/>
          <a:p>
            <a:pPr indent="0" marL="0">
              <a:buNone/>
            </a:pPr>
            <a:r>
              <a:rPr lang="en-US" sz="1400" dirty="0">
                <a:solidFill>
                  <a:schemeClr val="tx1"/>
                </a:solidFill>
              </a:rPr>
              <a:t>Formal Standard Arabic differs from the dialects people write in; vowels and gender have to be inferred.</a:t>
            </a:r>
            <a:endParaRPr lang="en-US" sz="1400" dirty="0"/>
          </a:p>
        </p:txBody>
      </p:sp>
      <p:sp>
        <p:nvSpPr>
          <p:cNvPr id="23" name="Shape 19"/>
          <p:cNvSpPr/>
          <p:nvPr/>
        </p:nvSpPr>
        <p:spPr>
          <a:xfrm>
            <a:off x="8899855" y="2962656"/>
            <a:ext cx="2615184" cy="1216152"/>
          </a:xfrm>
          <a:prstGeom prst="roundRect">
            <a:avLst>
              <a:gd name="adj" fmla="val 4511"/>
            </a:avLst>
          </a:prstGeom>
          <a:solidFill>
            <a:schemeClr val="bg1"/>
          </a:solidFill>
          <a:ln/>
        </p:spPr>
      </p:sp>
      <p:sp>
        <p:nvSpPr>
          <p:cNvPr id="24" name="Text 20"/>
          <p:cNvSpPr txBox="1"/>
          <p:nvPr/>
        </p:nvSpPr>
        <p:spPr>
          <a:xfrm>
            <a:off x="9046159" y="2980944"/>
            <a:ext cx="2340864" cy="420624"/>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66 vs 8</a:t>
            </a:r>
            <a:endParaRPr lang="en-US" sz="2300" dirty="0"/>
          </a:p>
        </p:txBody>
      </p:sp>
      <p:sp>
        <p:nvSpPr>
          <p:cNvPr id="25" name="Text 21"/>
          <p:cNvSpPr txBox="1"/>
          <p:nvPr/>
        </p:nvSpPr>
        <p:spPr>
          <a:xfrm>
            <a:off x="9046159" y="3410712"/>
            <a:ext cx="2340864" cy="548640"/>
          </a:xfrm>
          <a:prstGeom prst="rect">
            <a:avLst/>
          </a:prstGeom>
          <a:noFill/>
          <a:ln/>
        </p:spPr>
        <p:txBody>
          <a:bodyPr wrap="square" lIns="0" tIns="0" rIns="0" bIns="0" rtlCol="0" anchor="t"/>
          <a:lstStyle/>
          <a:p>
            <a:pPr indent="0" marL="0">
              <a:buNone/>
            </a:pPr>
            <a:r>
              <a:rPr lang="en-US" sz="1050" dirty="0">
                <a:solidFill>
                  <a:schemeClr val="tx1"/>
                </a:solidFill>
              </a:rPr>
              <a:t>Google Translate score on formal Arabic vs the Mauritanian dialect (BLEU)</a:t>
            </a:r>
            <a:endParaRPr lang="en-US" sz="1050" dirty="0"/>
          </a:p>
        </p:txBody>
      </p:sp>
      <p:sp>
        <p:nvSpPr>
          <p:cNvPr id="26" name="Text 22"/>
          <p:cNvSpPr txBox="1"/>
          <p:nvPr/>
        </p:nvSpPr>
        <p:spPr>
          <a:xfrm>
            <a:off x="9046159" y="3941064"/>
            <a:ext cx="2340864" cy="201168"/>
          </a:xfrm>
          <a:prstGeom prst="rect">
            <a:avLst/>
          </a:prstGeom>
          <a:noFill/>
          <a:ln/>
        </p:spPr>
        <p:txBody>
          <a:bodyPr wrap="square" lIns="0" tIns="0" rIns="0" bIns="0" rtlCol="0" anchor="t"/>
          <a:lstStyle/>
          <a:p>
            <a:pPr indent="0" marL="0">
              <a:buNone/>
            </a:pPr>
            <a:r>
              <a:rPr lang="en-US" sz="850" dirty="0">
                <a:solidFill>
                  <a:schemeClr val="accent3"/>
                </a:solidFill>
              </a:rPr>
              <a:t>TARJAMAT, ArabicNLP 2023</a:t>
            </a:r>
            <a:endParaRPr lang="en-US" sz="850" dirty="0"/>
          </a:p>
        </p:txBody>
      </p:sp>
      <p:sp>
        <p:nvSpPr>
          <p:cNvPr id="27" name="card"/>
          <p:cNvSpPr/>
          <p:nvPr/>
        </p:nvSpPr>
        <p:spPr>
          <a:xfrm>
            <a:off x="4754880" y="4398264"/>
            <a:ext cx="6888175" cy="1591056"/>
          </a:xfrm>
          <a:prstGeom prst="roundRect">
            <a:avLst>
              <a:gd name="adj" fmla="val 4598"/>
            </a:avLst>
          </a:prstGeom>
          <a:solidFill>
            <a:srgbClr val="FBEDEA"/>
          </a:solidFill>
          <a:ln/>
        </p:spPr>
      </p:sp>
      <p:sp>
        <p:nvSpPr>
          <p:cNvPr id="28" name="Text 24"/>
          <p:cNvSpPr txBox="1"/>
          <p:nvPr/>
        </p:nvSpPr>
        <p:spPr>
          <a:xfrm>
            <a:off x="4983480" y="4507992"/>
            <a:ext cx="6430975" cy="292608"/>
          </a:xfrm>
          <a:prstGeom prst="rect">
            <a:avLst/>
          </a:prstGeom>
          <a:noFill/>
          <a:ln/>
        </p:spPr>
        <p:txBody>
          <a:bodyPr wrap="square" lIns="0" tIns="0" rIns="0" bIns="0" rtlCol="0" anchor="t"/>
          <a:lstStyle/>
          <a:p>
            <a:pPr indent="0" marL="0">
              <a:buNone/>
            </a:pPr>
            <a:r>
              <a:rPr lang="en-US" sz="1300" b="1" dirty="0">
                <a:solidFill>
                  <a:schemeClr val="accent1"/>
                </a:solidFill>
              </a:rPr>
              <a:t>In the real world</a:t>
            </a:r>
            <a:endParaRPr lang="en-US" sz="1300" dirty="0"/>
          </a:p>
        </p:txBody>
      </p:sp>
      <p:sp>
        <p:nvSpPr>
          <p:cNvPr id="29" name="Text 25"/>
          <p:cNvSpPr txBox="1"/>
          <p:nvPr/>
        </p:nvSpPr>
        <p:spPr>
          <a:xfrm>
            <a:off x="4983480" y="4809744"/>
            <a:ext cx="6430975" cy="877824"/>
          </a:xfrm>
          <a:prstGeom prst="rect">
            <a:avLst/>
          </a:prstGeom>
          <a:noFill/>
          <a:ln/>
        </p:spPr>
        <p:txBody>
          <a:bodyPr wrap="square" lIns="0" tIns="0" rIns="0" bIns="0" rtlCol="0" anchor="t"/>
          <a:lstStyle/>
          <a:p>
            <a:pPr indent="0" marL="0">
              <a:buNone/>
            </a:pPr>
            <a:r>
              <a:rPr lang="en-US" sz="1450" dirty="0">
                <a:solidFill>
                  <a:schemeClr val="tx1"/>
                </a:solidFill>
              </a:rPr>
              <a:t>A construction worker captioned a photo “good morning”. Facebook translated it as “attack them”. Police arrested him before anyone who reads Arabic checked the post.</a:t>
            </a:r>
            <a:endParaRPr lang="en-US" sz="1450" dirty="0"/>
          </a:p>
        </p:txBody>
      </p:sp>
      <p:sp>
        <p:nvSpPr>
          <p:cNvPr id="30" name="Text 26"/>
          <p:cNvSpPr txBox="1"/>
          <p:nvPr/>
        </p:nvSpPr>
        <p:spPr>
          <a:xfrm>
            <a:off x="4983480" y="5696712"/>
            <a:ext cx="6430975" cy="219456"/>
          </a:xfrm>
          <a:prstGeom prst="rect">
            <a:avLst/>
          </a:prstGeom>
          <a:noFill/>
          <a:ln/>
        </p:spPr>
        <p:txBody>
          <a:bodyPr wrap="square" lIns="0" tIns="0" rIns="0" bIns="0" rtlCol="0" anchor="t"/>
          <a:lstStyle/>
          <a:p>
            <a:pPr indent="0" marL="0">
              <a:buNone/>
            </a:pPr>
            <a:r>
              <a:rPr lang="en-US" sz="900" dirty="0">
                <a:solidFill>
                  <a:schemeClr val="accent3"/>
                </a:solidFill>
              </a:rPr>
              <a:t>The Jewish Chronicle, 23 Oct 2017; AFP, 22 Oct 2017</a:t>
            </a:r>
            <a:endParaRPr lang="en-US" sz="9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Persian, Urdu, Pashto: one alphabet, many hands</a:t>
            </a:r>
            <a:endParaRPr lang="en-US" sz="3200" dirty="0"/>
          </a:p>
        </p:txBody>
      </p:sp>
      <p:sp>
        <p:nvSpPr>
          <p:cNvPr id="3" name="card"/>
          <p:cNvSpPr/>
          <p:nvPr/>
        </p:nvSpPr>
        <p:spPr>
          <a:xfrm>
            <a:off x="548640" y="1325880"/>
            <a:ext cx="3931920" cy="4663440"/>
          </a:xfrm>
          <a:prstGeom prst="roundRect">
            <a:avLst>
              <a:gd name="adj" fmla="val 1860"/>
            </a:avLst>
          </a:prstGeom>
          <a:solidFill>
            <a:schemeClr val="tx1"/>
          </a:solidFill>
          <a:ln/>
        </p:spPr>
      </p:sp>
      <p:sp>
        <p:nvSpPr>
          <p:cNvPr id="4" name="Text 2"/>
          <p:cNvSpPr txBox="1"/>
          <p:nvPr/>
        </p:nvSpPr>
        <p:spPr>
          <a:xfrm>
            <a:off x="868680" y="1527048"/>
            <a:ext cx="3291840" cy="731520"/>
          </a:xfrm>
          <a:prstGeom prst="rect">
            <a:avLst/>
          </a:prstGeom>
          <a:noFill/>
          <a:ln/>
        </p:spPr>
        <p:txBody>
          <a:bodyPr wrap="square" lIns="0" tIns="0" rIns="0" bIns="0" rtlCol="0" anchor="ctr"/>
          <a:lstStyle/>
          <a:p>
            <a:pPr indent="0" marL="0">
              <a:buNone/>
            </a:pPr>
            <a:r>
              <a:rPr lang="en-US" sz="3000" b="1" dirty="0">
                <a:solidFill>
                  <a:schemeClr val="bg1"/>
                </a:solidFill>
                <a:latin typeface="Geeza Pro" pitchFamily="34" charset="0"/>
                <a:ea typeface="Geeza Pro" pitchFamily="34" charset="-122"/>
                <a:cs typeface="Geeza Pro" pitchFamily="34" charset="-120"/>
              </a:rPr>
              <a:t>فارسی · اردو · پښتو</a:t>
            </a:r>
            <a:endParaRPr lang="en-US" sz="3000" dirty="0"/>
          </a:p>
        </p:txBody>
      </p:sp>
      <p:sp>
        <p:nvSpPr>
          <p:cNvPr id="5" name="Text 3"/>
          <p:cNvSpPr txBox="1"/>
          <p:nvPr/>
        </p:nvSpPr>
        <p:spPr>
          <a:xfrm>
            <a:off x="868680" y="2276856"/>
            <a:ext cx="3291840" cy="292608"/>
          </a:xfrm>
          <a:prstGeom prst="rect">
            <a:avLst/>
          </a:prstGeom>
          <a:noFill/>
          <a:ln/>
        </p:spPr>
        <p:txBody>
          <a:bodyPr wrap="square" lIns="0" tIns="0" rIns="0" bIns="0" rtlCol="0" anchor="t"/>
          <a:lstStyle/>
          <a:p>
            <a:pPr indent="0" marL="0">
              <a:buNone/>
            </a:pPr>
            <a:r>
              <a:rPr lang="en-US" sz="1300" b="1" dirty="0">
                <a:solidFill>
                  <a:srgbClr val="AEB6C6"/>
                </a:solidFill>
              </a:rPr>
              <a:t>Persian (Farsi, Dari) · Urdu · Pashto, written right to left</a:t>
            </a:r>
            <a:endParaRPr lang="en-US" sz="1300" dirty="0"/>
          </a:p>
        </p:txBody>
      </p:sp>
      <p:sp>
        <p:nvSpPr>
          <p:cNvPr id="6" name="Shape 4"/>
          <p:cNvSpPr/>
          <p:nvPr/>
        </p:nvSpPr>
        <p:spPr>
          <a:xfrm>
            <a:off x="868680" y="2679192"/>
            <a:ext cx="3291840" cy="0"/>
          </a:xfrm>
          <a:prstGeom prst="line">
            <a:avLst/>
          </a:prstGeom>
          <a:noFill/>
          <a:ln w="12700">
            <a:solidFill>
              <a:srgbClr val="46506A"/>
            </a:solidFill>
            <a:prstDash val="solid"/>
          </a:ln>
        </p:spPr>
      </p:sp>
      <p:sp>
        <p:nvSpPr>
          <p:cNvPr id="7" name="Text 5"/>
          <p:cNvSpPr txBox="1"/>
          <p:nvPr/>
        </p:nvSpPr>
        <p:spPr>
          <a:xfrm>
            <a:off x="868680" y="2788920"/>
            <a:ext cx="3291840" cy="658368"/>
          </a:xfrm>
          <a:prstGeom prst="rect">
            <a:avLst/>
          </a:prstGeom>
          <a:noFill/>
          <a:ln/>
        </p:spPr>
        <p:txBody>
          <a:bodyPr wrap="square" lIns="0" tIns="0" rIns="0" bIns="0" rtlCol="0" anchor="b"/>
          <a:lstStyle/>
          <a:p>
            <a:pPr indent="0" marL="0">
              <a:buNone/>
            </a:pPr>
            <a:r>
              <a:rPr lang="en-US" sz="3400" b="1" dirty="0">
                <a:solidFill>
                  <a:schemeClr val="bg1"/>
                </a:solidFill>
                <a:latin typeface="Geeza Pro" pitchFamily="34" charset="0"/>
                <a:ea typeface="Geeza Pro" pitchFamily="34" charset="-122"/>
                <a:cs typeface="Geeza Pro" pitchFamily="34" charset="-120"/>
              </a:rPr>
              <a:t>ب پ ت ث</a:t>
            </a:r>
            <a:endParaRPr lang="en-US" sz="3400" dirty="0"/>
          </a:p>
        </p:txBody>
      </p:sp>
      <p:sp>
        <p:nvSpPr>
          <p:cNvPr id="8" name="Text 6"/>
          <p:cNvSpPr txBox="1"/>
          <p:nvPr/>
        </p:nvSpPr>
        <p:spPr>
          <a:xfrm>
            <a:off x="868680" y="3483864"/>
            <a:ext cx="3291840" cy="800100"/>
          </a:xfrm>
          <a:prstGeom prst="rect">
            <a:avLst/>
          </a:prstGeom>
          <a:noFill/>
          <a:ln/>
        </p:spPr>
        <p:txBody>
          <a:bodyPr wrap="square" lIns="0" tIns="0" rIns="0" bIns="0" rtlCol="0" anchor="t"/>
          <a:lstStyle/>
          <a:p>
            <a:pPr indent="0" marL="0">
              <a:buNone/>
            </a:pPr>
            <a:r>
              <a:rPr lang="en-US" sz="1200" dirty="0">
                <a:solidFill>
                  <a:srgbClr val="AEB6C6"/>
                </a:solidFill>
              </a:rPr>
              <a:t>Persian b, p, t, s (right to left): the same skeleton, different dots</a:t>
            </a:r>
            <a:endParaRPr lang="en-US" sz="1200" dirty="0"/>
          </a:p>
        </p:txBody>
      </p:sp>
      <p:sp>
        <p:nvSpPr>
          <p:cNvPr id="9" name="Text 7"/>
          <p:cNvSpPr txBox="1"/>
          <p:nvPr/>
        </p:nvSpPr>
        <p:spPr>
          <a:xfrm>
            <a:off x="868680" y="4320540"/>
            <a:ext cx="3291840" cy="658368"/>
          </a:xfrm>
          <a:prstGeom prst="rect">
            <a:avLst/>
          </a:prstGeom>
          <a:noFill/>
          <a:ln/>
        </p:spPr>
        <p:txBody>
          <a:bodyPr wrap="square" lIns="0" tIns="0" rIns="0" bIns="0" rtlCol="0" anchor="b"/>
          <a:lstStyle/>
          <a:p>
            <a:pPr indent="0" marL="0">
              <a:buNone/>
            </a:pPr>
            <a:r>
              <a:rPr lang="en-US" sz="3600" b="1" dirty="0">
                <a:solidFill>
                  <a:schemeClr val="bg1"/>
                </a:solidFill>
                <a:latin typeface="Geeza Pro" pitchFamily="34" charset="0"/>
                <a:ea typeface="Geeza Pro" pitchFamily="34" charset="-122"/>
                <a:cs typeface="Geeza Pro" pitchFamily="34" charset="-120"/>
              </a:rPr>
              <a:t>او</a:t>
            </a:r>
            <a:endParaRPr lang="en-US" sz="3600" dirty="0"/>
          </a:p>
        </p:txBody>
      </p:sp>
      <p:sp>
        <p:nvSpPr>
          <p:cNvPr id="10" name="Text 8"/>
          <p:cNvSpPr txBox="1"/>
          <p:nvPr/>
        </p:nvSpPr>
        <p:spPr>
          <a:xfrm>
            <a:off x="868680" y="5015484"/>
            <a:ext cx="3291840" cy="800100"/>
          </a:xfrm>
          <a:prstGeom prst="rect">
            <a:avLst/>
          </a:prstGeom>
          <a:noFill/>
          <a:ln/>
        </p:spPr>
        <p:txBody>
          <a:bodyPr wrap="square" lIns="0" tIns="0" rIns="0" bIns="0" rtlCol="0" anchor="t"/>
          <a:lstStyle/>
          <a:p>
            <a:pPr indent="0" marL="0">
              <a:buNone/>
            </a:pPr>
            <a:r>
              <a:rPr lang="en-US" sz="1200" dirty="0">
                <a:solidFill>
                  <a:srgbClr val="AEB6C6"/>
                </a:solidFill>
              </a:rPr>
              <a:t>Persian “u”: he or she</a:t>
            </a:r>
            <a:endParaRPr lang="en-US" sz="1200" dirty="0"/>
          </a:p>
        </p:txBody>
      </p:sp>
      <p:sp>
        <p:nvSpPr>
          <p:cNvPr id="11" name="card"/>
          <p:cNvSpPr/>
          <p:nvPr/>
        </p:nvSpPr>
        <p:spPr>
          <a:xfrm>
            <a:off x="4754880" y="1325880"/>
            <a:ext cx="6888175" cy="1417320"/>
          </a:xfrm>
          <a:prstGeom prst="roundRect">
            <a:avLst>
              <a:gd name="adj" fmla="val 5161"/>
            </a:avLst>
          </a:prstGeom>
          <a:solidFill>
            <a:schemeClr val="bg2"/>
          </a:solidFill>
          <a:ln/>
        </p:spPr>
      </p:sp>
      <p:pic>
        <p:nvPicPr>
          <p:cNvPr id="12" name="Image 0" descr="preencoded.png">    </p:cNvPr>
          <p:cNvPicPr>
            <a:picLocks noChangeAspect="1"/>
          </p:cNvPicPr>
          <p:nvPr/>
        </p:nvPicPr>
        <p:blipFill>
          <a:blip r:embed="rId1"/>
          <a:stretch>
            <a:fillRect/>
          </a:stretch>
        </p:blipFill>
        <p:spPr>
          <a:xfrm>
            <a:off x="4983480" y="1508760"/>
            <a:ext cx="292608" cy="292608"/>
          </a:xfrm>
          <a:prstGeom prst="rect">
            <a:avLst/>
          </a:prstGeom>
        </p:spPr>
      </p:pic>
      <p:sp>
        <p:nvSpPr>
          <p:cNvPr id="13" name="Text 10"/>
          <p:cNvSpPr txBox="1"/>
          <p:nvPr/>
        </p:nvSpPr>
        <p:spPr>
          <a:xfrm>
            <a:off x="5376672" y="1472184"/>
            <a:ext cx="3200400" cy="365760"/>
          </a:xfrm>
          <a:prstGeom prst="rect">
            <a:avLst/>
          </a:prstGeom>
          <a:noFill/>
          <a:ln/>
        </p:spPr>
        <p:txBody>
          <a:bodyPr wrap="square" lIns="0" tIns="0" rIns="0" bIns="0" rtlCol="0" anchor="ctr"/>
          <a:lstStyle/>
          <a:p>
            <a:pPr indent="0" marL="0">
              <a:buNone/>
            </a:pPr>
            <a:r>
              <a:rPr lang="en-US" sz="1300" b="1" dirty="0">
                <a:solidFill>
                  <a:schemeClr val="accent2"/>
                </a:solidFill>
              </a:rPr>
              <a:t>Reading breaks on</a:t>
            </a:r>
            <a:endParaRPr lang="en-US" sz="1300" dirty="0"/>
          </a:p>
        </p:txBody>
      </p:sp>
      <p:sp>
        <p:nvSpPr>
          <p:cNvPr id="14" name="Text 11"/>
          <p:cNvSpPr txBox="1"/>
          <p:nvPr/>
        </p:nvSpPr>
        <p:spPr>
          <a:xfrm>
            <a:off x="4983480" y="1892808"/>
            <a:ext cx="3733495" cy="804672"/>
          </a:xfrm>
          <a:prstGeom prst="rect">
            <a:avLst/>
          </a:prstGeom>
          <a:noFill/>
          <a:ln/>
        </p:spPr>
        <p:txBody>
          <a:bodyPr wrap="square" lIns="0" tIns="0" rIns="0" bIns="0" rtlCol="0" anchor="t"/>
          <a:lstStyle/>
          <a:p>
            <a:pPr indent="0" marL="0">
              <a:buNone/>
            </a:pPr>
            <a:r>
              <a:rPr lang="en-US" sz="1400" dirty="0">
                <a:solidFill>
                  <a:schemeClr val="tx1"/>
                </a:solidFill>
              </a:rPr>
              <a:t>Urdu is set in Nastaliq: words slope diagonally, letters stack, dots drift away from their letters.</a:t>
            </a:r>
            <a:endParaRPr lang="en-US" sz="1400" dirty="0"/>
          </a:p>
        </p:txBody>
      </p:sp>
      <p:sp>
        <p:nvSpPr>
          <p:cNvPr id="15" name="Shape 12"/>
          <p:cNvSpPr/>
          <p:nvPr/>
        </p:nvSpPr>
        <p:spPr>
          <a:xfrm>
            <a:off x="8899855" y="1426464"/>
            <a:ext cx="2615184" cy="1216152"/>
          </a:xfrm>
          <a:prstGeom prst="roundRect">
            <a:avLst>
              <a:gd name="adj" fmla="val 4511"/>
            </a:avLst>
          </a:prstGeom>
          <a:solidFill>
            <a:schemeClr val="bg1"/>
          </a:solidFill>
          <a:ln/>
        </p:spPr>
      </p:sp>
      <p:sp>
        <p:nvSpPr>
          <p:cNvPr id="16" name="Text 13"/>
          <p:cNvSpPr txBox="1"/>
          <p:nvPr/>
        </p:nvSpPr>
        <p:spPr>
          <a:xfrm>
            <a:off x="9046159" y="1444752"/>
            <a:ext cx="2340864" cy="420624"/>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93% vs 26–41%</a:t>
            </a:r>
            <a:endParaRPr lang="en-US" sz="1800" dirty="0"/>
          </a:p>
        </p:txBody>
      </p:sp>
      <p:sp>
        <p:nvSpPr>
          <p:cNvPr id="17" name="Text 14"/>
          <p:cNvSpPr txBox="1"/>
          <p:nvPr/>
        </p:nvSpPr>
        <p:spPr>
          <a:xfrm>
            <a:off x="9046159" y="1874520"/>
            <a:ext cx="2340864" cy="548640"/>
          </a:xfrm>
          <a:prstGeom prst="rect">
            <a:avLst/>
          </a:prstGeom>
          <a:noFill/>
          <a:ln/>
        </p:spPr>
        <p:txBody>
          <a:bodyPr wrap="square" lIns="0" tIns="0" rIns="0" bIns="0" rtlCol="0" anchor="t"/>
          <a:lstStyle/>
          <a:p>
            <a:pPr indent="0" marL="0">
              <a:buNone/>
            </a:pPr>
            <a:r>
              <a:rPr lang="en-US" sz="1050" dirty="0">
                <a:solidFill>
                  <a:schemeClr val="tx1"/>
                </a:solidFill>
              </a:rPr>
              <a:t>Urdu characters read right: Urdu-built reader vs readers built for Latin text</a:t>
            </a:r>
            <a:endParaRPr lang="en-US" sz="1050" dirty="0"/>
          </a:p>
        </p:txBody>
      </p:sp>
      <p:sp>
        <p:nvSpPr>
          <p:cNvPr id="18" name="Text 15"/>
          <p:cNvSpPr txBox="1"/>
          <p:nvPr/>
        </p:nvSpPr>
        <p:spPr>
          <a:xfrm>
            <a:off x="9046159" y="2404872"/>
            <a:ext cx="2340864" cy="201168"/>
          </a:xfrm>
          <a:prstGeom prst="rect">
            <a:avLst/>
          </a:prstGeom>
          <a:noFill/>
          <a:ln/>
        </p:spPr>
        <p:txBody>
          <a:bodyPr wrap="square" lIns="0" tIns="0" rIns="0" bIns="0" rtlCol="0" anchor="t"/>
          <a:lstStyle/>
          <a:p>
            <a:pPr indent="0" marL="0">
              <a:buNone/>
            </a:pPr>
            <a:r>
              <a:rPr lang="en-US" sz="850" dirty="0">
                <a:solidFill>
                  <a:schemeClr val="accent3"/>
                </a:solidFill>
              </a:rPr>
              <a:t>UTRNet, ICDAR 2023</a:t>
            </a:r>
            <a:endParaRPr lang="en-US" sz="850" dirty="0"/>
          </a:p>
        </p:txBody>
      </p:sp>
      <p:sp>
        <p:nvSpPr>
          <p:cNvPr id="19" name="card"/>
          <p:cNvSpPr/>
          <p:nvPr/>
        </p:nvSpPr>
        <p:spPr>
          <a:xfrm>
            <a:off x="4754880" y="2862072"/>
            <a:ext cx="6888175" cy="1417320"/>
          </a:xfrm>
          <a:prstGeom prst="roundRect">
            <a:avLst>
              <a:gd name="adj" fmla="val 5161"/>
            </a:avLst>
          </a:prstGeom>
          <a:solidFill>
            <a:schemeClr val="bg2"/>
          </a:solidFill>
          <a:ln/>
        </p:spPr>
      </p:sp>
      <p:pic>
        <p:nvPicPr>
          <p:cNvPr id="20" name="Image 1" descr="preencoded.png">    </p:cNvPr>
          <p:cNvPicPr>
            <a:picLocks noChangeAspect="1"/>
          </p:cNvPicPr>
          <p:nvPr/>
        </p:nvPicPr>
        <p:blipFill>
          <a:blip r:embed="rId2"/>
          <a:stretch>
            <a:fillRect/>
          </a:stretch>
        </p:blipFill>
        <p:spPr>
          <a:xfrm>
            <a:off x="4983480" y="3044952"/>
            <a:ext cx="292608" cy="292608"/>
          </a:xfrm>
          <a:prstGeom prst="rect">
            <a:avLst/>
          </a:prstGeom>
        </p:spPr>
      </p:pic>
      <p:sp>
        <p:nvSpPr>
          <p:cNvPr id="21" name="Text 17"/>
          <p:cNvSpPr txBox="1"/>
          <p:nvPr/>
        </p:nvSpPr>
        <p:spPr>
          <a:xfrm>
            <a:off x="5376672" y="3008376"/>
            <a:ext cx="3200400" cy="365760"/>
          </a:xfrm>
          <a:prstGeom prst="rect">
            <a:avLst/>
          </a:prstGeom>
          <a:noFill/>
          <a:ln/>
        </p:spPr>
        <p:txBody>
          <a:bodyPr wrap="square" lIns="0" tIns="0" rIns="0" bIns="0" rtlCol="0" anchor="ctr"/>
          <a:lstStyle/>
          <a:p>
            <a:pPr indent="0" marL="0">
              <a:buNone/>
            </a:pPr>
            <a:r>
              <a:rPr lang="en-US" sz="1300" b="1" dirty="0">
                <a:solidFill>
                  <a:schemeClr val="accent1"/>
                </a:solidFill>
              </a:rPr>
              <a:t>Translating breaks on</a:t>
            </a:r>
            <a:endParaRPr lang="en-US" sz="1300" dirty="0"/>
          </a:p>
        </p:txBody>
      </p:sp>
      <p:sp>
        <p:nvSpPr>
          <p:cNvPr id="22" name="Text 18"/>
          <p:cNvSpPr txBox="1"/>
          <p:nvPr/>
        </p:nvSpPr>
        <p:spPr>
          <a:xfrm>
            <a:off x="4983480" y="3429000"/>
            <a:ext cx="3733495" cy="804672"/>
          </a:xfrm>
          <a:prstGeom prst="rect">
            <a:avLst/>
          </a:prstGeom>
          <a:noFill/>
          <a:ln/>
        </p:spPr>
        <p:txBody>
          <a:bodyPr wrap="square" lIns="0" tIns="0" rIns="0" bIns="0" rtlCol="0" anchor="t"/>
          <a:lstStyle/>
          <a:p>
            <a:pPr indent="0" marL="0">
              <a:buNone/>
            </a:pPr>
            <a:r>
              <a:rPr lang="en-US" sz="1400" dirty="0">
                <a:solidFill>
                  <a:schemeClr val="tx1"/>
                </a:solidFill>
              </a:rPr>
              <a:t>One pronoun for he and she; Dari and Pashto have very little data; kinship terms and ranks don't map to English.</a:t>
            </a:r>
            <a:endParaRPr lang="en-US" sz="1400" dirty="0"/>
          </a:p>
        </p:txBody>
      </p:sp>
      <p:sp>
        <p:nvSpPr>
          <p:cNvPr id="23" name="Shape 19"/>
          <p:cNvSpPr/>
          <p:nvPr/>
        </p:nvSpPr>
        <p:spPr>
          <a:xfrm>
            <a:off x="8899855" y="2962656"/>
            <a:ext cx="2615184" cy="1216152"/>
          </a:xfrm>
          <a:prstGeom prst="roundRect">
            <a:avLst>
              <a:gd name="adj" fmla="val 4511"/>
            </a:avLst>
          </a:prstGeom>
          <a:solidFill>
            <a:schemeClr val="bg1"/>
          </a:solidFill>
          <a:ln/>
        </p:spPr>
      </p:sp>
      <p:sp>
        <p:nvSpPr>
          <p:cNvPr id="24" name="Text 20"/>
          <p:cNvSpPr txBox="1"/>
          <p:nvPr/>
        </p:nvSpPr>
        <p:spPr>
          <a:xfrm>
            <a:off x="9046159" y="2980944"/>
            <a:ext cx="2340864" cy="420624"/>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67.5%</a:t>
            </a:r>
            <a:endParaRPr lang="en-US" sz="2300" dirty="0"/>
          </a:p>
        </p:txBody>
      </p:sp>
      <p:sp>
        <p:nvSpPr>
          <p:cNvPr id="25" name="Text 21"/>
          <p:cNvSpPr txBox="1"/>
          <p:nvPr/>
        </p:nvSpPr>
        <p:spPr>
          <a:xfrm>
            <a:off x="9046159" y="3410712"/>
            <a:ext cx="2340864" cy="548640"/>
          </a:xfrm>
          <a:prstGeom prst="rect">
            <a:avLst/>
          </a:prstGeom>
          <a:noFill/>
          <a:ln/>
        </p:spPr>
        <p:txBody>
          <a:bodyPr wrap="square" lIns="0" tIns="0" rIns="0" bIns="0" rtlCol="0" anchor="t"/>
          <a:lstStyle/>
          <a:p>
            <a:pPr indent="0" marL="0">
              <a:buNone/>
            </a:pPr>
            <a:r>
              <a:rPr lang="en-US" sz="1050" dirty="0">
                <a:solidFill>
                  <a:schemeClr val="tx1"/>
                </a:solidFill>
              </a:rPr>
              <a:t>of emergency instructions kept their meaning in Farsi (Spanish 94%)</a:t>
            </a:r>
            <a:endParaRPr lang="en-US" sz="1050" dirty="0"/>
          </a:p>
        </p:txBody>
      </p:sp>
      <p:sp>
        <p:nvSpPr>
          <p:cNvPr id="26" name="Text 22"/>
          <p:cNvSpPr txBox="1"/>
          <p:nvPr/>
        </p:nvSpPr>
        <p:spPr>
          <a:xfrm>
            <a:off x="9046159" y="3941064"/>
            <a:ext cx="2340864" cy="201168"/>
          </a:xfrm>
          <a:prstGeom prst="rect">
            <a:avLst/>
          </a:prstGeom>
          <a:noFill/>
          <a:ln/>
        </p:spPr>
        <p:txBody>
          <a:bodyPr wrap="square" lIns="0" tIns="0" rIns="0" bIns="0" rtlCol="0" anchor="t"/>
          <a:lstStyle/>
          <a:p>
            <a:pPr indent="0" marL="0">
              <a:buNone/>
            </a:pPr>
            <a:r>
              <a:rPr lang="en-US" sz="850" dirty="0">
                <a:solidFill>
                  <a:schemeClr val="accent3"/>
                </a:solidFill>
              </a:rPr>
              <a:t>Taira et al., J Gen Intern Med 2021</a:t>
            </a:r>
            <a:endParaRPr lang="en-US" sz="850" dirty="0"/>
          </a:p>
        </p:txBody>
      </p:sp>
      <p:sp>
        <p:nvSpPr>
          <p:cNvPr id="27" name="card"/>
          <p:cNvSpPr/>
          <p:nvPr/>
        </p:nvSpPr>
        <p:spPr>
          <a:xfrm>
            <a:off x="4754880" y="4398264"/>
            <a:ext cx="6888175" cy="1591056"/>
          </a:xfrm>
          <a:prstGeom prst="roundRect">
            <a:avLst>
              <a:gd name="adj" fmla="val 4598"/>
            </a:avLst>
          </a:prstGeom>
          <a:solidFill>
            <a:srgbClr val="FBEDEA"/>
          </a:solidFill>
          <a:ln/>
        </p:spPr>
      </p:sp>
      <p:sp>
        <p:nvSpPr>
          <p:cNvPr id="28" name="Text 24"/>
          <p:cNvSpPr txBox="1"/>
          <p:nvPr/>
        </p:nvSpPr>
        <p:spPr>
          <a:xfrm>
            <a:off x="4983480" y="4507992"/>
            <a:ext cx="6430975" cy="292608"/>
          </a:xfrm>
          <a:prstGeom prst="rect">
            <a:avLst/>
          </a:prstGeom>
          <a:noFill/>
          <a:ln/>
        </p:spPr>
        <p:txBody>
          <a:bodyPr wrap="square" lIns="0" tIns="0" rIns="0" bIns="0" rtlCol="0" anchor="t"/>
          <a:lstStyle/>
          <a:p>
            <a:pPr indent="0" marL="0">
              <a:buNone/>
            </a:pPr>
            <a:r>
              <a:rPr lang="en-US" sz="1300" b="1" dirty="0">
                <a:solidFill>
                  <a:schemeClr val="accent1"/>
                </a:solidFill>
              </a:rPr>
              <a:t>In the real world</a:t>
            </a:r>
            <a:endParaRPr lang="en-US" sz="1300" dirty="0"/>
          </a:p>
        </p:txBody>
      </p:sp>
      <p:sp>
        <p:nvSpPr>
          <p:cNvPr id="29" name="Text 25"/>
          <p:cNvSpPr txBox="1"/>
          <p:nvPr/>
        </p:nvSpPr>
        <p:spPr>
          <a:xfrm>
            <a:off x="4983480" y="4809744"/>
            <a:ext cx="6430975" cy="877824"/>
          </a:xfrm>
          <a:prstGeom prst="rect">
            <a:avLst/>
          </a:prstGeom>
          <a:noFill/>
          <a:ln/>
        </p:spPr>
        <p:txBody>
          <a:bodyPr wrap="square" lIns="0" tIns="0" rIns="0" bIns="0" rtlCol="0" anchor="t"/>
          <a:lstStyle/>
          <a:p>
            <a:pPr indent="0" marL="0">
              <a:buNone/>
            </a:pPr>
            <a:r>
              <a:rPr lang="en-US" sz="1450" dirty="0">
                <a:solidFill>
                  <a:schemeClr val="tx1"/>
                </a:solidFill>
              </a:rPr>
              <a:t>A translation app turned “I” into “we” in an Afghan woman's Pashto asylum statement. It no longer matched her interviews, and her claim was denied.</a:t>
            </a:r>
            <a:endParaRPr lang="en-US" sz="1450" dirty="0"/>
          </a:p>
        </p:txBody>
      </p:sp>
      <p:sp>
        <p:nvSpPr>
          <p:cNvPr id="30" name="Text 26"/>
          <p:cNvSpPr txBox="1"/>
          <p:nvPr/>
        </p:nvSpPr>
        <p:spPr>
          <a:xfrm>
            <a:off x="4983480" y="5696712"/>
            <a:ext cx="6430975" cy="219456"/>
          </a:xfrm>
          <a:prstGeom prst="rect">
            <a:avLst/>
          </a:prstGeom>
          <a:noFill/>
          <a:ln/>
        </p:spPr>
        <p:txBody>
          <a:bodyPr wrap="square" lIns="0" tIns="0" rIns="0" bIns="0" rtlCol="0" anchor="t"/>
          <a:lstStyle/>
          <a:p>
            <a:pPr indent="0" marL="0">
              <a:buNone/>
            </a:pPr>
            <a:r>
              <a:rPr lang="en-US" sz="900" dirty="0">
                <a:solidFill>
                  <a:schemeClr val="accent3"/>
                </a:solidFill>
              </a:rPr>
              <a:t>Rest of World, 19 Apr 2023 (journalism about one case)</a:t>
            </a:r>
            <a:endParaRPr lang="en-US" sz="9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Hebrew: no vowels, letters a corner apart</a:t>
            </a:r>
            <a:endParaRPr lang="en-US" sz="3200" dirty="0"/>
          </a:p>
        </p:txBody>
      </p:sp>
      <p:sp>
        <p:nvSpPr>
          <p:cNvPr id="3" name="card"/>
          <p:cNvSpPr/>
          <p:nvPr/>
        </p:nvSpPr>
        <p:spPr>
          <a:xfrm>
            <a:off x="548640" y="1325880"/>
            <a:ext cx="3931920" cy="4663440"/>
          </a:xfrm>
          <a:prstGeom prst="roundRect">
            <a:avLst>
              <a:gd name="adj" fmla="val 1860"/>
            </a:avLst>
          </a:prstGeom>
          <a:solidFill>
            <a:schemeClr val="tx1"/>
          </a:solidFill>
          <a:ln/>
        </p:spPr>
      </p:sp>
      <p:sp>
        <p:nvSpPr>
          <p:cNvPr id="4" name="Text 2"/>
          <p:cNvSpPr txBox="1"/>
          <p:nvPr/>
        </p:nvSpPr>
        <p:spPr>
          <a:xfrm>
            <a:off x="868680" y="1527048"/>
            <a:ext cx="3291840" cy="731520"/>
          </a:xfrm>
          <a:prstGeom prst="rect">
            <a:avLst/>
          </a:prstGeom>
          <a:noFill/>
          <a:ln/>
        </p:spPr>
        <p:txBody>
          <a:bodyPr wrap="square" lIns="0" tIns="0" rIns="0" bIns="0" rtlCol="0" anchor="ctr"/>
          <a:lstStyle/>
          <a:p>
            <a:pPr indent="0" marL="0">
              <a:buNone/>
            </a:pPr>
            <a:r>
              <a:rPr lang="en-US" sz="3800" b="1" dirty="0">
                <a:solidFill>
                  <a:schemeClr val="bg1"/>
                </a:solidFill>
                <a:latin typeface="Arial Hebrew" pitchFamily="34" charset="0"/>
                <a:ea typeface="Arial Hebrew" pitchFamily="34" charset="-122"/>
                <a:cs typeface="Arial Hebrew" pitchFamily="34" charset="-120"/>
              </a:rPr>
              <a:t>עברית</a:t>
            </a:r>
            <a:endParaRPr lang="en-US" sz="3800" dirty="0"/>
          </a:p>
        </p:txBody>
      </p:sp>
      <p:sp>
        <p:nvSpPr>
          <p:cNvPr id="5" name="Text 3"/>
          <p:cNvSpPr txBox="1"/>
          <p:nvPr/>
        </p:nvSpPr>
        <p:spPr>
          <a:xfrm>
            <a:off x="868680" y="2276856"/>
            <a:ext cx="3291840" cy="292608"/>
          </a:xfrm>
          <a:prstGeom prst="rect">
            <a:avLst/>
          </a:prstGeom>
          <a:noFill/>
          <a:ln/>
        </p:spPr>
        <p:txBody>
          <a:bodyPr wrap="square" lIns="0" tIns="0" rIns="0" bIns="0" rtlCol="0" anchor="t"/>
          <a:lstStyle/>
          <a:p>
            <a:pPr indent="0" marL="0">
              <a:buNone/>
            </a:pPr>
            <a:r>
              <a:rPr lang="en-US" sz="1300" b="1" dirty="0">
                <a:solidFill>
                  <a:srgbClr val="AEB6C6"/>
                </a:solidFill>
              </a:rPr>
              <a:t>Hebrew</a:t>
            </a:r>
            <a:endParaRPr lang="en-US" sz="1300" dirty="0"/>
          </a:p>
        </p:txBody>
      </p:sp>
      <p:sp>
        <p:nvSpPr>
          <p:cNvPr id="6" name="Shape 4"/>
          <p:cNvSpPr/>
          <p:nvPr/>
        </p:nvSpPr>
        <p:spPr>
          <a:xfrm>
            <a:off x="868680" y="2679192"/>
            <a:ext cx="3291840" cy="0"/>
          </a:xfrm>
          <a:prstGeom prst="line">
            <a:avLst/>
          </a:prstGeom>
          <a:noFill/>
          <a:ln w="12700">
            <a:solidFill>
              <a:srgbClr val="46506A"/>
            </a:solidFill>
            <a:prstDash val="solid"/>
          </a:ln>
        </p:spPr>
      </p:sp>
      <p:sp>
        <p:nvSpPr>
          <p:cNvPr id="7" name="Text 5"/>
          <p:cNvSpPr txBox="1"/>
          <p:nvPr/>
        </p:nvSpPr>
        <p:spPr>
          <a:xfrm>
            <a:off x="868680" y="2788920"/>
            <a:ext cx="3291840" cy="658368"/>
          </a:xfrm>
          <a:prstGeom prst="rect">
            <a:avLst/>
          </a:prstGeom>
          <a:noFill/>
          <a:ln/>
        </p:spPr>
        <p:txBody>
          <a:bodyPr wrap="square" lIns="0" tIns="0" rIns="0" bIns="0" rtlCol="0" anchor="b"/>
          <a:lstStyle/>
          <a:p>
            <a:pPr indent="0" marL="0">
              <a:buNone/>
            </a:pPr>
            <a:r>
              <a:rPr lang="en-US" sz="3000" b="1" dirty="0">
                <a:solidFill>
                  <a:schemeClr val="bg1"/>
                </a:solidFill>
                <a:latin typeface="Arial Hebrew" pitchFamily="34" charset="0"/>
                <a:ea typeface="Arial Hebrew" pitchFamily="34" charset="-122"/>
                <a:cs typeface="Arial Hebrew" pitchFamily="34" charset="-120"/>
              </a:rPr>
              <a:t>ד ר · ה ח · ו ז ן</a:t>
            </a:r>
            <a:endParaRPr lang="en-US" sz="3000" dirty="0"/>
          </a:p>
        </p:txBody>
      </p:sp>
      <p:sp>
        <p:nvSpPr>
          <p:cNvPr id="8" name="Text 6"/>
          <p:cNvSpPr txBox="1"/>
          <p:nvPr/>
        </p:nvSpPr>
        <p:spPr>
          <a:xfrm>
            <a:off x="868680" y="3483864"/>
            <a:ext cx="3291840" cy="800100"/>
          </a:xfrm>
          <a:prstGeom prst="rect">
            <a:avLst/>
          </a:prstGeom>
          <a:noFill/>
          <a:ln/>
        </p:spPr>
        <p:txBody>
          <a:bodyPr wrap="square" lIns="0" tIns="0" rIns="0" bIns="0" rtlCol="0" anchor="t"/>
          <a:lstStyle/>
          <a:p>
            <a:pPr indent="0" marL="0">
              <a:buNone/>
            </a:pPr>
            <a:r>
              <a:rPr lang="en-US" sz="1200" dirty="0">
                <a:solidFill>
                  <a:srgbClr val="AEB6C6"/>
                </a:solidFill>
              </a:rPr>
              <a:t>right to left: d / r, h / ch, v / z / final n: a corner, a gap or a stroke apart</a:t>
            </a:r>
            <a:endParaRPr lang="en-US" sz="1200" dirty="0"/>
          </a:p>
        </p:txBody>
      </p:sp>
      <p:sp>
        <p:nvSpPr>
          <p:cNvPr id="9" name="Text 7"/>
          <p:cNvSpPr txBox="1"/>
          <p:nvPr/>
        </p:nvSpPr>
        <p:spPr>
          <a:xfrm>
            <a:off x="868680" y="4320540"/>
            <a:ext cx="3291840" cy="658368"/>
          </a:xfrm>
          <a:prstGeom prst="rect">
            <a:avLst/>
          </a:prstGeom>
          <a:noFill/>
          <a:ln/>
        </p:spPr>
        <p:txBody>
          <a:bodyPr wrap="square" lIns="0" tIns="0" rIns="0" bIns="0" rtlCol="0" anchor="b"/>
          <a:lstStyle/>
          <a:p>
            <a:pPr indent="0" marL="0">
              <a:buNone/>
            </a:pPr>
            <a:r>
              <a:rPr lang="en-US" sz="3600" b="1" dirty="0">
                <a:solidFill>
                  <a:schemeClr val="bg1"/>
                </a:solidFill>
                <a:latin typeface="Arial Hebrew" pitchFamily="34" charset="0"/>
                <a:ea typeface="Arial Hebrew" pitchFamily="34" charset="-122"/>
                <a:cs typeface="Arial Hebrew" pitchFamily="34" charset="-120"/>
              </a:rPr>
              <a:t>ספר</a:t>
            </a:r>
            <a:endParaRPr lang="en-US" sz="3600" dirty="0"/>
          </a:p>
        </p:txBody>
      </p:sp>
      <p:sp>
        <p:nvSpPr>
          <p:cNvPr id="10" name="Text 8"/>
          <p:cNvSpPr txBox="1"/>
          <p:nvPr/>
        </p:nvSpPr>
        <p:spPr>
          <a:xfrm>
            <a:off x="868680" y="5015484"/>
            <a:ext cx="3291840" cy="800100"/>
          </a:xfrm>
          <a:prstGeom prst="rect">
            <a:avLst/>
          </a:prstGeom>
          <a:noFill/>
          <a:ln/>
        </p:spPr>
        <p:txBody>
          <a:bodyPr wrap="square" lIns="0" tIns="0" rIns="0" bIns="0" rtlCol="0" anchor="t"/>
          <a:lstStyle/>
          <a:p>
            <a:pPr indent="0" marL="0">
              <a:buNone/>
            </a:pPr>
            <a:r>
              <a:rPr lang="en-US" sz="1200" dirty="0">
                <a:solidFill>
                  <a:srgbClr val="AEB6C6"/>
                </a:solidFill>
              </a:rPr>
              <a:t>sefer “book” · sapar “barber” · safar “counted” · siper “told”</a:t>
            </a:r>
            <a:endParaRPr lang="en-US" sz="1200" dirty="0"/>
          </a:p>
        </p:txBody>
      </p:sp>
      <p:sp>
        <p:nvSpPr>
          <p:cNvPr id="11" name="card"/>
          <p:cNvSpPr/>
          <p:nvPr/>
        </p:nvSpPr>
        <p:spPr>
          <a:xfrm>
            <a:off x="4754880" y="1325880"/>
            <a:ext cx="6888175" cy="1417320"/>
          </a:xfrm>
          <a:prstGeom prst="roundRect">
            <a:avLst>
              <a:gd name="adj" fmla="val 5161"/>
            </a:avLst>
          </a:prstGeom>
          <a:solidFill>
            <a:schemeClr val="bg2"/>
          </a:solidFill>
          <a:ln/>
        </p:spPr>
      </p:sp>
      <p:pic>
        <p:nvPicPr>
          <p:cNvPr id="12" name="Image 0" descr="preencoded.png">    </p:cNvPr>
          <p:cNvPicPr>
            <a:picLocks noChangeAspect="1"/>
          </p:cNvPicPr>
          <p:nvPr/>
        </p:nvPicPr>
        <p:blipFill>
          <a:blip r:embed="rId1"/>
          <a:stretch>
            <a:fillRect/>
          </a:stretch>
        </p:blipFill>
        <p:spPr>
          <a:xfrm>
            <a:off x="4983480" y="1508760"/>
            <a:ext cx="292608" cy="292608"/>
          </a:xfrm>
          <a:prstGeom prst="rect">
            <a:avLst/>
          </a:prstGeom>
        </p:spPr>
      </p:pic>
      <p:sp>
        <p:nvSpPr>
          <p:cNvPr id="13" name="Text 10"/>
          <p:cNvSpPr txBox="1"/>
          <p:nvPr/>
        </p:nvSpPr>
        <p:spPr>
          <a:xfrm>
            <a:off x="5376672" y="1472184"/>
            <a:ext cx="3200400" cy="365760"/>
          </a:xfrm>
          <a:prstGeom prst="rect">
            <a:avLst/>
          </a:prstGeom>
          <a:noFill/>
          <a:ln/>
        </p:spPr>
        <p:txBody>
          <a:bodyPr wrap="square" lIns="0" tIns="0" rIns="0" bIns="0" rtlCol="0" anchor="ctr"/>
          <a:lstStyle/>
          <a:p>
            <a:pPr indent="0" marL="0">
              <a:buNone/>
            </a:pPr>
            <a:r>
              <a:rPr lang="en-US" sz="1300" b="1" dirty="0">
                <a:solidFill>
                  <a:schemeClr val="accent2"/>
                </a:solidFill>
              </a:rPr>
              <a:t>Reading breaks on</a:t>
            </a:r>
            <a:endParaRPr lang="en-US" sz="1300" dirty="0"/>
          </a:p>
        </p:txBody>
      </p:sp>
      <p:sp>
        <p:nvSpPr>
          <p:cNvPr id="14" name="Text 11"/>
          <p:cNvSpPr txBox="1"/>
          <p:nvPr/>
        </p:nvSpPr>
        <p:spPr>
          <a:xfrm>
            <a:off x="4983480" y="1892808"/>
            <a:ext cx="3733495" cy="804672"/>
          </a:xfrm>
          <a:prstGeom prst="rect">
            <a:avLst/>
          </a:prstGeom>
          <a:noFill/>
          <a:ln/>
        </p:spPr>
        <p:txBody>
          <a:bodyPr wrap="square" lIns="0" tIns="0" rIns="0" bIns="0" rtlCol="0" anchor="t"/>
          <a:lstStyle/>
          <a:p>
            <a:pPr indent="0" marL="0">
              <a:buNone/>
            </a:pPr>
            <a:r>
              <a:rPr lang="en-US" sz="1400" dirty="0">
                <a:solidFill>
                  <a:schemeClr val="tx1"/>
                </a:solidFill>
              </a:rPr>
              <a:t>Right to left; vowels usually omitted; letters differ by a corner or a gap. Unsure models even answer in Thai.</a:t>
            </a:r>
            <a:endParaRPr lang="en-US" sz="1400" dirty="0"/>
          </a:p>
        </p:txBody>
      </p:sp>
      <p:sp>
        <p:nvSpPr>
          <p:cNvPr id="15" name="Shape 12"/>
          <p:cNvSpPr/>
          <p:nvPr/>
        </p:nvSpPr>
        <p:spPr>
          <a:xfrm>
            <a:off x="8899855" y="1426464"/>
            <a:ext cx="2615184" cy="1216152"/>
          </a:xfrm>
          <a:prstGeom prst="roundRect">
            <a:avLst>
              <a:gd name="adj" fmla="val 4511"/>
            </a:avLst>
          </a:prstGeom>
          <a:solidFill>
            <a:schemeClr val="bg1"/>
          </a:solidFill>
          <a:ln/>
        </p:spPr>
      </p:sp>
      <p:sp>
        <p:nvSpPr>
          <p:cNvPr id="16" name="Text 13"/>
          <p:cNvSpPr txBox="1"/>
          <p:nvPr/>
        </p:nvSpPr>
        <p:spPr>
          <a:xfrm>
            <a:off x="9046159" y="1444752"/>
            <a:ext cx="2340864" cy="420624"/>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61% vs 42%</a:t>
            </a:r>
            <a:endParaRPr lang="en-US" sz="2300" dirty="0"/>
          </a:p>
        </p:txBody>
      </p:sp>
      <p:sp>
        <p:nvSpPr>
          <p:cNvPr id="17" name="Text 14"/>
          <p:cNvSpPr txBox="1"/>
          <p:nvPr/>
        </p:nvSpPr>
        <p:spPr>
          <a:xfrm>
            <a:off x="9046159" y="1874520"/>
            <a:ext cx="2340864" cy="548640"/>
          </a:xfrm>
          <a:prstGeom prst="rect">
            <a:avLst/>
          </a:prstGeom>
          <a:noFill/>
          <a:ln/>
        </p:spPr>
        <p:txBody>
          <a:bodyPr wrap="square" lIns="0" tIns="0" rIns="0" bIns="0" rtlCol="0" anchor="t"/>
          <a:lstStyle/>
          <a:p>
            <a:pPr indent="0" marL="0">
              <a:buNone/>
            </a:pPr>
            <a:r>
              <a:rPr lang="en-US" sz="1050" dirty="0">
                <a:solidFill>
                  <a:schemeClr val="tx1"/>
                </a:solidFill>
              </a:rPr>
              <a:t>Hebrew sentences read almost perfectly: Gemini vs GPT-4.1 (Latin: 95% vs 83%)</a:t>
            </a:r>
            <a:endParaRPr lang="en-US" sz="1050" dirty="0"/>
          </a:p>
        </p:txBody>
      </p:sp>
      <p:sp>
        <p:nvSpPr>
          <p:cNvPr id="18" name="Text 15"/>
          <p:cNvSpPr txBox="1"/>
          <p:nvPr/>
        </p:nvSpPr>
        <p:spPr>
          <a:xfrm>
            <a:off x="9046159" y="2404872"/>
            <a:ext cx="2340864" cy="201168"/>
          </a:xfrm>
          <a:prstGeom prst="rect">
            <a:avLst/>
          </a:prstGeom>
          <a:noFill/>
          <a:ln/>
        </p:spPr>
        <p:txBody>
          <a:bodyPr wrap="square" lIns="0" tIns="0" rIns="0" bIns="0" rtlCol="0" anchor="t"/>
          <a:lstStyle/>
          <a:p>
            <a:pPr indent="0" marL="0">
              <a:buNone/>
            </a:pPr>
            <a:r>
              <a:rPr lang="en-US" sz="850" dirty="0">
                <a:solidFill>
                  <a:schemeClr val="accent3"/>
                </a:solidFill>
              </a:rPr>
              <a:t>GlotOCR Bench, 2026</a:t>
            </a:r>
            <a:endParaRPr lang="en-US" sz="850" dirty="0"/>
          </a:p>
        </p:txBody>
      </p:sp>
      <p:sp>
        <p:nvSpPr>
          <p:cNvPr id="19" name="card"/>
          <p:cNvSpPr/>
          <p:nvPr/>
        </p:nvSpPr>
        <p:spPr>
          <a:xfrm>
            <a:off x="4754880" y="2862072"/>
            <a:ext cx="6888175" cy="1417320"/>
          </a:xfrm>
          <a:prstGeom prst="roundRect">
            <a:avLst>
              <a:gd name="adj" fmla="val 5161"/>
            </a:avLst>
          </a:prstGeom>
          <a:solidFill>
            <a:schemeClr val="bg2"/>
          </a:solidFill>
          <a:ln/>
        </p:spPr>
      </p:sp>
      <p:pic>
        <p:nvPicPr>
          <p:cNvPr id="20" name="Image 1" descr="preencoded.png">    </p:cNvPr>
          <p:cNvPicPr>
            <a:picLocks noChangeAspect="1"/>
          </p:cNvPicPr>
          <p:nvPr/>
        </p:nvPicPr>
        <p:blipFill>
          <a:blip r:embed="rId2"/>
          <a:stretch>
            <a:fillRect/>
          </a:stretch>
        </p:blipFill>
        <p:spPr>
          <a:xfrm>
            <a:off x="4983480" y="3044952"/>
            <a:ext cx="292608" cy="292608"/>
          </a:xfrm>
          <a:prstGeom prst="rect">
            <a:avLst/>
          </a:prstGeom>
        </p:spPr>
      </p:pic>
      <p:sp>
        <p:nvSpPr>
          <p:cNvPr id="21" name="Text 17"/>
          <p:cNvSpPr txBox="1"/>
          <p:nvPr/>
        </p:nvSpPr>
        <p:spPr>
          <a:xfrm>
            <a:off x="5376672" y="3008376"/>
            <a:ext cx="3200400" cy="365760"/>
          </a:xfrm>
          <a:prstGeom prst="rect">
            <a:avLst/>
          </a:prstGeom>
          <a:noFill/>
          <a:ln/>
        </p:spPr>
        <p:txBody>
          <a:bodyPr wrap="square" lIns="0" tIns="0" rIns="0" bIns="0" rtlCol="0" anchor="ctr"/>
          <a:lstStyle/>
          <a:p>
            <a:pPr indent="0" marL="0">
              <a:buNone/>
            </a:pPr>
            <a:r>
              <a:rPr lang="en-US" sz="1300" b="1" dirty="0">
                <a:solidFill>
                  <a:schemeClr val="accent1"/>
                </a:solidFill>
              </a:rPr>
              <a:t>Translating breaks on</a:t>
            </a:r>
            <a:endParaRPr lang="en-US" sz="1300" dirty="0"/>
          </a:p>
        </p:txBody>
      </p:sp>
      <p:sp>
        <p:nvSpPr>
          <p:cNvPr id="22" name="Text 18"/>
          <p:cNvSpPr txBox="1"/>
          <p:nvPr/>
        </p:nvSpPr>
        <p:spPr>
          <a:xfrm>
            <a:off x="4983480" y="3429000"/>
            <a:ext cx="3733495" cy="804672"/>
          </a:xfrm>
          <a:prstGeom prst="rect">
            <a:avLst/>
          </a:prstGeom>
          <a:noFill/>
          <a:ln/>
        </p:spPr>
        <p:txBody>
          <a:bodyPr wrap="square" lIns="0" tIns="0" rIns="0" bIns="0" rtlCol="0" anchor="t"/>
          <a:lstStyle/>
          <a:p>
            <a:pPr indent="0" marL="0">
              <a:buNone/>
            </a:pPr>
            <a:r>
              <a:rPr lang="en-US" sz="1400" dirty="0">
                <a:solidFill>
                  <a:schemeClr val="tx1"/>
                </a:solidFill>
              </a:rPr>
              <a:t>Verbs and nouns carry gender; without vowels, male and female forms can be spelled the same.</a:t>
            </a:r>
            <a:endParaRPr lang="en-US" sz="1400" dirty="0"/>
          </a:p>
        </p:txBody>
      </p:sp>
      <p:sp>
        <p:nvSpPr>
          <p:cNvPr id="23" name="Shape 19"/>
          <p:cNvSpPr/>
          <p:nvPr/>
        </p:nvSpPr>
        <p:spPr>
          <a:xfrm>
            <a:off x="8899855" y="2962656"/>
            <a:ext cx="2615184" cy="1216152"/>
          </a:xfrm>
          <a:prstGeom prst="roundRect">
            <a:avLst>
              <a:gd name="adj" fmla="val 4511"/>
            </a:avLst>
          </a:prstGeom>
          <a:solidFill>
            <a:schemeClr val="bg1"/>
          </a:solidFill>
          <a:ln/>
        </p:spPr>
      </p:sp>
      <p:sp>
        <p:nvSpPr>
          <p:cNvPr id="24" name="Text 20"/>
          <p:cNvSpPr txBox="1"/>
          <p:nvPr/>
        </p:nvSpPr>
        <p:spPr>
          <a:xfrm>
            <a:off x="9046159" y="2980944"/>
            <a:ext cx="2340864" cy="420624"/>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76% vs 38%</a:t>
            </a:r>
            <a:endParaRPr lang="en-US" sz="2300" dirty="0"/>
          </a:p>
        </p:txBody>
      </p:sp>
      <p:sp>
        <p:nvSpPr>
          <p:cNvPr id="25" name="Text 21"/>
          <p:cNvSpPr txBox="1"/>
          <p:nvPr/>
        </p:nvSpPr>
        <p:spPr>
          <a:xfrm>
            <a:off x="9046159" y="3410712"/>
            <a:ext cx="2340864" cy="548640"/>
          </a:xfrm>
          <a:prstGeom prst="rect">
            <a:avLst/>
          </a:prstGeom>
          <a:noFill/>
          <a:ln/>
        </p:spPr>
        <p:txBody>
          <a:bodyPr wrap="square" lIns="0" tIns="0" rIns="0" bIns="0" rtlCol="0" anchor="t"/>
          <a:lstStyle/>
          <a:p>
            <a:pPr indent="0" marL="0">
              <a:buNone/>
            </a:pPr>
            <a:r>
              <a:rPr lang="en-US" sz="1050" dirty="0">
                <a:solidFill>
                  <a:schemeClr val="tx1"/>
                </a:solidFill>
              </a:rPr>
              <a:t>gender right for Google Translate on stereotypical vs non-stereotypical roles</a:t>
            </a:r>
            <a:endParaRPr lang="en-US" sz="1050" dirty="0"/>
          </a:p>
        </p:txBody>
      </p:sp>
      <p:sp>
        <p:nvSpPr>
          <p:cNvPr id="26" name="Text 22"/>
          <p:cNvSpPr txBox="1"/>
          <p:nvPr/>
        </p:nvSpPr>
        <p:spPr>
          <a:xfrm>
            <a:off x="9046159" y="3941064"/>
            <a:ext cx="2340864" cy="201168"/>
          </a:xfrm>
          <a:prstGeom prst="rect">
            <a:avLst/>
          </a:prstGeom>
          <a:noFill/>
          <a:ln/>
        </p:spPr>
        <p:txBody>
          <a:bodyPr wrap="square" lIns="0" tIns="0" rIns="0" bIns="0" rtlCol="0" anchor="t"/>
          <a:lstStyle/>
          <a:p>
            <a:pPr indent="0" marL="0">
              <a:buNone/>
            </a:pPr>
            <a:r>
              <a:rPr lang="en-US" sz="850" dirty="0">
                <a:solidFill>
                  <a:schemeClr val="accent3"/>
                </a:solidFill>
              </a:rPr>
              <a:t>WinoMT, ACL 2019</a:t>
            </a:r>
            <a:endParaRPr lang="en-US" sz="850" dirty="0"/>
          </a:p>
        </p:txBody>
      </p:sp>
      <p:sp>
        <p:nvSpPr>
          <p:cNvPr id="27" name="card"/>
          <p:cNvSpPr/>
          <p:nvPr/>
        </p:nvSpPr>
        <p:spPr>
          <a:xfrm>
            <a:off x="4754880" y="4398264"/>
            <a:ext cx="6888175" cy="1591056"/>
          </a:xfrm>
          <a:prstGeom prst="roundRect">
            <a:avLst>
              <a:gd name="adj" fmla="val 4598"/>
            </a:avLst>
          </a:prstGeom>
          <a:solidFill>
            <a:srgbClr val="FBEDEA"/>
          </a:solidFill>
          <a:ln/>
        </p:spPr>
      </p:sp>
      <p:sp>
        <p:nvSpPr>
          <p:cNvPr id="28" name="Text 24"/>
          <p:cNvSpPr txBox="1"/>
          <p:nvPr/>
        </p:nvSpPr>
        <p:spPr>
          <a:xfrm>
            <a:off x="4983480" y="4507992"/>
            <a:ext cx="6430975" cy="292608"/>
          </a:xfrm>
          <a:prstGeom prst="rect">
            <a:avLst/>
          </a:prstGeom>
          <a:noFill/>
          <a:ln/>
        </p:spPr>
        <p:txBody>
          <a:bodyPr wrap="square" lIns="0" tIns="0" rIns="0" bIns="0" rtlCol="0" anchor="t"/>
          <a:lstStyle/>
          <a:p>
            <a:pPr indent="0" marL="0">
              <a:buNone/>
            </a:pPr>
            <a:r>
              <a:rPr lang="en-US" sz="1300" b="1" dirty="0">
                <a:solidFill>
                  <a:schemeClr val="accent1"/>
                </a:solidFill>
              </a:rPr>
              <a:t>In the archives</a:t>
            </a:r>
            <a:endParaRPr lang="en-US" sz="1300" dirty="0"/>
          </a:p>
        </p:txBody>
      </p:sp>
      <p:sp>
        <p:nvSpPr>
          <p:cNvPr id="29" name="Text 25"/>
          <p:cNvSpPr txBox="1"/>
          <p:nvPr/>
        </p:nvSpPr>
        <p:spPr>
          <a:xfrm>
            <a:off x="4983480" y="4809744"/>
            <a:ext cx="6430975" cy="877824"/>
          </a:xfrm>
          <a:prstGeom prst="rect">
            <a:avLst/>
          </a:prstGeom>
          <a:noFill/>
          <a:ln/>
        </p:spPr>
        <p:txBody>
          <a:bodyPr wrap="square" lIns="0" tIns="0" rIns="0" bIns="0" rtlCol="0" anchor="t"/>
          <a:lstStyle/>
          <a:p>
            <a:pPr indent="0" marL="0">
              <a:buNone/>
            </a:pPr>
            <a:r>
              <a:rPr lang="en-US" sz="1450" dirty="0">
                <a:solidFill>
                  <a:schemeClr val="tx1"/>
                </a:solidFill>
              </a:rPr>
              <a:t>On historical handwritten Hebrew, the best system read about 4 characters in 10 correctly; GPT-5 fewer than 1 in 10. Hebrew sits with Sanskrit and Khmer as the hardest of 21 languages tested.</a:t>
            </a:r>
            <a:endParaRPr lang="en-US" sz="1450" dirty="0"/>
          </a:p>
        </p:txBody>
      </p:sp>
      <p:sp>
        <p:nvSpPr>
          <p:cNvPr id="30" name="Text 26"/>
          <p:cNvSpPr txBox="1"/>
          <p:nvPr/>
        </p:nvSpPr>
        <p:spPr>
          <a:xfrm>
            <a:off x="4983480" y="5696712"/>
            <a:ext cx="6430975" cy="219456"/>
          </a:xfrm>
          <a:prstGeom prst="rect">
            <a:avLst/>
          </a:prstGeom>
          <a:noFill/>
          <a:ln/>
        </p:spPr>
        <p:txBody>
          <a:bodyPr wrap="square" lIns="0" tIns="0" rIns="0" bIns="0" rtlCol="0" anchor="t"/>
          <a:lstStyle/>
          <a:p>
            <a:pPr indent="0" marL="0">
              <a:buNone/>
            </a:pPr>
            <a:r>
              <a:rPr lang="en-US" sz="900" dirty="0">
                <a:solidFill>
                  <a:schemeClr val="accent3"/>
                </a:solidFill>
              </a:rPr>
              <a:t>CHURRO benchmark, 2025</a:t>
            </a:r>
            <a:endParaRPr lang="en-US" sz="9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One word for “he” and “she”: the machine picks “he”</a:t>
            </a:r>
            <a:endParaRPr lang="en-US" sz="3200" dirty="0"/>
          </a:p>
        </p:txBody>
      </p:sp>
      <p:sp>
        <p:nvSpPr>
          <p:cNvPr id="3" name="card"/>
          <p:cNvSpPr/>
          <p:nvPr/>
        </p:nvSpPr>
        <p:spPr>
          <a:xfrm>
            <a:off x="548640" y="1325880"/>
            <a:ext cx="3931920" cy="4663440"/>
          </a:xfrm>
          <a:prstGeom prst="roundRect">
            <a:avLst>
              <a:gd name="adj" fmla="val 1860"/>
            </a:avLst>
          </a:prstGeom>
          <a:solidFill>
            <a:schemeClr val="tx1"/>
          </a:solidFill>
          <a:ln/>
        </p:spPr>
      </p:sp>
      <p:sp>
        <p:nvSpPr>
          <p:cNvPr id="4" name="Text 2"/>
          <p:cNvSpPr txBox="1"/>
          <p:nvPr/>
        </p:nvSpPr>
        <p:spPr>
          <a:xfrm>
            <a:off x="868680" y="1527048"/>
            <a:ext cx="3291840" cy="731520"/>
          </a:xfrm>
          <a:prstGeom prst="rect">
            <a:avLst/>
          </a:prstGeom>
          <a:noFill/>
          <a:ln/>
        </p:spPr>
        <p:txBody>
          <a:bodyPr wrap="square" lIns="0" tIns="0" rIns="0" bIns="0" rtlCol="0" anchor="ctr"/>
          <a:lstStyle/>
          <a:p>
            <a:pPr indent="0" marL="0">
              <a:buNone/>
            </a:pPr>
            <a:r>
              <a:rPr lang="en-US" sz="2400" b="1" dirty="0">
                <a:solidFill>
                  <a:schemeClr val="bg1"/>
                </a:solidFill>
              </a:rPr>
              <a:t>Türkçe · Magyar · Suomi</a:t>
            </a:r>
            <a:endParaRPr lang="en-US" sz="2400" dirty="0"/>
          </a:p>
        </p:txBody>
      </p:sp>
      <p:sp>
        <p:nvSpPr>
          <p:cNvPr id="5" name="Text 3"/>
          <p:cNvSpPr txBox="1"/>
          <p:nvPr/>
        </p:nvSpPr>
        <p:spPr>
          <a:xfrm>
            <a:off x="868680" y="2276856"/>
            <a:ext cx="3291840" cy="292608"/>
          </a:xfrm>
          <a:prstGeom prst="rect">
            <a:avLst/>
          </a:prstGeom>
          <a:noFill/>
          <a:ln/>
        </p:spPr>
        <p:txBody>
          <a:bodyPr wrap="square" lIns="0" tIns="0" rIns="0" bIns="0" rtlCol="0" anchor="t"/>
          <a:lstStyle/>
          <a:p>
            <a:pPr indent="0" marL="0">
              <a:buNone/>
            </a:pPr>
            <a:r>
              <a:rPr lang="en-US" sz="1300" b="1" dirty="0">
                <a:solidFill>
                  <a:srgbClr val="AEB6C6"/>
                </a:solidFill>
              </a:rPr>
              <a:t>Turkish · Hungarian · Finnish, and also Persian, Tagalog, Indonesian, Bengali</a:t>
            </a:r>
            <a:endParaRPr lang="en-US" sz="1300" dirty="0"/>
          </a:p>
        </p:txBody>
      </p:sp>
      <p:sp>
        <p:nvSpPr>
          <p:cNvPr id="6" name="Shape 4"/>
          <p:cNvSpPr/>
          <p:nvPr/>
        </p:nvSpPr>
        <p:spPr>
          <a:xfrm>
            <a:off x="868680" y="2679192"/>
            <a:ext cx="3291840" cy="0"/>
          </a:xfrm>
          <a:prstGeom prst="line">
            <a:avLst/>
          </a:prstGeom>
          <a:noFill/>
          <a:ln w="12700">
            <a:solidFill>
              <a:srgbClr val="46506A"/>
            </a:solidFill>
            <a:prstDash val="solid"/>
          </a:ln>
        </p:spPr>
      </p:sp>
      <p:sp>
        <p:nvSpPr>
          <p:cNvPr id="7" name="Text 5"/>
          <p:cNvSpPr txBox="1"/>
          <p:nvPr/>
        </p:nvSpPr>
        <p:spPr>
          <a:xfrm>
            <a:off x="868680" y="2788920"/>
            <a:ext cx="3291840" cy="658368"/>
          </a:xfrm>
          <a:prstGeom prst="rect">
            <a:avLst/>
          </a:prstGeom>
          <a:noFill/>
          <a:ln/>
        </p:spPr>
        <p:txBody>
          <a:bodyPr wrap="square" lIns="0" tIns="0" rIns="0" bIns="0" rtlCol="0" anchor="b"/>
          <a:lstStyle/>
          <a:p>
            <a:pPr indent="0" marL="0">
              <a:buNone/>
            </a:pPr>
            <a:r>
              <a:rPr lang="en-US" sz="3000" b="1" dirty="0">
                <a:solidFill>
                  <a:schemeClr val="bg1"/>
                </a:solidFill>
              </a:rPr>
              <a:t>O bir doktor.</a:t>
            </a:r>
            <a:endParaRPr lang="en-US" sz="3000" dirty="0"/>
          </a:p>
        </p:txBody>
      </p:sp>
      <p:sp>
        <p:nvSpPr>
          <p:cNvPr id="8" name="Text 6"/>
          <p:cNvSpPr txBox="1"/>
          <p:nvPr/>
        </p:nvSpPr>
        <p:spPr>
          <a:xfrm>
            <a:off x="868680" y="3483864"/>
            <a:ext cx="3291840" cy="800100"/>
          </a:xfrm>
          <a:prstGeom prst="rect">
            <a:avLst/>
          </a:prstGeom>
          <a:noFill/>
          <a:ln/>
        </p:spPr>
        <p:txBody>
          <a:bodyPr wrap="square" lIns="0" tIns="0" rIns="0" bIns="0" rtlCol="0" anchor="t"/>
          <a:lstStyle/>
          <a:p>
            <a:pPr indent="0" marL="0">
              <a:buNone/>
            </a:pPr>
            <a:r>
              <a:rPr lang="en-US" sz="1200" dirty="0">
                <a:solidFill>
                  <a:srgbClr val="AEB6C6"/>
                </a:solidFill>
              </a:rPr>
              <a:t>“He is a doctor” or “She is a doctor”: Turkish doesn't say</a:t>
            </a:r>
            <a:endParaRPr lang="en-US" sz="1200" dirty="0"/>
          </a:p>
        </p:txBody>
      </p:sp>
      <p:sp>
        <p:nvSpPr>
          <p:cNvPr id="9" name="Text 7"/>
          <p:cNvSpPr txBox="1"/>
          <p:nvPr/>
        </p:nvSpPr>
        <p:spPr>
          <a:xfrm>
            <a:off x="868680" y="4320540"/>
            <a:ext cx="3291840" cy="658368"/>
          </a:xfrm>
          <a:prstGeom prst="rect">
            <a:avLst/>
          </a:prstGeom>
          <a:noFill/>
          <a:ln/>
        </p:spPr>
        <p:txBody>
          <a:bodyPr wrap="square" lIns="0" tIns="0" rIns="0" bIns="0" rtlCol="0" anchor="b"/>
          <a:lstStyle/>
          <a:p>
            <a:pPr indent="0" marL="0">
              <a:buNone/>
            </a:pPr>
            <a:r>
              <a:rPr lang="en-US" sz="3200" b="1" dirty="0">
                <a:solidFill>
                  <a:schemeClr val="bg1"/>
                </a:solidFill>
              </a:rPr>
              <a:t>ı · i · I · İ</a:t>
            </a:r>
            <a:endParaRPr lang="en-US" sz="3200" dirty="0"/>
          </a:p>
        </p:txBody>
      </p:sp>
      <p:sp>
        <p:nvSpPr>
          <p:cNvPr id="10" name="Text 8"/>
          <p:cNvSpPr txBox="1"/>
          <p:nvPr/>
        </p:nvSpPr>
        <p:spPr>
          <a:xfrm>
            <a:off x="868680" y="5015484"/>
            <a:ext cx="3291840" cy="800100"/>
          </a:xfrm>
          <a:prstGeom prst="rect">
            <a:avLst/>
          </a:prstGeom>
          <a:noFill/>
          <a:ln/>
        </p:spPr>
        <p:txBody>
          <a:bodyPr wrap="square" lIns="0" tIns="0" rIns="0" bIns="0" rtlCol="0" anchor="t"/>
          <a:lstStyle/>
          <a:p>
            <a:pPr indent="0" marL="0">
              <a:buNone/>
            </a:pPr>
            <a:r>
              <a:rPr lang="en-US" sz="1200" dirty="0">
                <a:solidFill>
                  <a:srgbClr val="AEB6C6"/>
                </a:solidFill>
              </a:rPr>
              <a:t>dotless ı, dotted i and their capitals: four different Turkish letters</a:t>
            </a:r>
            <a:endParaRPr lang="en-US" sz="1200" dirty="0"/>
          </a:p>
        </p:txBody>
      </p:sp>
      <p:sp>
        <p:nvSpPr>
          <p:cNvPr id="11" name="card"/>
          <p:cNvSpPr/>
          <p:nvPr/>
        </p:nvSpPr>
        <p:spPr>
          <a:xfrm>
            <a:off x="4754880" y="1325880"/>
            <a:ext cx="6888175" cy="1417320"/>
          </a:xfrm>
          <a:prstGeom prst="roundRect">
            <a:avLst>
              <a:gd name="adj" fmla="val 5161"/>
            </a:avLst>
          </a:prstGeom>
          <a:solidFill>
            <a:schemeClr val="bg2"/>
          </a:solidFill>
          <a:ln/>
        </p:spPr>
      </p:sp>
      <p:pic>
        <p:nvPicPr>
          <p:cNvPr id="12" name="Image 0" descr="preencoded.png">    </p:cNvPr>
          <p:cNvPicPr>
            <a:picLocks noChangeAspect="1"/>
          </p:cNvPicPr>
          <p:nvPr/>
        </p:nvPicPr>
        <p:blipFill>
          <a:blip r:embed="rId1"/>
          <a:stretch>
            <a:fillRect/>
          </a:stretch>
        </p:blipFill>
        <p:spPr>
          <a:xfrm>
            <a:off x="4983480" y="1508760"/>
            <a:ext cx="292608" cy="292608"/>
          </a:xfrm>
          <a:prstGeom prst="rect">
            <a:avLst/>
          </a:prstGeom>
        </p:spPr>
      </p:pic>
      <p:sp>
        <p:nvSpPr>
          <p:cNvPr id="13" name="Text 10"/>
          <p:cNvSpPr txBox="1"/>
          <p:nvPr/>
        </p:nvSpPr>
        <p:spPr>
          <a:xfrm>
            <a:off x="5376672" y="1472184"/>
            <a:ext cx="3200400" cy="365760"/>
          </a:xfrm>
          <a:prstGeom prst="rect">
            <a:avLst/>
          </a:prstGeom>
          <a:noFill/>
          <a:ln/>
        </p:spPr>
        <p:txBody>
          <a:bodyPr wrap="square" lIns="0" tIns="0" rIns="0" bIns="0" rtlCol="0" anchor="ctr"/>
          <a:lstStyle/>
          <a:p>
            <a:pPr indent="0" marL="0">
              <a:buNone/>
            </a:pPr>
            <a:r>
              <a:rPr lang="en-US" sz="1300" b="1" dirty="0">
                <a:solidFill>
                  <a:schemeClr val="accent2"/>
                </a:solidFill>
              </a:rPr>
              <a:t>Reading breaks on</a:t>
            </a:r>
            <a:endParaRPr lang="en-US" sz="1300" dirty="0"/>
          </a:p>
        </p:txBody>
      </p:sp>
      <p:sp>
        <p:nvSpPr>
          <p:cNvPr id="14" name="Text 11"/>
          <p:cNvSpPr txBox="1"/>
          <p:nvPr/>
        </p:nvSpPr>
        <p:spPr>
          <a:xfrm>
            <a:off x="4983480" y="1892808"/>
            <a:ext cx="3733495" cy="804672"/>
          </a:xfrm>
          <a:prstGeom prst="rect">
            <a:avLst/>
          </a:prstGeom>
          <a:noFill/>
          <a:ln/>
        </p:spPr>
        <p:txBody>
          <a:bodyPr wrap="square" lIns="0" tIns="0" rIns="0" bIns="0" rtlCol="0" anchor="t"/>
          <a:lstStyle/>
          <a:p>
            <a:pPr indent="0" marL="0">
              <a:buNone/>
            </a:pPr>
            <a:r>
              <a:rPr lang="en-US" sz="1400" dirty="0">
                <a:solidFill>
                  <a:schemeClr val="tx1"/>
                </a:solidFill>
              </a:rPr>
              <a:t>Latin script, read well; watch letters a dot apart, like Turkish ı and i.</a:t>
            </a:r>
            <a:endParaRPr lang="en-US" sz="1400" dirty="0"/>
          </a:p>
        </p:txBody>
      </p:sp>
      <p:sp>
        <p:nvSpPr>
          <p:cNvPr id="15" name="Shape 12"/>
          <p:cNvSpPr/>
          <p:nvPr/>
        </p:nvSpPr>
        <p:spPr>
          <a:xfrm>
            <a:off x="8899855" y="1426464"/>
            <a:ext cx="2615184" cy="1216152"/>
          </a:xfrm>
          <a:prstGeom prst="roundRect">
            <a:avLst>
              <a:gd name="adj" fmla="val 4511"/>
            </a:avLst>
          </a:prstGeom>
          <a:solidFill>
            <a:schemeClr val="bg1"/>
          </a:solidFill>
          <a:ln/>
        </p:spPr>
      </p:sp>
      <p:sp>
        <p:nvSpPr>
          <p:cNvPr id="16" name="Text 13"/>
          <p:cNvSpPr txBox="1"/>
          <p:nvPr/>
        </p:nvSpPr>
        <p:spPr>
          <a:xfrm>
            <a:off x="9046159" y="1444752"/>
            <a:ext cx="2340864" cy="420624"/>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 10%</a:t>
            </a:r>
            <a:endParaRPr lang="en-US" sz="2300" dirty="0"/>
          </a:p>
        </p:txBody>
      </p:sp>
      <p:sp>
        <p:nvSpPr>
          <p:cNvPr id="17" name="Text 14"/>
          <p:cNvSpPr txBox="1"/>
          <p:nvPr/>
        </p:nvSpPr>
        <p:spPr>
          <a:xfrm>
            <a:off x="9046159" y="1874520"/>
            <a:ext cx="2340864" cy="548640"/>
          </a:xfrm>
          <a:prstGeom prst="rect">
            <a:avLst/>
          </a:prstGeom>
          <a:noFill/>
          <a:ln/>
        </p:spPr>
        <p:txBody>
          <a:bodyPr wrap="square" lIns="0" tIns="0" rIns="0" bIns="0" rtlCol="0" anchor="t"/>
          <a:lstStyle/>
          <a:p>
            <a:pPr indent="0" marL="0">
              <a:buNone/>
            </a:pPr>
            <a:r>
              <a:rPr lang="en-US" sz="1050" dirty="0">
                <a:solidFill>
                  <a:schemeClr val="tx1"/>
                </a:solidFill>
              </a:rPr>
              <a:t>of Turkish queries to Google Translate were gender-ambiguous in 2018</a:t>
            </a:r>
            <a:endParaRPr lang="en-US" sz="1050" dirty="0"/>
          </a:p>
        </p:txBody>
      </p:sp>
      <p:sp>
        <p:nvSpPr>
          <p:cNvPr id="18" name="Text 15"/>
          <p:cNvSpPr txBox="1"/>
          <p:nvPr/>
        </p:nvSpPr>
        <p:spPr>
          <a:xfrm>
            <a:off x="9046159" y="2404872"/>
            <a:ext cx="2340864" cy="201168"/>
          </a:xfrm>
          <a:prstGeom prst="rect">
            <a:avLst/>
          </a:prstGeom>
          <a:noFill/>
          <a:ln/>
        </p:spPr>
        <p:txBody>
          <a:bodyPr wrap="square" lIns="0" tIns="0" rIns="0" bIns="0" rtlCol="0" anchor="t"/>
          <a:lstStyle/>
          <a:p>
            <a:pPr indent="0" marL="0">
              <a:buNone/>
            </a:pPr>
            <a:r>
              <a:rPr lang="en-US" sz="850" dirty="0">
                <a:solidFill>
                  <a:schemeClr val="accent3"/>
                </a:solidFill>
              </a:rPr>
              <a:t>Google Research blog, Dec 2018</a:t>
            </a:r>
            <a:endParaRPr lang="en-US" sz="850" dirty="0"/>
          </a:p>
        </p:txBody>
      </p:sp>
      <p:sp>
        <p:nvSpPr>
          <p:cNvPr id="19" name="card"/>
          <p:cNvSpPr/>
          <p:nvPr/>
        </p:nvSpPr>
        <p:spPr>
          <a:xfrm>
            <a:off x="4754880" y="2862072"/>
            <a:ext cx="6888175" cy="1417320"/>
          </a:xfrm>
          <a:prstGeom prst="roundRect">
            <a:avLst>
              <a:gd name="adj" fmla="val 5161"/>
            </a:avLst>
          </a:prstGeom>
          <a:solidFill>
            <a:schemeClr val="bg2"/>
          </a:solidFill>
          <a:ln/>
        </p:spPr>
      </p:sp>
      <p:pic>
        <p:nvPicPr>
          <p:cNvPr id="20" name="Image 1" descr="preencoded.png">    </p:cNvPr>
          <p:cNvPicPr>
            <a:picLocks noChangeAspect="1"/>
          </p:cNvPicPr>
          <p:nvPr/>
        </p:nvPicPr>
        <p:blipFill>
          <a:blip r:embed="rId2"/>
          <a:stretch>
            <a:fillRect/>
          </a:stretch>
        </p:blipFill>
        <p:spPr>
          <a:xfrm>
            <a:off x="4983480" y="3044952"/>
            <a:ext cx="292608" cy="292608"/>
          </a:xfrm>
          <a:prstGeom prst="rect">
            <a:avLst/>
          </a:prstGeom>
        </p:spPr>
      </p:pic>
      <p:sp>
        <p:nvSpPr>
          <p:cNvPr id="21" name="Text 17"/>
          <p:cNvSpPr txBox="1"/>
          <p:nvPr/>
        </p:nvSpPr>
        <p:spPr>
          <a:xfrm>
            <a:off x="5376672" y="3008376"/>
            <a:ext cx="3200400" cy="365760"/>
          </a:xfrm>
          <a:prstGeom prst="rect">
            <a:avLst/>
          </a:prstGeom>
          <a:noFill/>
          <a:ln/>
        </p:spPr>
        <p:txBody>
          <a:bodyPr wrap="square" lIns="0" tIns="0" rIns="0" bIns="0" rtlCol="0" anchor="ctr"/>
          <a:lstStyle/>
          <a:p>
            <a:pPr indent="0" marL="0">
              <a:buNone/>
            </a:pPr>
            <a:r>
              <a:rPr lang="en-US" sz="1300" b="1" dirty="0">
                <a:solidFill>
                  <a:schemeClr val="accent1"/>
                </a:solidFill>
              </a:rPr>
              <a:t>Translating breaks on</a:t>
            </a:r>
            <a:endParaRPr lang="en-US" sz="1300" dirty="0"/>
          </a:p>
        </p:txBody>
      </p:sp>
      <p:sp>
        <p:nvSpPr>
          <p:cNvPr id="22" name="Text 18"/>
          <p:cNvSpPr txBox="1"/>
          <p:nvPr/>
        </p:nvSpPr>
        <p:spPr>
          <a:xfrm>
            <a:off x="4983480" y="3429000"/>
            <a:ext cx="3733495" cy="804672"/>
          </a:xfrm>
          <a:prstGeom prst="rect">
            <a:avLst/>
          </a:prstGeom>
          <a:noFill/>
          <a:ln/>
        </p:spPr>
        <p:txBody>
          <a:bodyPr wrap="square" lIns="0" tIns="0" rIns="0" bIns="0" rtlCol="0" anchor="t"/>
          <a:lstStyle/>
          <a:p>
            <a:pPr indent="0" marL="0">
              <a:buNone/>
            </a:pPr>
            <a:r>
              <a:rPr lang="en-US" sz="1400" dirty="0">
                <a:solidFill>
                  <a:schemeClr val="tx1"/>
                </a:solidFill>
              </a:rPr>
              <a:t>English must choose a gender the source never stated, so systems fall back on stereotypes.</a:t>
            </a:r>
            <a:endParaRPr lang="en-US" sz="1400" dirty="0"/>
          </a:p>
        </p:txBody>
      </p:sp>
      <p:sp>
        <p:nvSpPr>
          <p:cNvPr id="23" name="Shape 19"/>
          <p:cNvSpPr/>
          <p:nvPr/>
        </p:nvSpPr>
        <p:spPr>
          <a:xfrm>
            <a:off x="8899855" y="2962656"/>
            <a:ext cx="2615184" cy="1216152"/>
          </a:xfrm>
          <a:prstGeom prst="roundRect">
            <a:avLst>
              <a:gd name="adj" fmla="val 4511"/>
            </a:avLst>
          </a:prstGeom>
          <a:solidFill>
            <a:schemeClr val="bg1"/>
          </a:solidFill>
          <a:ln/>
        </p:spPr>
      </p:sp>
      <p:sp>
        <p:nvSpPr>
          <p:cNvPr id="24" name="Text 20"/>
          <p:cNvSpPr txBox="1"/>
          <p:nvPr/>
        </p:nvSpPr>
        <p:spPr>
          <a:xfrm>
            <a:off x="9046159" y="2980944"/>
            <a:ext cx="2340864" cy="420624"/>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39 of 50</a:t>
            </a:r>
            <a:endParaRPr lang="en-US" sz="2300" dirty="0"/>
          </a:p>
        </p:txBody>
      </p:sp>
      <p:sp>
        <p:nvSpPr>
          <p:cNvPr id="25" name="Text 21"/>
          <p:cNvSpPr txBox="1"/>
          <p:nvPr/>
        </p:nvSpPr>
        <p:spPr>
          <a:xfrm>
            <a:off x="9046159" y="3410712"/>
            <a:ext cx="2340864" cy="548640"/>
          </a:xfrm>
          <a:prstGeom prst="rect">
            <a:avLst/>
          </a:prstGeom>
          <a:noFill/>
          <a:ln/>
        </p:spPr>
        <p:txBody>
          <a:bodyPr wrap="square" lIns="0" tIns="0" rIns="0" bIns="0" rtlCol="0" anchor="t"/>
          <a:lstStyle/>
          <a:p>
            <a:pPr indent="0" marL="0">
              <a:buNone/>
            </a:pPr>
            <a:r>
              <a:rPr lang="en-US" sz="1050" dirty="0">
                <a:solidFill>
                  <a:schemeClr val="tx1"/>
                </a:solidFill>
              </a:rPr>
              <a:t>neutral jobs from Turkish, Persian, Tagalog made “he” by ChatGPT; never “they”</a:t>
            </a:r>
            <a:endParaRPr lang="en-US" sz="1050" dirty="0"/>
          </a:p>
        </p:txBody>
      </p:sp>
      <p:sp>
        <p:nvSpPr>
          <p:cNvPr id="26" name="Text 22"/>
          <p:cNvSpPr txBox="1"/>
          <p:nvPr/>
        </p:nvSpPr>
        <p:spPr>
          <a:xfrm>
            <a:off x="9046159" y="3941064"/>
            <a:ext cx="2340864" cy="201168"/>
          </a:xfrm>
          <a:prstGeom prst="rect">
            <a:avLst/>
          </a:prstGeom>
          <a:noFill/>
          <a:ln/>
        </p:spPr>
        <p:txBody>
          <a:bodyPr wrap="square" lIns="0" tIns="0" rIns="0" bIns="0" rtlCol="0" anchor="t"/>
          <a:lstStyle/>
          <a:p>
            <a:pPr indent="0" marL="0">
              <a:buNone/>
            </a:pPr>
            <a:r>
              <a:rPr lang="en-US" sz="850" dirty="0">
                <a:solidFill>
                  <a:schemeClr val="accent3"/>
                </a:solidFill>
              </a:rPr>
              <a:t>Ghosh &amp; Caliskan, AIES 2023</a:t>
            </a:r>
            <a:endParaRPr lang="en-US" sz="850" dirty="0"/>
          </a:p>
        </p:txBody>
      </p:sp>
      <p:sp>
        <p:nvSpPr>
          <p:cNvPr id="27" name="card"/>
          <p:cNvSpPr/>
          <p:nvPr/>
        </p:nvSpPr>
        <p:spPr>
          <a:xfrm>
            <a:off x="4754880" y="4398264"/>
            <a:ext cx="6888175" cy="1591056"/>
          </a:xfrm>
          <a:prstGeom prst="roundRect">
            <a:avLst>
              <a:gd name="adj" fmla="val 4598"/>
            </a:avLst>
          </a:prstGeom>
          <a:solidFill>
            <a:srgbClr val="FBEDEA"/>
          </a:solidFill>
          <a:ln/>
        </p:spPr>
      </p:sp>
      <p:sp>
        <p:nvSpPr>
          <p:cNvPr id="28" name="Text 24"/>
          <p:cNvSpPr txBox="1"/>
          <p:nvPr/>
        </p:nvSpPr>
        <p:spPr>
          <a:xfrm>
            <a:off x="4983480" y="4507992"/>
            <a:ext cx="6430975" cy="292608"/>
          </a:xfrm>
          <a:prstGeom prst="rect">
            <a:avLst/>
          </a:prstGeom>
          <a:noFill/>
          <a:ln/>
        </p:spPr>
        <p:txBody>
          <a:bodyPr wrap="square" lIns="0" tIns="0" rIns="0" bIns="0" rtlCol="0" anchor="t"/>
          <a:lstStyle/>
          <a:p>
            <a:pPr indent="0" marL="0">
              <a:buNone/>
            </a:pPr>
            <a:r>
              <a:rPr lang="en-US" sz="1300" b="1" dirty="0">
                <a:solidFill>
                  <a:schemeClr val="accent1"/>
                </a:solidFill>
              </a:rPr>
              <a:t>In the real world</a:t>
            </a:r>
            <a:endParaRPr lang="en-US" sz="1300" dirty="0"/>
          </a:p>
        </p:txBody>
      </p:sp>
      <p:sp>
        <p:nvSpPr>
          <p:cNvPr id="29" name="Text 25"/>
          <p:cNvSpPr txBox="1"/>
          <p:nvPr/>
        </p:nvSpPr>
        <p:spPr>
          <a:xfrm>
            <a:off x="4983480" y="4809744"/>
            <a:ext cx="6430975" cy="877824"/>
          </a:xfrm>
          <a:prstGeom prst="rect">
            <a:avLst/>
          </a:prstGeom>
          <a:noFill/>
          <a:ln/>
        </p:spPr>
        <p:txBody>
          <a:bodyPr wrap="square" lIns="0" tIns="0" rIns="0" bIns="0" rtlCol="0" anchor="t"/>
          <a:lstStyle/>
          <a:p>
            <a:pPr indent="0" marL="0">
              <a:buNone/>
            </a:pPr>
            <a:r>
              <a:rPr lang="en-US" sz="1450" dirty="0">
                <a:solidFill>
                  <a:schemeClr val="tx1"/>
                </a:solidFill>
              </a:rPr>
              <a:t>Hungarian, 2021: Google Translate turned gender-neutral sentences into “She is beautiful. He is clever. He makes a lot of money. She cooks.” The both-genders feature didn't apply to several sentences at once.</a:t>
            </a:r>
            <a:endParaRPr lang="en-US" sz="1450" dirty="0"/>
          </a:p>
        </p:txBody>
      </p:sp>
      <p:sp>
        <p:nvSpPr>
          <p:cNvPr id="30" name="Text 26"/>
          <p:cNvSpPr txBox="1"/>
          <p:nvPr/>
        </p:nvSpPr>
        <p:spPr>
          <a:xfrm>
            <a:off x="4983480" y="5696712"/>
            <a:ext cx="6430975" cy="219456"/>
          </a:xfrm>
          <a:prstGeom prst="rect">
            <a:avLst/>
          </a:prstGeom>
          <a:noFill/>
          <a:ln/>
        </p:spPr>
        <p:txBody>
          <a:bodyPr wrap="square" lIns="0" tIns="0" rIns="0" bIns="0" rtlCol="0" anchor="t"/>
          <a:lstStyle/>
          <a:p>
            <a:pPr indent="0" marL="0">
              <a:buNone/>
            </a:pPr>
            <a:r>
              <a:rPr lang="en-US" sz="900" dirty="0">
                <a:solidFill>
                  <a:schemeClr val="accent3"/>
                </a:solidFill>
              </a:rPr>
              <a:t>Google Research blog 2018 and 2020; Vanmassenhove 2024 (arXiv 2401.10016)</a:t>
            </a:r>
            <a:endParaRPr lang="en-US" sz="9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Russian and Ukrainian: look-alike letters, close cousins</a:t>
            </a:r>
            <a:endParaRPr lang="en-US" sz="3200" dirty="0"/>
          </a:p>
        </p:txBody>
      </p:sp>
      <p:sp>
        <p:nvSpPr>
          <p:cNvPr id="3" name="card"/>
          <p:cNvSpPr/>
          <p:nvPr/>
        </p:nvSpPr>
        <p:spPr>
          <a:xfrm>
            <a:off x="548640" y="1325880"/>
            <a:ext cx="3931920" cy="4663440"/>
          </a:xfrm>
          <a:prstGeom prst="roundRect">
            <a:avLst>
              <a:gd name="adj" fmla="val 1860"/>
            </a:avLst>
          </a:prstGeom>
          <a:solidFill>
            <a:schemeClr val="tx1"/>
          </a:solidFill>
          <a:ln/>
        </p:spPr>
      </p:sp>
      <p:sp>
        <p:nvSpPr>
          <p:cNvPr id="4" name="Text 2"/>
          <p:cNvSpPr txBox="1"/>
          <p:nvPr/>
        </p:nvSpPr>
        <p:spPr>
          <a:xfrm>
            <a:off x="868680" y="1527048"/>
            <a:ext cx="3291840" cy="731520"/>
          </a:xfrm>
          <a:prstGeom prst="rect">
            <a:avLst/>
          </a:prstGeom>
          <a:noFill/>
          <a:ln/>
        </p:spPr>
        <p:txBody>
          <a:bodyPr wrap="square" lIns="0" tIns="0" rIns="0" bIns="0" rtlCol="0" anchor="ctr"/>
          <a:lstStyle/>
          <a:p>
            <a:pPr indent="0" marL="0">
              <a:buNone/>
            </a:pPr>
            <a:r>
              <a:rPr lang="en-US" sz="2600" b="1" dirty="0">
                <a:solidFill>
                  <a:schemeClr val="bg1"/>
                </a:solidFill>
              </a:rPr>
              <a:t>Русский · Українська</a:t>
            </a:r>
            <a:endParaRPr lang="en-US" sz="2600" dirty="0"/>
          </a:p>
        </p:txBody>
      </p:sp>
      <p:sp>
        <p:nvSpPr>
          <p:cNvPr id="5" name="Text 3"/>
          <p:cNvSpPr txBox="1"/>
          <p:nvPr/>
        </p:nvSpPr>
        <p:spPr>
          <a:xfrm>
            <a:off x="868680" y="2276856"/>
            <a:ext cx="3291840" cy="292608"/>
          </a:xfrm>
          <a:prstGeom prst="rect">
            <a:avLst/>
          </a:prstGeom>
          <a:noFill/>
          <a:ln/>
        </p:spPr>
        <p:txBody>
          <a:bodyPr wrap="square" lIns="0" tIns="0" rIns="0" bIns="0" rtlCol="0" anchor="t"/>
          <a:lstStyle/>
          <a:p>
            <a:pPr indent="0" marL="0">
              <a:buNone/>
            </a:pPr>
            <a:r>
              <a:rPr lang="en-US" sz="1300" b="1" dirty="0">
                <a:solidFill>
                  <a:srgbClr val="AEB6C6"/>
                </a:solidFill>
              </a:rPr>
              <a:t>Russian · Ukrainian</a:t>
            </a:r>
            <a:endParaRPr lang="en-US" sz="1300" dirty="0"/>
          </a:p>
        </p:txBody>
      </p:sp>
      <p:sp>
        <p:nvSpPr>
          <p:cNvPr id="6" name="Shape 4"/>
          <p:cNvSpPr/>
          <p:nvPr/>
        </p:nvSpPr>
        <p:spPr>
          <a:xfrm>
            <a:off x="868680" y="2679192"/>
            <a:ext cx="3291840" cy="0"/>
          </a:xfrm>
          <a:prstGeom prst="line">
            <a:avLst/>
          </a:prstGeom>
          <a:noFill/>
          <a:ln w="12700">
            <a:solidFill>
              <a:srgbClr val="46506A"/>
            </a:solidFill>
            <a:prstDash val="solid"/>
          </a:ln>
        </p:spPr>
      </p:sp>
      <p:sp>
        <p:nvSpPr>
          <p:cNvPr id="7" name="Text 5"/>
          <p:cNvSpPr txBox="1"/>
          <p:nvPr/>
        </p:nvSpPr>
        <p:spPr>
          <a:xfrm>
            <a:off x="868680" y="2788920"/>
            <a:ext cx="3291840" cy="658368"/>
          </a:xfrm>
          <a:prstGeom prst="rect">
            <a:avLst/>
          </a:prstGeom>
          <a:noFill/>
          <a:ln/>
        </p:spPr>
        <p:txBody>
          <a:bodyPr wrap="square" lIns="0" tIns="0" rIns="0" bIns="0" rtlCol="0" anchor="b"/>
          <a:lstStyle/>
          <a:p>
            <a:pPr indent="0" marL="0">
              <a:buNone/>
            </a:pPr>
            <a:r>
              <a:rPr lang="en-US" sz="3400" b="1" dirty="0">
                <a:solidFill>
                  <a:schemeClr val="bg1"/>
                </a:solidFill>
              </a:rPr>
              <a:t>а с е о р</a:t>
            </a:r>
            <a:endParaRPr lang="en-US" sz="3400" dirty="0"/>
          </a:p>
        </p:txBody>
      </p:sp>
      <p:sp>
        <p:nvSpPr>
          <p:cNvPr id="8" name="Text 6"/>
          <p:cNvSpPr txBox="1"/>
          <p:nvPr/>
        </p:nvSpPr>
        <p:spPr>
          <a:xfrm>
            <a:off x="868680" y="3483864"/>
            <a:ext cx="3291840" cy="800100"/>
          </a:xfrm>
          <a:prstGeom prst="rect">
            <a:avLst/>
          </a:prstGeom>
          <a:noFill/>
          <a:ln/>
        </p:spPr>
        <p:txBody>
          <a:bodyPr wrap="square" lIns="0" tIns="0" rIns="0" bIns="0" rtlCol="0" anchor="t"/>
          <a:lstStyle/>
          <a:p>
            <a:pPr indent="0" marL="0">
              <a:buNone/>
            </a:pPr>
            <a:r>
              <a:rPr lang="en-US" sz="1200" dirty="0">
                <a:solidFill>
                  <a:srgbClr val="AEB6C6"/>
                </a:solidFill>
              </a:rPr>
              <a:t>Cyrillic letters drawn exactly like Latin a c e o p</a:t>
            </a:r>
            <a:endParaRPr lang="en-US" sz="1200" dirty="0"/>
          </a:p>
        </p:txBody>
      </p:sp>
      <p:sp>
        <p:nvSpPr>
          <p:cNvPr id="9" name="Text 7"/>
          <p:cNvSpPr txBox="1"/>
          <p:nvPr/>
        </p:nvSpPr>
        <p:spPr>
          <a:xfrm>
            <a:off x="868680" y="4320540"/>
            <a:ext cx="3291840" cy="658368"/>
          </a:xfrm>
          <a:prstGeom prst="rect">
            <a:avLst/>
          </a:prstGeom>
          <a:noFill/>
          <a:ln/>
        </p:spPr>
        <p:txBody>
          <a:bodyPr wrap="square" lIns="0" tIns="0" rIns="0" bIns="0" rtlCol="0" anchor="b"/>
          <a:lstStyle/>
          <a:p>
            <a:pPr indent="0" marL="0">
              <a:buNone/>
            </a:pPr>
            <a:r>
              <a:rPr lang="en-US" sz="2800" b="1" dirty="0">
                <a:solidFill>
                  <a:schemeClr val="bg1"/>
                </a:solidFill>
              </a:rPr>
              <a:t>неділя · неделя</a:t>
            </a:r>
            <a:endParaRPr lang="en-US" sz="2800" dirty="0"/>
          </a:p>
        </p:txBody>
      </p:sp>
      <p:sp>
        <p:nvSpPr>
          <p:cNvPr id="10" name="Text 8"/>
          <p:cNvSpPr txBox="1"/>
          <p:nvPr/>
        </p:nvSpPr>
        <p:spPr>
          <a:xfrm>
            <a:off x="868680" y="5015484"/>
            <a:ext cx="3291840" cy="800100"/>
          </a:xfrm>
          <a:prstGeom prst="rect">
            <a:avLst/>
          </a:prstGeom>
          <a:noFill/>
          <a:ln/>
        </p:spPr>
        <p:txBody>
          <a:bodyPr wrap="square" lIns="0" tIns="0" rIns="0" bIns="0" rtlCol="0" anchor="t"/>
          <a:lstStyle/>
          <a:p>
            <a:pPr indent="0" marL="0">
              <a:buNone/>
            </a:pPr>
            <a:r>
              <a:rPr lang="en-US" sz="1200" dirty="0">
                <a:solidFill>
                  <a:srgbClr val="AEB6C6"/>
                </a:solidFill>
              </a:rPr>
              <a:t>Ukrainian “Sunday” · Russian “week”</a:t>
            </a:r>
            <a:endParaRPr lang="en-US" sz="1200" dirty="0"/>
          </a:p>
        </p:txBody>
      </p:sp>
      <p:sp>
        <p:nvSpPr>
          <p:cNvPr id="11" name="card"/>
          <p:cNvSpPr/>
          <p:nvPr/>
        </p:nvSpPr>
        <p:spPr>
          <a:xfrm>
            <a:off x="4754880" y="1325880"/>
            <a:ext cx="6888175" cy="1417320"/>
          </a:xfrm>
          <a:prstGeom prst="roundRect">
            <a:avLst>
              <a:gd name="adj" fmla="val 5161"/>
            </a:avLst>
          </a:prstGeom>
          <a:solidFill>
            <a:schemeClr val="bg2"/>
          </a:solidFill>
          <a:ln/>
        </p:spPr>
      </p:sp>
      <p:pic>
        <p:nvPicPr>
          <p:cNvPr id="12" name="Image 0" descr="preencoded.png">    </p:cNvPr>
          <p:cNvPicPr>
            <a:picLocks noChangeAspect="1"/>
          </p:cNvPicPr>
          <p:nvPr/>
        </p:nvPicPr>
        <p:blipFill>
          <a:blip r:embed="rId1"/>
          <a:stretch>
            <a:fillRect/>
          </a:stretch>
        </p:blipFill>
        <p:spPr>
          <a:xfrm>
            <a:off x="4983480" y="1508760"/>
            <a:ext cx="292608" cy="292608"/>
          </a:xfrm>
          <a:prstGeom prst="rect">
            <a:avLst/>
          </a:prstGeom>
        </p:spPr>
      </p:pic>
      <p:sp>
        <p:nvSpPr>
          <p:cNvPr id="13" name="Text 10"/>
          <p:cNvSpPr txBox="1"/>
          <p:nvPr/>
        </p:nvSpPr>
        <p:spPr>
          <a:xfrm>
            <a:off x="5376672" y="1472184"/>
            <a:ext cx="3200400" cy="365760"/>
          </a:xfrm>
          <a:prstGeom prst="rect">
            <a:avLst/>
          </a:prstGeom>
          <a:noFill/>
          <a:ln/>
        </p:spPr>
        <p:txBody>
          <a:bodyPr wrap="square" lIns="0" tIns="0" rIns="0" bIns="0" rtlCol="0" anchor="ctr"/>
          <a:lstStyle/>
          <a:p>
            <a:pPr indent="0" marL="0">
              <a:buNone/>
            </a:pPr>
            <a:r>
              <a:rPr lang="en-US" sz="1300" b="1" dirty="0">
                <a:solidFill>
                  <a:schemeClr val="accent2"/>
                </a:solidFill>
              </a:rPr>
              <a:t>Reading breaks on</a:t>
            </a:r>
            <a:endParaRPr lang="en-US" sz="1300" dirty="0"/>
          </a:p>
        </p:txBody>
      </p:sp>
      <p:sp>
        <p:nvSpPr>
          <p:cNvPr id="14" name="Text 11"/>
          <p:cNvSpPr txBox="1"/>
          <p:nvPr/>
        </p:nvSpPr>
        <p:spPr>
          <a:xfrm>
            <a:off x="4983480" y="1892808"/>
            <a:ext cx="3733495" cy="804672"/>
          </a:xfrm>
          <a:prstGeom prst="rect">
            <a:avLst/>
          </a:prstGeom>
          <a:noFill/>
          <a:ln/>
        </p:spPr>
        <p:txBody>
          <a:bodyPr wrap="square" lIns="0" tIns="0" rIns="0" bIns="0" rtlCol="0" anchor="t"/>
          <a:lstStyle/>
          <a:p>
            <a:pPr indent="0" marL="0">
              <a:buNone/>
            </a:pPr>
            <a:r>
              <a:rPr lang="en-US" sz="1400" dirty="0">
                <a:solidFill>
                  <a:schemeClr val="tx1"/>
                </a:solidFill>
              </a:rPr>
              <a:t>Look-alike letters get output as Latin ones, invisibly; old documents use letters that were abolished in 1918.</a:t>
            </a:r>
            <a:endParaRPr lang="en-US" sz="1400" dirty="0"/>
          </a:p>
        </p:txBody>
      </p:sp>
      <p:sp>
        <p:nvSpPr>
          <p:cNvPr id="15" name="Shape 12"/>
          <p:cNvSpPr/>
          <p:nvPr/>
        </p:nvSpPr>
        <p:spPr>
          <a:xfrm>
            <a:off x="8899855" y="1426464"/>
            <a:ext cx="2615184" cy="1216152"/>
          </a:xfrm>
          <a:prstGeom prst="roundRect">
            <a:avLst>
              <a:gd name="adj" fmla="val 4511"/>
            </a:avLst>
          </a:prstGeom>
          <a:solidFill>
            <a:schemeClr val="bg1"/>
          </a:solidFill>
          <a:ln/>
        </p:spPr>
      </p:sp>
      <p:sp>
        <p:nvSpPr>
          <p:cNvPr id="16" name="Text 13"/>
          <p:cNvSpPr txBox="1"/>
          <p:nvPr/>
        </p:nvSpPr>
        <p:spPr>
          <a:xfrm>
            <a:off x="9046159" y="1444752"/>
            <a:ext cx="2340864" cy="420624"/>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11.5%</a:t>
            </a:r>
            <a:endParaRPr lang="en-US" sz="2300" dirty="0"/>
          </a:p>
        </p:txBody>
      </p:sp>
      <p:sp>
        <p:nvSpPr>
          <p:cNvPr id="17" name="Text 14"/>
          <p:cNvSpPr txBox="1"/>
          <p:nvPr/>
        </p:nvSpPr>
        <p:spPr>
          <a:xfrm>
            <a:off x="9046159" y="1874520"/>
            <a:ext cx="2340864" cy="548640"/>
          </a:xfrm>
          <a:prstGeom prst="rect">
            <a:avLst/>
          </a:prstGeom>
          <a:noFill/>
          <a:ln/>
        </p:spPr>
        <p:txBody>
          <a:bodyPr wrap="square" lIns="0" tIns="0" rIns="0" bIns="0" rtlCol="0" anchor="t"/>
          <a:lstStyle/>
          <a:p>
            <a:pPr indent="0" marL="0">
              <a:buNone/>
            </a:pPr>
            <a:r>
              <a:rPr lang="en-US" sz="1050" dirty="0">
                <a:solidFill>
                  <a:schemeClr val="tx1"/>
                </a:solidFill>
              </a:rPr>
              <a:t>questions on Russian text in photos GPT-4o got right (French 41%, people 76%)</a:t>
            </a:r>
            <a:endParaRPr lang="en-US" sz="1050" dirty="0"/>
          </a:p>
        </p:txBody>
      </p:sp>
      <p:sp>
        <p:nvSpPr>
          <p:cNvPr id="18" name="Text 15"/>
          <p:cNvSpPr txBox="1"/>
          <p:nvPr/>
        </p:nvSpPr>
        <p:spPr>
          <a:xfrm>
            <a:off x="9046159" y="2404872"/>
            <a:ext cx="2340864" cy="201168"/>
          </a:xfrm>
          <a:prstGeom prst="rect">
            <a:avLst/>
          </a:prstGeom>
          <a:noFill/>
          <a:ln/>
        </p:spPr>
        <p:txBody>
          <a:bodyPr wrap="square" lIns="0" tIns="0" rIns="0" bIns="0" rtlCol="0" anchor="t"/>
          <a:lstStyle/>
          <a:p>
            <a:pPr indent="0" marL="0">
              <a:buNone/>
            </a:pPr>
            <a:r>
              <a:rPr lang="en-US" sz="850" dirty="0">
                <a:solidFill>
                  <a:schemeClr val="accent3"/>
                </a:solidFill>
              </a:rPr>
              <a:t>MTVQA, 2024</a:t>
            </a:r>
            <a:endParaRPr lang="en-US" sz="850" dirty="0"/>
          </a:p>
        </p:txBody>
      </p:sp>
      <p:sp>
        <p:nvSpPr>
          <p:cNvPr id="19" name="card"/>
          <p:cNvSpPr/>
          <p:nvPr/>
        </p:nvSpPr>
        <p:spPr>
          <a:xfrm>
            <a:off x="4754880" y="2862072"/>
            <a:ext cx="6888175" cy="1417320"/>
          </a:xfrm>
          <a:prstGeom prst="roundRect">
            <a:avLst>
              <a:gd name="adj" fmla="val 5161"/>
            </a:avLst>
          </a:prstGeom>
          <a:solidFill>
            <a:schemeClr val="bg2"/>
          </a:solidFill>
          <a:ln/>
        </p:spPr>
      </p:sp>
      <p:pic>
        <p:nvPicPr>
          <p:cNvPr id="20" name="Image 1" descr="preencoded.png">    </p:cNvPr>
          <p:cNvPicPr>
            <a:picLocks noChangeAspect="1"/>
          </p:cNvPicPr>
          <p:nvPr/>
        </p:nvPicPr>
        <p:blipFill>
          <a:blip r:embed="rId2"/>
          <a:stretch>
            <a:fillRect/>
          </a:stretch>
        </p:blipFill>
        <p:spPr>
          <a:xfrm>
            <a:off x="4983480" y="3044952"/>
            <a:ext cx="292608" cy="292608"/>
          </a:xfrm>
          <a:prstGeom prst="rect">
            <a:avLst/>
          </a:prstGeom>
        </p:spPr>
      </p:pic>
      <p:sp>
        <p:nvSpPr>
          <p:cNvPr id="21" name="Text 17"/>
          <p:cNvSpPr txBox="1"/>
          <p:nvPr/>
        </p:nvSpPr>
        <p:spPr>
          <a:xfrm>
            <a:off x="5376672" y="3008376"/>
            <a:ext cx="3200400" cy="365760"/>
          </a:xfrm>
          <a:prstGeom prst="rect">
            <a:avLst/>
          </a:prstGeom>
          <a:noFill/>
          <a:ln/>
        </p:spPr>
        <p:txBody>
          <a:bodyPr wrap="square" lIns="0" tIns="0" rIns="0" bIns="0" rtlCol="0" anchor="ctr"/>
          <a:lstStyle/>
          <a:p>
            <a:pPr indent="0" marL="0">
              <a:buNone/>
            </a:pPr>
            <a:r>
              <a:rPr lang="en-US" sz="1300" b="1" dirty="0">
                <a:solidFill>
                  <a:schemeClr val="accent1"/>
                </a:solidFill>
              </a:rPr>
              <a:t>Translating breaks on</a:t>
            </a:r>
            <a:endParaRPr lang="en-US" sz="1300" dirty="0"/>
          </a:p>
        </p:txBody>
      </p:sp>
      <p:sp>
        <p:nvSpPr>
          <p:cNvPr id="22" name="Text 18"/>
          <p:cNvSpPr txBox="1"/>
          <p:nvPr/>
        </p:nvSpPr>
        <p:spPr>
          <a:xfrm>
            <a:off x="4983480" y="3429000"/>
            <a:ext cx="3733495" cy="804672"/>
          </a:xfrm>
          <a:prstGeom prst="rect">
            <a:avLst/>
          </a:prstGeom>
          <a:noFill/>
          <a:ln/>
        </p:spPr>
        <p:txBody>
          <a:bodyPr wrap="square" lIns="0" tIns="0" rIns="0" bIns="0" rtlCol="0" anchor="t"/>
          <a:lstStyle/>
          <a:p>
            <a:pPr indent="0" marL="0">
              <a:buNone/>
            </a:pPr>
            <a:r>
              <a:rPr lang="en-US" sz="1400" dirty="0">
                <a:solidFill>
                  <a:schemeClr val="tx1"/>
                </a:solidFill>
              </a:rPr>
              <a:t>Past-tense verbs show gender (я опоздал / опоздала, “I was late”); two close languages pull on each other.</a:t>
            </a:r>
            <a:endParaRPr lang="en-US" sz="1400" dirty="0"/>
          </a:p>
        </p:txBody>
      </p:sp>
      <p:sp>
        <p:nvSpPr>
          <p:cNvPr id="23" name="Shape 19"/>
          <p:cNvSpPr/>
          <p:nvPr/>
        </p:nvSpPr>
        <p:spPr>
          <a:xfrm>
            <a:off x="8899855" y="2962656"/>
            <a:ext cx="2615184" cy="1216152"/>
          </a:xfrm>
          <a:prstGeom prst="roundRect">
            <a:avLst>
              <a:gd name="adj" fmla="val 4511"/>
            </a:avLst>
          </a:prstGeom>
          <a:solidFill>
            <a:schemeClr val="bg1"/>
          </a:solidFill>
          <a:ln/>
        </p:spPr>
      </p:sp>
      <p:sp>
        <p:nvSpPr>
          <p:cNvPr id="24" name="Text 20"/>
          <p:cNvSpPr txBox="1"/>
          <p:nvPr/>
        </p:nvSpPr>
        <p:spPr>
          <a:xfrm>
            <a:off x="9046159" y="2980944"/>
            <a:ext cx="2340864" cy="420624"/>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 38%</a:t>
            </a:r>
            <a:endParaRPr lang="en-US" sz="2300" dirty="0"/>
          </a:p>
        </p:txBody>
      </p:sp>
      <p:sp>
        <p:nvSpPr>
          <p:cNvPr id="25" name="Text 21"/>
          <p:cNvSpPr txBox="1"/>
          <p:nvPr/>
        </p:nvSpPr>
        <p:spPr>
          <a:xfrm>
            <a:off x="9046159" y="3410712"/>
            <a:ext cx="2340864" cy="548640"/>
          </a:xfrm>
          <a:prstGeom prst="rect">
            <a:avLst/>
          </a:prstGeom>
          <a:noFill/>
          <a:ln/>
        </p:spPr>
        <p:txBody>
          <a:bodyPr wrap="square" lIns="0" tIns="0" rIns="0" bIns="0" rtlCol="0" anchor="t"/>
          <a:lstStyle/>
          <a:p>
            <a:pPr indent="0" marL="0">
              <a:buNone/>
            </a:pPr>
            <a:r>
              <a:rPr lang="en-US" sz="1050" dirty="0">
                <a:solidFill>
                  <a:schemeClr val="tx1"/>
                </a:solidFill>
              </a:rPr>
              <a:t>gender right for Google Translate into Russian (37.7%) and Ukrainian (38.4%)</a:t>
            </a:r>
            <a:endParaRPr lang="en-US" sz="1050" dirty="0"/>
          </a:p>
        </p:txBody>
      </p:sp>
      <p:sp>
        <p:nvSpPr>
          <p:cNvPr id="26" name="Text 22"/>
          <p:cNvSpPr txBox="1"/>
          <p:nvPr/>
        </p:nvSpPr>
        <p:spPr>
          <a:xfrm>
            <a:off x="9046159" y="3941064"/>
            <a:ext cx="2340864" cy="201168"/>
          </a:xfrm>
          <a:prstGeom prst="rect">
            <a:avLst/>
          </a:prstGeom>
          <a:noFill/>
          <a:ln/>
        </p:spPr>
        <p:txBody>
          <a:bodyPr wrap="square" lIns="0" tIns="0" rIns="0" bIns="0" rtlCol="0" anchor="t"/>
          <a:lstStyle/>
          <a:p>
            <a:pPr indent="0" marL="0">
              <a:buNone/>
            </a:pPr>
            <a:r>
              <a:rPr lang="en-US" sz="850" dirty="0">
                <a:solidFill>
                  <a:schemeClr val="accent3"/>
                </a:solidFill>
              </a:rPr>
              <a:t>WinoMT, ACL 2019</a:t>
            </a:r>
            <a:endParaRPr lang="en-US" sz="850" dirty="0"/>
          </a:p>
        </p:txBody>
      </p:sp>
      <p:sp>
        <p:nvSpPr>
          <p:cNvPr id="27" name="card"/>
          <p:cNvSpPr/>
          <p:nvPr/>
        </p:nvSpPr>
        <p:spPr>
          <a:xfrm>
            <a:off x="4754880" y="4398264"/>
            <a:ext cx="6888175" cy="1591056"/>
          </a:xfrm>
          <a:prstGeom prst="roundRect">
            <a:avLst>
              <a:gd name="adj" fmla="val 4598"/>
            </a:avLst>
          </a:prstGeom>
          <a:solidFill>
            <a:srgbClr val="FBEDEA"/>
          </a:solidFill>
          <a:ln/>
        </p:spPr>
      </p:sp>
      <p:sp>
        <p:nvSpPr>
          <p:cNvPr id="28" name="Text 24"/>
          <p:cNvSpPr txBox="1"/>
          <p:nvPr/>
        </p:nvSpPr>
        <p:spPr>
          <a:xfrm>
            <a:off x="4983480" y="4507992"/>
            <a:ext cx="6430975" cy="292608"/>
          </a:xfrm>
          <a:prstGeom prst="rect">
            <a:avLst/>
          </a:prstGeom>
          <a:noFill/>
          <a:ln/>
        </p:spPr>
        <p:txBody>
          <a:bodyPr wrap="square" lIns="0" tIns="0" rIns="0" bIns="0" rtlCol="0" anchor="t"/>
          <a:lstStyle/>
          <a:p>
            <a:pPr indent="0" marL="0">
              <a:buNone/>
            </a:pPr>
            <a:r>
              <a:rPr lang="en-US" sz="1300" b="1" dirty="0">
                <a:solidFill>
                  <a:schemeClr val="accent1"/>
                </a:solidFill>
              </a:rPr>
              <a:t>In the real world</a:t>
            </a:r>
            <a:endParaRPr lang="en-US" sz="1300" dirty="0"/>
          </a:p>
        </p:txBody>
      </p:sp>
      <p:sp>
        <p:nvSpPr>
          <p:cNvPr id="29" name="Text 25"/>
          <p:cNvSpPr txBox="1"/>
          <p:nvPr/>
        </p:nvSpPr>
        <p:spPr>
          <a:xfrm>
            <a:off x="4983480" y="4809744"/>
            <a:ext cx="6430975" cy="877824"/>
          </a:xfrm>
          <a:prstGeom prst="rect">
            <a:avLst/>
          </a:prstGeom>
          <a:noFill/>
          <a:ln/>
        </p:spPr>
        <p:txBody>
          <a:bodyPr wrap="square" lIns="0" tIns="0" rIns="0" bIns="0" rtlCol="0" anchor="t"/>
          <a:lstStyle/>
          <a:p>
            <a:pPr indent="0" marL="0">
              <a:buNone/>
            </a:pPr>
            <a:r>
              <a:rPr lang="en-US" sz="1450" dirty="0">
                <a:solidFill>
                  <a:schemeClr val="tx1"/>
                </a:solidFill>
              </a:rPr>
              <a:t>In January 2016, for about a day, Google Translate rendered “Russian Federation” from Ukrainian as “Mordor”, and the foreign minister's surname as “sad little horse”, picked up from online slang. Google fixed it.</a:t>
            </a:r>
            <a:endParaRPr lang="en-US" sz="1450" dirty="0"/>
          </a:p>
        </p:txBody>
      </p:sp>
      <p:sp>
        <p:nvSpPr>
          <p:cNvPr id="30" name="Text 26"/>
          <p:cNvSpPr txBox="1"/>
          <p:nvPr/>
        </p:nvSpPr>
        <p:spPr>
          <a:xfrm>
            <a:off x="4983480" y="5696712"/>
            <a:ext cx="6430975" cy="219456"/>
          </a:xfrm>
          <a:prstGeom prst="rect">
            <a:avLst/>
          </a:prstGeom>
          <a:noFill/>
          <a:ln/>
        </p:spPr>
        <p:txBody>
          <a:bodyPr wrap="square" lIns="0" tIns="0" rIns="0" bIns="0" rtlCol="0" anchor="t"/>
          <a:lstStyle/>
          <a:p>
            <a:pPr indent="0" marL="0">
              <a:buNone/>
            </a:pPr>
            <a:r>
              <a:rPr lang="en-US" sz="900" dirty="0">
                <a:solidFill>
                  <a:schemeClr val="accent3"/>
                </a:solidFill>
              </a:rPr>
              <a:t>RFE/RL, 5 Jan 2016; ITPro, 7 Jan 2016</a:t>
            </a:r>
            <a:endParaRPr lang="en-US" sz="9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German, French, Spanish, Portuguese: solved? Mostly</a:t>
            </a:r>
            <a:endParaRPr lang="en-US" sz="3200" dirty="0"/>
          </a:p>
        </p:txBody>
      </p:sp>
      <p:sp>
        <p:nvSpPr>
          <p:cNvPr id="3" name="card"/>
          <p:cNvSpPr/>
          <p:nvPr/>
        </p:nvSpPr>
        <p:spPr>
          <a:xfrm>
            <a:off x="548640" y="1325880"/>
            <a:ext cx="3931920" cy="4663440"/>
          </a:xfrm>
          <a:prstGeom prst="roundRect">
            <a:avLst>
              <a:gd name="adj" fmla="val 1860"/>
            </a:avLst>
          </a:prstGeom>
          <a:solidFill>
            <a:schemeClr val="tx1"/>
          </a:solidFill>
          <a:ln/>
        </p:spPr>
      </p:sp>
      <p:sp>
        <p:nvSpPr>
          <p:cNvPr id="4" name="Text 2"/>
          <p:cNvSpPr txBox="1"/>
          <p:nvPr/>
        </p:nvSpPr>
        <p:spPr>
          <a:xfrm>
            <a:off x="868680" y="1527048"/>
            <a:ext cx="3291840" cy="731520"/>
          </a:xfrm>
          <a:prstGeom prst="rect">
            <a:avLst/>
          </a:prstGeom>
          <a:noFill/>
          <a:ln/>
        </p:spPr>
        <p:txBody>
          <a:bodyPr wrap="square" lIns="0" tIns="0" rIns="0" bIns="0" rtlCol="0" anchor="ctr"/>
          <a:lstStyle/>
          <a:p>
            <a:pPr indent="0" marL="0">
              <a:buNone/>
            </a:pPr>
            <a:r>
              <a:rPr lang="en-US" sz="1900" b="1" dirty="0">
                <a:solidFill>
                  <a:schemeClr val="bg1"/>
                </a:solidFill>
              </a:rPr>
              <a:t>Deutsch · Français · Español · Português</a:t>
            </a:r>
            <a:endParaRPr lang="en-US" sz="1900" dirty="0"/>
          </a:p>
        </p:txBody>
      </p:sp>
      <p:sp>
        <p:nvSpPr>
          <p:cNvPr id="5" name="Text 3"/>
          <p:cNvSpPr txBox="1"/>
          <p:nvPr/>
        </p:nvSpPr>
        <p:spPr>
          <a:xfrm>
            <a:off x="868680" y="2276856"/>
            <a:ext cx="3291840" cy="292608"/>
          </a:xfrm>
          <a:prstGeom prst="rect">
            <a:avLst/>
          </a:prstGeom>
          <a:noFill/>
          <a:ln/>
        </p:spPr>
        <p:txBody>
          <a:bodyPr wrap="square" lIns="0" tIns="0" rIns="0" bIns="0" rtlCol="0" anchor="t"/>
          <a:lstStyle/>
          <a:p>
            <a:pPr indent="0" marL="0">
              <a:buNone/>
            </a:pPr>
            <a:r>
              <a:rPr lang="en-US" sz="1300" b="1" dirty="0">
                <a:solidFill>
                  <a:srgbClr val="AEB6C6"/>
                </a:solidFill>
              </a:rPr>
              <a:t>Western Europe</a:t>
            </a:r>
            <a:endParaRPr lang="en-US" sz="1300" dirty="0"/>
          </a:p>
        </p:txBody>
      </p:sp>
      <p:sp>
        <p:nvSpPr>
          <p:cNvPr id="6" name="Shape 4"/>
          <p:cNvSpPr/>
          <p:nvPr/>
        </p:nvSpPr>
        <p:spPr>
          <a:xfrm>
            <a:off x="868680" y="2679192"/>
            <a:ext cx="3291840" cy="0"/>
          </a:xfrm>
          <a:prstGeom prst="line">
            <a:avLst/>
          </a:prstGeom>
          <a:noFill/>
          <a:ln w="12700">
            <a:solidFill>
              <a:srgbClr val="46506A"/>
            </a:solidFill>
            <a:prstDash val="solid"/>
          </a:ln>
        </p:spPr>
      </p:sp>
      <p:sp>
        <p:nvSpPr>
          <p:cNvPr id="7" name="Text 5"/>
          <p:cNvSpPr txBox="1"/>
          <p:nvPr/>
        </p:nvSpPr>
        <p:spPr>
          <a:xfrm>
            <a:off x="868680" y="2788920"/>
            <a:ext cx="3291840" cy="561594"/>
          </a:xfrm>
          <a:prstGeom prst="rect">
            <a:avLst/>
          </a:prstGeom>
          <a:noFill/>
          <a:ln/>
        </p:spPr>
        <p:txBody>
          <a:bodyPr wrap="square" lIns="0" tIns="0" rIns="0" bIns="0" rtlCol="0" anchor="b"/>
          <a:lstStyle/>
          <a:p>
            <a:pPr indent="0" marL="0">
              <a:buNone/>
            </a:pPr>
            <a:r>
              <a:rPr lang="en-US" sz="2600" b="1" dirty="0">
                <a:solidFill>
                  <a:schemeClr val="bg1"/>
                </a:solidFill>
              </a:rPr>
              <a:t>du · Sie   tu · vous</a:t>
            </a:r>
            <a:endParaRPr lang="en-US" sz="2600" dirty="0"/>
          </a:p>
        </p:txBody>
      </p:sp>
      <p:sp>
        <p:nvSpPr>
          <p:cNvPr id="8" name="Text 6"/>
          <p:cNvSpPr txBox="1"/>
          <p:nvPr/>
        </p:nvSpPr>
        <p:spPr>
          <a:xfrm>
            <a:off x="868680" y="3387090"/>
            <a:ext cx="3291840" cy="386334"/>
          </a:xfrm>
          <a:prstGeom prst="rect">
            <a:avLst/>
          </a:prstGeom>
          <a:noFill/>
          <a:ln/>
        </p:spPr>
        <p:txBody>
          <a:bodyPr wrap="square" lIns="0" tIns="0" rIns="0" bIns="0" rtlCol="0" anchor="t"/>
          <a:lstStyle/>
          <a:p>
            <a:pPr indent="0" marL="0">
              <a:buNone/>
            </a:pPr>
            <a:r>
              <a:rPr lang="en-US" sz="1200" dirty="0">
                <a:solidFill>
                  <a:srgbClr val="AEB6C6"/>
                </a:solidFill>
              </a:rPr>
              <a:t>informal or formal “you”: English has one word</a:t>
            </a:r>
            <a:endParaRPr lang="en-US" sz="1200" dirty="0"/>
          </a:p>
        </p:txBody>
      </p:sp>
      <p:sp>
        <p:nvSpPr>
          <p:cNvPr id="9" name="Text 7"/>
          <p:cNvSpPr txBox="1"/>
          <p:nvPr/>
        </p:nvSpPr>
        <p:spPr>
          <a:xfrm>
            <a:off x="868680" y="3810000"/>
            <a:ext cx="3291840" cy="561594"/>
          </a:xfrm>
          <a:prstGeom prst="rect">
            <a:avLst/>
          </a:prstGeom>
          <a:noFill/>
          <a:ln/>
        </p:spPr>
        <p:txBody>
          <a:bodyPr wrap="square" lIns="0" tIns="0" rIns="0" bIns="0" rtlCol="0" anchor="b"/>
          <a:lstStyle/>
          <a:p>
            <a:pPr indent="0" marL="0">
              <a:buNone/>
            </a:pPr>
            <a:r>
              <a:rPr lang="en-US" sz="2600" b="1" dirty="0">
                <a:solidFill>
                  <a:schemeClr val="bg1"/>
                </a:solidFill>
              </a:rPr>
              <a:t>ônibus · autocarro</a:t>
            </a:r>
            <a:endParaRPr lang="en-US" sz="2600" dirty="0"/>
          </a:p>
        </p:txBody>
      </p:sp>
      <p:sp>
        <p:nvSpPr>
          <p:cNvPr id="10" name="Text 8"/>
          <p:cNvSpPr txBox="1"/>
          <p:nvPr/>
        </p:nvSpPr>
        <p:spPr>
          <a:xfrm>
            <a:off x="868680" y="4408170"/>
            <a:ext cx="3291840" cy="386334"/>
          </a:xfrm>
          <a:prstGeom prst="rect">
            <a:avLst/>
          </a:prstGeom>
          <a:noFill/>
          <a:ln/>
        </p:spPr>
        <p:txBody>
          <a:bodyPr wrap="square" lIns="0" tIns="0" rIns="0" bIns="0" rtlCol="0" anchor="t"/>
          <a:lstStyle/>
          <a:p>
            <a:pPr indent="0" marL="0">
              <a:buNone/>
            </a:pPr>
            <a:r>
              <a:rPr lang="en-US" sz="1200" dirty="0">
                <a:solidFill>
                  <a:srgbClr val="AEB6C6"/>
                </a:solidFill>
              </a:rPr>
              <a:t>“bus” in Brazil and in Portugal</a:t>
            </a:r>
            <a:endParaRPr lang="en-US" sz="1200" dirty="0"/>
          </a:p>
        </p:txBody>
      </p:sp>
      <p:sp>
        <p:nvSpPr>
          <p:cNvPr id="11" name="Text 9"/>
          <p:cNvSpPr txBox="1"/>
          <p:nvPr/>
        </p:nvSpPr>
        <p:spPr>
          <a:xfrm>
            <a:off x="868680" y="4831080"/>
            <a:ext cx="3291840" cy="561594"/>
          </a:xfrm>
          <a:prstGeom prst="rect">
            <a:avLst/>
          </a:prstGeom>
          <a:noFill/>
          <a:ln/>
        </p:spPr>
        <p:txBody>
          <a:bodyPr wrap="square" lIns="0" tIns="0" rIns="0" bIns="0" rtlCol="0" anchor="b"/>
          <a:lstStyle/>
          <a:p>
            <a:pPr indent="0" marL="0">
              <a:buNone/>
            </a:pPr>
            <a:r>
              <a:rPr lang="en-US" sz="2600" b="1" dirty="0">
                <a:solidFill>
                  <a:schemeClr val="bg1"/>
                </a:solidFill>
              </a:rPr>
              <a:t>beſt → beft</a:t>
            </a:r>
            <a:endParaRPr lang="en-US" sz="2600" dirty="0"/>
          </a:p>
        </p:txBody>
      </p:sp>
      <p:sp>
        <p:nvSpPr>
          <p:cNvPr id="12" name="Text 10"/>
          <p:cNvSpPr txBox="1"/>
          <p:nvPr/>
        </p:nvSpPr>
        <p:spPr>
          <a:xfrm>
            <a:off x="868680" y="5429250"/>
            <a:ext cx="3291840" cy="386334"/>
          </a:xfrm>
          <a:prstGeom prst="rect">
            <a:avLst/>
          </a:prstGeom>
          <a:noFill/>
          <a:ln/>
        </p:spPr>
        <p:txBody>
          <a:bodyPr wrap="square" lIns="0" tIns="0" rIns="0" bIns="0" rtlCol="0" anchor="t"/>
          <a:lstStyle/>
          <a:p>
            <a:pPr indent="0" marL="0">
              <a:buNone/>
            </a:pPr>
            <a:r>
              <a:rPr lang="en-US" sz="1200" dirty="0">
                <a:solidFill>
                  <a:srgbClr val="AEB6C6"/>
                </a:solidFill>
              </a:rPr>
              <a:t>old print: the long s read as f (Google Books)</a:t>
            </a:r>
            <a:endParaRPr lang="en-US" sz="1200" dirty="0"/>
          </a:p>
        </p:txBody>
      </p:sp>
      <p:sp>
        <p:nvSpPr>
          <p:cNvPr id="13" name="card"/>
          <p:cNvSpPr/>
          <p:nvPr/>
        </p:nvSpPr>
        <p:spPr>
          <a:xfrm>
            <a:off x="4754880" y="1325880"/>
            <a:ext cx="6888175" cy="1417320"/>
          </a:xfrm>
          <a:prstGeom prst="roundRect">
            <a:avLst>
              <a:gd name="adj" fmla="val 5161"/>
            </a:avLst>
          </a:prstGeom>
          <a:solidFill>
            <a:schemeClr val="bg2"/>
          </a:solidFill>
          <a:ln/>
        </p:spPr>
      </p:sp>
      <p:pic>
        <p:nvPicPr>
          <p:cNvPr id="14" name="Image 0" descr="preencoded.png">    </p:cNvPr>
          <p:cNvPicPr>
            <a:picLocks noChangeAspect="1"/>
          </p:cNvPicPr>
          <p:nvPr/>
        </p:nvPicPr>
        <p:blipFill>
          <a:blip r:embed="rId1"/>
          <a:stretch>
            <a:fillRect/>
          </a:stretch>
        </p:blipFill>
        <p:spPr>
          <a:xfrm>
            <a:off x="4983480" y="1508760"/>
            <a:ext cx="292608" cy="292608"/>
          </a:xfrm>
          <a:prstGeom prst="rect">
            <a:avLst/>
          </a:prstGeom>
        </p:spPr>
      </p:pic>
      <p:sp>
        <p:nvSpPr>
          <p:cNvPr id="15" name="Text 12"/>
          <p:cNvSpPr txBox="1"/>
          <p:nvPr/>
        </p:nvSpPr>
        <p:spPr>
          <a:xfrm>
            <a:off x="5376672" y="1472184"/>
            <a:ext cx="3200400" cy="365760"/>
          </a:xfrm>
          <a:prstGeom prst="rect">
            <a:avLst/>
          </a:prstGeom>
          <a:noFill/>
          <a:ln/>
        </p:spPr>
        <p:txBody>
          <a:bodyPr wrap="square" lIns="0" tIns="0" rIns="0" bIns="0" rtlCol="0" anchor="ctr"/>
          <a:lstStyle/>
          <a:p>
            <a:pPr indent="0" marL="0">
              <a:buNone/>
            </a:pPr>
            <a:r>
              <a:rPr lang="en-US" sz="1300" b="1" dirty="0">
                <a:solidFill>
                  <a:schemeClr val="accent2"/>
                </a:solidFill>
              </a:rPr>
              <a:t>Reading breaks on</a:t>
            </a:r>
            <a:endParaRPr lang="en-US" sz="1300" dirty="0"/>
          </a:p>
        </p:txBody>
      </p:sp>
      <p:sp>
        <p:nvSpPr>
          <p:cNvPr id="16" name="Text 13"/>
          <p:cNvSpPr txBox="1"/>
          <p:nvPr/>
        </p:nvSpPr>
        <p:spPr>
          <a:xfrm>
            <a:off x="4983480" y="1892808"/>
            <a:ext cx="3733495" cy="804672"/>
          </a:xfrm>
          <a:prstGeom prst="rect">
            <a:avLst/>
          </a:prstGeom>
          <a:noFill/>
          <a:ln/>
        </p:spPr>
        <p:txBody>
          <a:bodyPr wrap="square" lIns="0" tIns="0" rIns="0" bIns="0" rtlCol="0" anchor="t"/>
          <a:lstStyle/>
          <a:p>
            <a:pPr indent="0" marL="0">
              <a:buNone/>
            </a:pPr>
            <a:r>
              <a:rPr lang="en-US" sz="1400" dirty="0">
                <a:solidFill>
                  <a:schemeClr val="tx1"/>
                </a:solidFill>
              </a:rPr>
              <a:t>Modern print is essentially solved. Old typefaces (blackletter Fraktur, the long s) and old scans are not.</a:t>
            </a:r>
            <a:endParaRPr lang="en-US" sz="1400" dirty="0"/>
          </a:p>
        </p:txBody>
      </p:sp>
      <p:sp>
        <p:nvSpPr>
          <p:cNvPr id="17" name="Shape 14"/>
          <p:cNvSpPr/>
          <p:nvPr/>
        </p:nvSpPr>
        <p:spPr>
          <a:xfrm>
            <a:off x="8899855" y="1426464"/>
            <a:ext cx="2615184" cy="1216152"/>
          </a:xfrm>
          <a:prstGeom prst="roundRect">
            <a:avLst>
              <a:gd name="adj" fmla="val 4511"/>
            </a:avLst>
          </a:prstGeom>
          <a:solidFill>
            <a:schemeClr val="bg1"/>
          </a:solidFill>
          <a:ln/>
        </p:spPr>
      </p:sp>
      <p:sp>
        <p:nvSpPr>
          <p:cNvPr id="18" name="Text 15"/>
          <p:cNvSpPr txBox="1"/>
          <p:nvPr/>
        </p:nvSpPr>
        <p:spPr>
          <a:xfrm>
            <a:off x="9046159" y="1444752"/>
            <a:ext cx="2340864" cy="420624"/>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1.3 vs 30</a:t>
            </a:r>
            <a:endParaRPr lang="en-US" sz="2300" dirty="0"/>
          </a:p>
        </p:txBody>
      </p:sp>
      <p:sp>
        <p:nvSpPr>
          <p:cNvPr id="19" name="Text 16"/>
          <p:cNvSpPr txBox="1"/>
          <p:nvPr/>
        </p:nvSpPr>
        <p:spPr>
          <a:xfrm>
            <a:off x="9046159" y="1874520"/>
            <a:ext cx="2340864" cy="548640"/>
          </a:xfrm>
          <a:prstGeom prst="rect">
            <a:avLst/>
          </a:prstGeom>
          <a:noFill/>
          <a:ln/>
        </p:spPr>
        <p:txBody>
          <a:bodyPr wrap="square" lIns="0" tIns="0" rIns="0" bIns="0" rtlCol="0" anchor="t"/>
          <a:lstStyle/>
          <a:p>
            <a:pPr indent="0" marL="0">
              <a:buNone/>
            </a:pPr>
            <a:r>
              <a:rPr lang="en-US" sz="1050" dirty="0">
                <a:solidFill>
                  <a:schemeClr val="tx1"/>
                </a:solidFill>
              </a:rPr>
              <a:t>mistakes per 100 characters on 18th–19th-c. German Fraktur: Gemini vs Tesseract</a:t>
            </a:r>
            <a:endParaRPr lang="en-US" sz="1050" dirty="0"/>
          </a:p>
        </p:txBody>
      </p:sp>
      <p:sp>
        <p:nvSpPr>
          <p:cNvPr id="20" name="Text 17"/>
          <p:cNvSpPr txBox="1"/>
          <p:nvPr/>
        </p:nvSpPr>
        <p:spPr>
          <a:xfrm>
            <a:off x="9046159" y="2404872"/>
            <a:ext cx="2340864" cy="201168"/>
          </a:xfrm>
          <a:prstGeom prst="rect">
            <a:avLst/>
          </a:prstGeom>
          <a:noFill/>
          <a:ln/>
        </p:spPr>
        <p:txBody>
          <a:bodyPr wrap="square" lIns="0" tIns="0" rIns="0" bIns="0" rtlCol="0" anchor="t"/>
          <a:lstStyle/>
          <a:p>
            <a:pPr indent="0" marL="0">
              <a:buNone/>
            </a:pPr>
            <a:r>
              <a:rPr lang="en-US" sz="850" dirty="0">
                <a:solidFill>
                  <a:schemeClr val="accent3"/>
                </a:solidFill>
              </a:rPr>
              <a:t>Greif et al., 2025</a:t>
            </a:r>
            <a:endParaRPr lang="en-US" sz="850" dirty="0"/>
          </a:p>
        </p:txBody>
      </p:sp>
      <p:sp>
        <p:nvSpPr>
          <p:cNvPr id="21" name="card"/>
          <p:cNvSpPr/>
          <p:nvPr/>
        </p:nvSpPr>
        <p:spPr>
          <a:xfrm>
            <a:off x="4754880" y="2862072"/>
            <a:ext cx="6888175" cy="1417320"/>
          </a:xfrm>
          <a:prstGeom prst="roundRect">
            <a:avLst>
              <a:gd name="adj" fmla="val 5161"/>
            </a:avLst>
          </a:prstGeom>
          <a:solidFill>
            <a:schemeClr val="bg2"/>
          </a:solidFill>
          <a:ln/>
        </p:spPr>
      </p:sp>
      <p:pic>
        <p:nvPicPr>
          <p:cNvPr id="22" name="Image 1" descr="preencoded.png">    </p:cNvPr>
          <p:cNvPicPr>
            <a:picLocks noChangeAspect="1"/>
          </p:cNvPicPr>
          <p:nvPr/>
        </p:nvPicPr>
        <p:blipFill>
          <a:blip r:embed="rId2"/>
          <a:stretch>
            <a:fillRect/>
          </a:stretch>
        </p:blipFill>
        <p:spPr>
          <a:xfrm>
            <a:off x="4983480" y="3044952"/>
            <a:ext cx="292608" cy="292608"/>
          </a:xfrm>
          <a:prstGeom prst="rect">
            <a:avLst/>
          </a:prstGeom>
        </p:spPr>
      </p:pic>
      <p:sp>
        <p:nvSpPr>
          <p:cNvPr id="23" name="Text 19"/>
          <p:cNvSpPr txBox="1"/>
          <p:nvPr/>
        </p:nvSpPr>
        <p:spPr>
          <a:xfrm>
            <a:off x="5376672" y="3008376"/>
            <a:ext cx="3200400" cy="365760"/>
          </a:xfrm>
          <a:prstGeom prst="rect">
            <a:avLst/>
          </a:prstGeom>
          <a:noFill/>
          <a:ln/>
        </p:spPr>
        <p:txBody>
          <a:bodyPr wrap="square" lIns="0" tIns="0" rIns="0" bIns="0" rtlCol="0" anchor="ctr"/>
          <a:lstStyle/>
          <a:p>
            <a:pPr indent="0" marL="0">
              <a:buNone/>
            </a:pPr>
            <a:r>
              <a:rPr lang="en-US" sz="1300" b="1" dirty="0">
                <a:solidFill>
                  <a:schemeClr val="accent1"/>
                </a:solidFill>
              </a:rPr>
              <a:t>Translating breaks on</a:t>
            </a:r>
            <a:endParaRPr lang="en-US" sz="1300" dirty="0"/>
          </a:p>
        </p:txBody>
      </p:sp>
      <p:sp>
        <p:nvSpPr>
          <p:cNvPr id="24" name="Text 20"/>
          <p:cNvSpPr txBox="1"/>
          <p:nvPr/>
        </p:nvSpPr>
        <p:spPr>
          <a:xfrm>
            <a:off x="4983480" y="3429000"/>
            <a:ext cx="3733495" cy="804672"/>
          </a:xfrm>
          <a:prstGeom prst="rect">
            <a:avLst/>
          </a:prstGeom>
          <a:noFill/>
          <a:ln/>
        </p:spPr>
        <p:txBody>
          <a:bodyPr wrap="square" lIns="0" tIns="0" rIns="0" bIns="0" rtlCol="0" anchor="t"/>
          <a:lstStyle/>
          <a:p>
            <a:pPr indent="0" marL="0">
              <a:buNone/>
            </a:pPr>
            <a:r>
              <a:rPr lang="en-US" sz="1400" dirty="0">
                <a:solidFill>
                  <a:schemeClr val="tx1"/>
                </a:solidFill>
              </a:rPr>
              <a:t>English → Spanish is now “close to flawless”; the hard part is register, gender and regional vocabulary.</a:t>
            </a:r>
            <a:endParaRPr lang="en-US" sz="1400" dirty="0"/>
          </a:p>
        </p:txBody>
      </p:sp>
      <p:sp>
        <p:nvSpPr>
          <p:cNvPr id="25" name="Shape 21"/>
          <p:cNvSpPr/>
          <p:nvPr/>
        </p:nvSpPr>
        <p:spPr>
          <a:xfrm>
            <a:off x="8899855" y="2962656"/>
            <a:ext cx="2615184" cy="1216152"/>
          </a:xfrm>
          <a:prstGeom prst="roundRect">
            <a:avLst>
              <a:gd name="adj" fmla="val 4511"/>
            </a:avLst>
          </a:prstGeom>
          <a:solidFill>
            <a:schemeClr val="bg1"/>
          </a:solidFill>
          <a:ln/>
        </p:spPr>
      </p:sp>
      <p:sp>
        <p:nvSpPr>
          <p:cNvPr id="26" name="Text 22"/>
          <p:cNvSpPr txBox="1"/>
          <p:nvPr/>
        </p:nvSpPr>
        <p:spPr>
          <a:xfrm>
            <a:off x="9046159" y="2980944"/>
            <a:ext cx="2340864" cy="420624"/>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46% vs 46%</a:t>
            </a:r>
            <a:endParaRPr lang="en-US" sz="2300" dirty="0"/>
          </a:p>
        </p:txBody>
      </p:sp>
      <p:sp>
        <p:nvSpPr>
          <p:cNvPr id="27" name="Text 23"/>
          <p:cNvSpPr txBox="1"/>
          <p:nvPr/>
        </p:nvSpPr>
        <p:spPr>
          <a:xfrm>
            <a:off x="9046159" y="3410712"/>
            <a:ext cx="2340864" cy="548640"/>
          </a:xfrm>
          <a:prstGeom prst="rect">
            <a:avLst/>
          </a:prstGeom>
          <a:noFill/>
          <a:ln/>
        </p:spPr>
        <p:txBody>
          <a:bodyPr wrap="square" lIns="0" tIns="0" rIns="0" bIns="0" rtlCol="0" anchor="t"/>
          <a:lstStyle/>
          <a:p>
            <a:pPr indent="0" marL="0">
              <a:buNone/>
            </a:pPr>
            <a:r>
              <a:rPr lang="en-US" sz="1050" dirty="0">
                <a:solidFill>
                  <a:schemeClr val="tx1"/>
                </a:solidFill>
              </a:rPr>
              <a:t>formal vs informal German from one commercial translator: a coin toss</a:t>
            </a:r>
            <a:endParaRPr lang="en-US" sz="1050" dirty="0"/>
          </a:p>
        </p:txBody>
      </p:sp>
      <p:sp>
        <p:nvSpPr>
          <p:cNvPr id="28" name="Text 24"/>
          <p:cNvSpPr txBox="1"/>
          <p:nvPr/>
        </p:nvSpPr>
        <p:spPr>
          <a:xfrm>
            <a:off x="9046159" y="3941064"/>
            <a:ext cx="2340864" cy="201168"/>
          </a:xfrm>
          <a:prstGeom prst="rect">
            <a:avLst/>
          </a:prstGeom>
          <a:noFill/>
          <a:ln/>
        </p:spPr>
        <p:txBody>
          <a:bodyPr wrap="square" lIns="0" tIns="0" rIns="0" bIns="0" rtlCol="0" anchor="t"/>
          <a:lstStyle/>
          <a:p>
            <a:pPr indent="0" marL="0">
              <a:buNone/>
            </a:pPr>
            <a:r>
              <a:rPr lang="en-US" sz="850" dirty="0">
                <a:solidFill>
                  <a:schemeClr val="accent3"/>
                </a:solidFill>
              </a:rPr>
              <a:t>CoCoA-MT, NAACL Findings 2022</a:t>
            </a:r>
            <a:endParaRPr lang="en-US" sz="850" dirty="0"/>
          </a:p>
        </p:txBody>
      </p:sp>
      <p:sp>
        <p:nvSpPr>
          <p:cNvPr id="29" name="card"/>
          <p:cNvSpPr/>
          <p:nvPr/>
        </p:nvSpPr>
        <p:spPr>
          <a:xfrm>
            <a:off x="4754880" y="4398264"/>
            <a:ext cx="6888175" cy="1591056"/>
          </a:xfrm>
          <a:prstGeom prst="roundRect">
            <a:avLst>
              <a:gd name="adj" fmla="val 4598"/>
            </a:avLst>
          </a:prstGeom>
          <a:solidFill>
            <a:srgbClr val="FBEDEA"/>
          </a:solidFill>
          <a:ln/>
        </p:spPr>
      </p:sp>
      <p:sp>
        <p:nvSpPr>
          <p:cNvPr id="30" name="Text 26"/>
          <p:cNvSpPr txBox="1"/>
          <p:nvPr/>
        </p:nvSpPr>
        <p:spPr>
          <a:xfrm>
            <a:off x="4983480" y="4507992"/>
            <a:ext cx="6430975" cy="292608"/>
          </a:xfrm>
          <a:prstGeom prst="rect">
            <a:avLst/>
          </a:prstGeom>
          <a:noFill/>
          <a:ln/>
        </p:spPr>
        <p:txBody>
          <a:bodyPr wrap="square" lIns="0" tIns="0" rIns="0" bIns="0" rtlCol="0" anchor="t"/>
          <a:lstStyle/>
          <a:p>
            <a:pPr indent="0" marL="0">
              <a:buNone/>
            </a:pPr>
            <a:r>
              <a:rPr lang="en-US" sz="1300" b="1" dirty="0">
                <a:solidFill>
                  <a:schemeClr val="accent1"/>
                </a:solidFill>
              </a:rPr>
              <a:t>In the real world</a:t>
            </a:r>
            <a:endParaRPr lang="en-US" sz="1300" dirty="0"/>
          </a:p>
        </p:txBody>
      </p:sp>
      <p:sp>
        <p:nvSpPr>
          <p:cNvPr id="31" name="Text 27"/>
          <p:cNvSpPr txBox="1"/>
          <p:nvPr/>
        </p:nvSpPr>
        <p:spPr>
          <a:xfrm>
            <a:off x="4983480" y="4809744"/>
            <a:ext cx="6430975" cy="877824"/>
          </a:xfrm>
          <a:prstGeom prst="rect">
            <a:avLst/>
          </a:prstGeom>
          <a:noFill/>
          <a:ln/>
        </p:spPr>
        <p:txBody>
          <a:bodyPr wrap="square" lIns="0" tIns="0" rIns="0" bIns="0" rtlCol="0" anchor="t"/>
          <a:lstStyle/>
          <a:p>
            <a:pPr indent="0" marL="0">
              <a:buNone/>
            </a:pPr>
            <a:r>
              <a:rPr lang="en-US" sz="1450" dirty="0">
                <a:solidFill>
                  <a:schemeClr val="tx1"/>
                </a:solidFill>
              </a:rPr>
              <a:t>Kansas, 2018: a trooper used Google Translate to ask “Can I search your car?”; it came out closer to “Can I find the car?”. The judge ruled there was no real consent and threw out the evidence.</a:t>
            </a:r>
            <a:endParaRPr lang="en-US" sz="1450" dirty="0"/>
          </a:p>
        </p:txBody>
      </p:sp>
      <p:sp>
        <p:nvSpPr>
          <p:cNvPr id="32" name="Text 28"/>
          <p:cNvSpPr txBox="1"/>
          <p:nvPr/>
        </p:nvSpPr>
        <p:spPr>
          <a:xfrm>
            <a:off x="4983480" y="5696712"/>
            <a:ext cx="6430975" cy="219456"/>
          </a:xfrm>
          <a:prstGeom prst="rect">
            <a:avLst/>
          </a:prstGeom>
          <a:noFill/>
          <a:ln/>
        </p:spPr>
        <p:txBody>
          <a:bodyPr wrap="square" lIns="0" tIns="0" rIns="0" bIns="0" rtlCol="0" anchor="t"/>
          <a:lstStyle/>
          <a:p>
            <a:pPr indent="0" marL="0">
              <a:buNone/>
            </a:pPr>
            <a:r>
              <a:rPr lang="en-US" sz="900" dirty="0">
                <a:solidFill>
                  <a:schemeClr val="accent3"/>
                </a:solidFill>
              </a:rPr>
              <a:t>US v. Cruz-Zamora (D. Kan. 2018); TechCrunch, 15 Jun 2018</a:t>
            </a:r>
            <a:endParaRPr lang="en-US" sz="9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Africa: where the data runs out</a:t>
            </a:r>
            <a:endParaRPr lang="en-US" sz="3200" dirty="0"/>
          </a:p>
        </p:txBody>
      </p:sp>
      <p:sp>
        <p:nvSpPr>
          <p:cNvPr id="3" name="card"/>
          <p:cNvSpPr/>
          <p:nvPr/>
        </p:nvSpPr>
        <p:spPr>
          <a:xfrm>
            <a:off x="548640" y="1325880"/>
            <a:ext cx="3931920" cy="4663440"/>
          </a:xfrm>
          <a:prstGeom prst="roundRect">
            <a:avLst>
              <a:gd name="adj" fmla="val 1860"/>
            </a:avLst>
          </a:prstGeom>
          <a:solidFill>
            <a:schemeClr val="tx1"/>
          </a:solidFill>
          <a:ln/>
        </p:spPr>
      </p:sp>
      <p:sp>
        <p:nvSpPr>
          <p:cNvPr id="4" name="Text 2"/>
          <p:cNvSpPr txBox="1"/>
          <p:nvPr/>
        </p:nvSpPr>
        <p:spPr>
          <a:xfrm>
            <a:off x="868680" y="1527048"/>
            <a:ext cx="3291840" cy="731520"/>
          </a:xfrm>
          <a:prstGeom prst="rect">
            <a:avLst/>
          </a:prstGeom>
          <a:noFill/>
          <a:ln/>
        </p:spPr>
        <p:txBody>
          <a:bodyPr wrap="square" lIns="0" tIns="0" rIns="0" bIns="0" rtlCol="0" anchor="ctr"/>
          <a:lstStyle/>
          <a:p>
            <a:pPr indent="0" marL="0">
              <a:buNone/>
            </a:pPr>
            <a:r>
              <a:rPr lang="en-US" sz="1800" b="1" dirty="0">
                <a:solidFill>
                  <a:schemeClr val="bg1"/>
                </a:solidFill>
              </a:rPr>
              <a:t>Kiswahili · Yorùbá · Hausa · </a:t>
            </a:r>
            <a:pPr indent="0" marL="0">
              <a:buNone/>
            </a:pPr>
            <a:r>
              <a:rPr lang="en-US" sz="1800" b="1" dirty="0">
                <a:solidFill>
                  <a:schemeClr val="bg1"/>
                </a:solidFill>
                <a:latin typeface="Kefa" pitchFamily="34" charset="0"/>
                <a:ea typeface="Kefa" pitchFamily="34" charset="-122"/>
                <a:cs typeface="Kefa" pitchFamily="34" charset="-120"/>
              </a:rPr>
              <a:t>አማርኛ · </a:t>
            </a:r>
            <a:pPr indent="0" marL="0">
              <a:buNone/>
            </a:pPr>
            <a:r>
              <a:rPr lang="en-US" sz="1800" b="1" dirty="0">
                <a:solidFill>
                  <a:schemeClr val="bg1"/>
                </a:solidFill>
              </a:rPr>
              <a:t>Soomaali</a:t>
            </a:r>
            <a:endParaRPr lang="en-US" sz="1800" dirty="0"/>
          </a:p>
        </p:txBody>
      </p:sp>
      <p:sp>
        <p:nvSpPr>
          <p:cNvPr id="5" name="Text 3"/>
          <p:cNvSpPr txBox="1"/>
          <p:nvPr/>
        </p:nvSpPr>
        <p:spPr>
          <a:xfrm>
            <a:off x="868680" y="2276856"/>
            <a:ext cx="3291840" cy="292608"/>
          </a:xfrm>
          <a:prstGeom prst="rect">
            <a:avLst/>
          </a:prstGeom>
          <a:noFill/>
          <a:ln/>
        </p:spPr>
        <p:txBody>
          <a:bodyPr wrap="square" lIns="0" tIns="0" rIns="0" bIns="0" rtlCol="0" anchor="t"/>
          <a:lstStyle/>
          <a:p>
            <a:pPr indent="0" marL="0">
              <a:buNone/>
            </a:pPr>
            <a:r>
              <a:rPr lang="en-US" sz="1300" b="1" dirty="0">
                <a:solidFill>
                  <a:srgbClr val="AEB6C6"/>
                </a:solidFill>
              </a:rPr>
              <a:t>Swahili · Yoruba · Hausa · Amharic · Somali</a:t>
            </a:r>
            <a:endParaRPr lang="en-US" sz="1300" dirty="0"/>
          </a:p>
        </p:txBody>
      </p:sp>
      <p:sp>
        <p:nvSpPr>
          <p:cNvPr id="6" name="Shape 4"/>
          <p:cNvSpPr/>
          <p:nvPr/>
        </p:nvSpPr>
        <p:spPr>
          <a:xfrm>
            <a:off x="868680" y="2679192"/>
            <a:ext cx="3291840" cy="0"/>
          </a:xfrm>
          <a:prstGeom prst="line">
            <a:avLst/>
          </a:prstGeom>
          <a:noFill/>
          <a:ln w="12700">
            <a:solidFill>
              <a:srgbClr val="46506A"/>
            </a:solidFill>
            <a:prstDash val="solid"/>
          </a:ln>
        </p:spPr>
      </p:sp>
      <p:sp>
        <p:nvSpPr>
          <p:cNvPr id="7" name="Text 5"/>
          <p:cNvSpPr txBox="1"/>
          <p:nvPr/>
        </p:nvSpPr>
        <p:spPr>
          <a:xfrm>
            <a:off x="868680" y="2788920"/>
            <a:ext cx="3291840" cy="548640"/>
          </a:xfrm>
          <a:prstGeom prst="rect">
            <a:avLst/>
          </a:prstGeom>
          <a:noFill/>
          <a:ln/>
        </p:spPr>
        <p:txBody>
          <a:bodyPr wrap="square" lIns="0" tIns="0" rIns="0" bIns="0" rtlCol="0" anchor="b"/>
          <a:lstStyle/>
          <a:p>
            <a:pPr indent="0" marL="0">
              <a:buNone/>
            </a:pPr>
            <a:r>
              <a:rPr lang="en-US" sz="3400" b="1" dirty="0">
                <a:solidFill>
                  <a:schemeClr val="bg1"/>
                </a:solidFill>
              </a:rPr>
              <a:t>ede</a:t>
            </a:r>
            <a:endParaRPr lang="en-US" sz="3400" dirty="0"/>
          </a:p>
        </p:txBody>
      </p:sp>
      <p:sp>
        <p:nvSpPr>
          <p:cNvPr id="8" name="Text 6"/>
          <p:cNvSpPr txBox="1"/>
          <p:nvPr/>
        </p:nvSpPr>
        <p:spPr>
          <a:xfrm>
            <a:off x="868680" y="3374136"/>
            <a:ext cx="3291840" cy="909828"/>
          </a:xfrm>
          <a:prstGeom prst="rect">
            <a:avLst/>
          </a:prstGeom>
          <a:noFill/>
          <a:ln/>
        </p:spPr>
        <p:txBody>
          <a:bodyPr wrap="square" lIns="0" tIns="0" rIns="0" bIns="0" rtlCol="0" anchor="t"/>
          <a:lstStyle/>
          <a:p>
            <a:pPr indent="0" marL="0">
              <a:buNone/>
            </a:pPr>
            <a:r>
              <a:rPr lang="en-US" sz="1200" dirty="0">
                <a:solidFill>
                  <a:srgbClr val="AEB6C6"/>
                </a:solidFill>
              </a:rPr>
              <a:t>Yoruba without its marks: èdè language · edé crayfish · ẹdẹ a town · ẹ̀dẹ trap · ẹ̀dẹ̀ balcony</a:t>
            </a:r>
            <a:endParaRPr lang="en-US" sz="1200" dirty="0"/>
          </a:p>
        </p:txBody>
      </p:sp>
      <p:sp>
        <p:nvSpPr>
          <p:cNvPr id="9" name="Text 7"/>
          <p:cNvSpPr txBox="1"/>
          <p:nvPr/>
        </p:nvSpPr>
        <p:spPr>
          <a:xfrm>
            <a:off x="868680" y="4320540"/>
            <a:ext cx="3291840" cy="658368"/>
          </a:xfrm>
          <a:prstGeom prst="rect">
            <a:avLst/>
          </a:prstGeom>
          <a:noFill/>
          <a:ln/>
        </p:spPr>
        <p:txBody>
          <a:bodyPr wrap="square" lIns="0" tIns="0" rIns="0" bIns="0" rtlCol="0" anchor="b"/>
          <a:lstStyle/>
          <a:p>
            <a:pPr indent="0" marL="0">
              <a:buNone/>
            </a:pPr>
            <a:r>
              <a:rPr lang="en-US" sz="2800" b="1" dirty="0">
                <a:solidFill>
                  <a:schemeClr val="bg1"/>
                </a:solidFill>
                <a:latin typeface="Kefa" pitchFamily="34" charset="0"/>
                <a:ea typeface="Kefa" pitchFamily="34" charset="-122"/>
                <a:cs typeface="Kefa" pitchFamily="34" charset="-120"/>
              </a:rPr>
              <a:t>ለ ሉ ሊ ላ ሌ ል ሎ</a:t>
            </a:r>
            <a:endParaRPr lang="en-US" sz="2800" dirty="0"/>
          </a:p>
        </p:txBody>
      </p:sp>
      <p:sp>
        <p:nvSpPr>
          <p:cNvPr id="10" name="Text 8"/>
          <p:cNvSpPr txBox="1"/>
          <p:nvPr/>
        </p:nvSpPr>
        <p:spPr>
          <a:xfrm>
            <a:off x="868680" y="5015484"/>
            <a:ext cx="3291840" cy="800100"/>
          </a:xfrm>
          <a:prstGeom prst="rect">
            <a:avLst/>
          </a:prstGeom>
          <a:noFill/>
          <a:ln/>
        </p:spPr>
        <p:txBody>
          <a:bodyPr wrap="square" lIns="0" tIns="0" rIns="0" bIns="0" rtlCol="0" anchor="t"/>
          <a:lstStyle/>
          <a:p>
            <a:pPr indent="0" marL="0">
              <a:buNone/>
            </a:pPr>
            <a:r>
              <a:rPr lang="en-US" sz="1200" dirty="0">
                <a:solidFill>
                  <a:srgbClr val="AEB6C6"/>
                </a:solidFill>
              </a:rPr>
              <a:t>one Amharic consonant, seven vowel forms: 280+ syllable signs</a:t>
            </a:r>
            <a:endParaRPr lang="en-US" sz="1200" dirty="0"/>
          </a:p>
        </p:txBody>
      </p:sp>
      <p:sp>
        <p:nvSpPr>
          <p:cNvPr id="11" name="card"/>
          <p:cNvSpPr/>
          <p:nvPr/>
        </p:nvSpPr>
        <p:spPr>
          <a:xfrm>
            <a:off x="4754880" y="1325880"/>
            <a:ext cx="6888175" cy="1417320"/>
          </a:xfrm>
          <a:prstGeom prst="roundRect">
            <a:avLst>
              <a:gd name="adj" fmla="val 5161"/>
            </a:avLst>
          </a:prstGeom>
          <a:solidFill>
            <a:schemeClr val="bg2"/>
          </a:solidFill>
          <a:ln/>
        </p:spPr>
      </p:sp>
      <p:pic>
        <p:nvPicPr>
          <p:cNvPr id="12" name="Image 0" descr="preencoded.png">    </p:cNvPr>
          <p:cNvPicPr>
            <a:picLocks noChangeAspect="1"/>
          </p:cNvPicPr>
          <p:nvPr/>
        </p:nvPicPr>
        <p:blipFill>
          <a:blip r:embed="rId1"/>
          <a:stretch>
            <a:fillRect/>
          </a:stretch>
        </p:blipFill>
        <p:spPr>
          <a:xfrm>
            <a:off x="4983480" y="1508760"/>
            <a:ext cx="292608" cy="292608"/>
          </a:xfrm>
          <a:prstGeom prst="rect">
            <a:avLst/>
          </a:prstGeom>
        </p:spPr>
      </p:pic>
      <p:sp>
        <p:nvSpPr>
          <p:cNvPr id="13" name="Text 10"/>
          <p:cNvSpPr txBox="1"/>
          <p:nvPr/>
        </p:nvSpPr>
        <p:spPr>
          <a:xfrm>
            <a:off x="5376672" y="1472184"/>
            <a:ext cx="3200400" cy="365760"/>
          </a:xfrm>
          <a:prstGeom prst="rect">
            <a:avLst/>
          </a:prstGeom>
          <a:noFill/>
          <a:ln/>
        </p:spPr>
        <p:txBody>
          <a:bodyPr wrap="square" lIns="0" tIns="0" rIns="0" bIns="0" rtlCol="0" anchor="ctr"/>
          <a:lstStyle/>
          <a:p>
            <a:pPr indent="0" marL="0">
              <a:buNone/>
            </a:pPr>
            <a:r>
              <a:rPr lang="en-US" sz="1300" b="1" dirty="0">
                <a:solidFill>
                  <a:schemeClr val="accent2"/>
                </a:solidFill>
              </a:rPr>
              <a:t>Reading breaks on</a:t>
            </a:r>
            <a:endParaRPr lang="en-US" sz="1300" dirty="0"/>
          </a:p>
        </p:txBody>
      </p:sp>
      <p:sp>
        <p:nvSpPr>
          <p:cNvPr id="14" name="Text 11"/>
          <p:cNvSpPr txBox="1"/>
          <p:nvPr/>
        </p:nvSpPr>
        <p:spPr>
          <a:xfrm>
            <a:off x="4983480" y="1892808"/>
            <a:ext cx="3733495" cy="804672"/>
          </a:xfrm>
          <a:prstGeom prst="rect">
            <a:avLst/>
          </a:prstGeom>
          <a:noFill/>
          <a:ln/>
        </p:spPr>
        <p:txBody>
          <a:bodyPr wrap="square" lIns="0" tIns="0" rIns="0" bIns="0" rtlCol="0" anchor="t"/>
          <a:lstStyle/>
          <a:p>
            <a:pPr indent="0" marL="0">
              <a:buNone/>
            </a:pPr>
            <a:r>
              <a:rPr lang="en-US" sz="1400" dirty="0">
                <a:solidFill>
                  <a:schemeClr val="tx1"/>
                </a:solidFill>
              </a:rPr>
              <a:t>Tone marks and under-dots in Yoruba; the Ge'ez script of Amharic has 280+ syllable signs; very little training data.</a:t>
            </a:r>
            <a:endParaRPr lang="en-US" sz="1400" dirty="0"/>
          </a:p>
        </p:txBody>
      </p:sp>
      <p:sp>
        <p:nvSpPr>
          <p:cNvPr id="15" name="Shape 12"/>
          <p:cNvSpPr/>
          <p:nvPr/>
        </p:nvSpPr>
        <p:spPr>
          <a:xfrm>
            <a:off x="8899855" y="1426464"/>
            <a:ext cx="2615184" cy="1216152"/>
          </a:xfrm>
          <a:prstGeom prst="roundRect">
            <a:avLst>
              <a:gd name="adj" fmla="val 4511"/>
            </a:avLst>
          </a:prstGeom>
          <a:solidFill>
            <a:schemeClr val="bg1"/>
          </a:solidFill>
          <a:ln/>
        </p:spPr>
      </p:sp>
      <p:sp>
        <p:nvSpPr>
          <p:cNvPr id="16" name="Text 13"/>
          <p:cNvSpPr txBox="1"/>
          <p:nvPr/>
        </p:nvSpPr>
        <p:spPr>
          <a:xfrm>
            <a:off x="9046159" y="1444752"/>
            <a:ext cx="2340864" cy="420624"/>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0% vs 65%</a:t>
            </a:r>
            <a:endParaRPr lang="en-US" sz="2300" dirty="0"/>
          </a:p>
        </p:txBody>
      </p:sp>
      <p:sp>
        <p:nvSpPr>
          <p:cNvPr id="17" name="Text 14"/>
          <p:cNvSpPr txBox="1"/>
          <p:nvPr/>
        </p:nvSpPr>
        <p:spPr>
          <a:xfrm>
            <a:off x="9046159" y="1874520"/>
            <a:ext cx="2340864" cy="548640"/>
          </a:xfrm>
          <a:prstGeom prst="rect">
            <a:avLst/>
          </a:prstGeom>
          <a:noFill/>
          <a:ln/>
        </p:spPr>
        <p:txBody>
          <a:bodyPr wrap="square" lIns="0" tIns="0" rIns="0" bIns="0" rtlCol="0" anchor="t"/>
          <a:lstStyle/>
          <a:p>
            <a:pPr indent="0" marL="0">
              <a:buNone/>
            </a:pPr>
            <a:r>
              <a:rPr lang="en-US" sz="1050" dirty="0">
                <a:solidFill>
                  <a:schemeClr val="tx1"/>
                </a:solidFill>
              </a:rPr>
              <a:t>Amharic sentences read almost perfectly: GPT-4.1 vs dots.ocr (Gemini 19%)</a:t>
            </a:r>
            <a:endParaRPr lang="en-US" sz="1050" dirty="0"/>
          </a:p>
        </p:txBody>
      </p:sp>
      <p:sp>
        <p:nvSpPr>
          <p:cNvPr id="18" name="Text 15"/>
          <p:cNvSpPr txBox="1"/>
          <p:nvPr/>
        </p:nvSpPr>
        <p:spPr>
          <a:xfrm>
            <a:off x="9046159" y="2404872"/>
            <a:ext cx="2340864" cy="201168"/>
          </a:xfrm>
          <a:prstGeom prst="rect">
            <a:avLst/>
          </a:prstGeom>
          <a:noFill/>
          <a:ln/>
        </p:spPr>
        <p:txBody>
          <a:bodyPr wrap="square" lIns="0" tIns="0" rIns="0" bIns="0" rtlCol="0" anchor="t"/>
          <a:lstStyle/>
          <a:p>
            <a:pPr indent="0" marL="0">
              <a:buNone/>
            </a:pPr>
            <a:r>
              <a:rPr lang="en-US" sz="850" dirty="0">
                <a:solidFill>
                  <a:schemeClr val="accent3"/>
                </a:solidFill>
              </a:rPr>
              <a:t>GlotOCR Bench, 2026</a:t>
            </a:r>
            <a:endParaRPr lang="en-US" sz="850" dirty="0"/>
          </a:p>
        </p:txBody>
      </p:sp>
      <p:sp>
        <p:nvSpPr>
          <p:cNvPr id="19" name="card"/>
          <p:cNvSpPr/>
          <p:nvPr/>
        </p:nvSpPr>
        <p:spPr>
          <a:xfrm>
            <a:off x="4754880" y="2862072"/>
            <a:ext cx="6888175" cy="1417320"/>
          </a:xfrm>
          <a:prstGeom prst="roundRect">
            <a:avLst>
              <a:gd name="adj" fmla="val 5161"/>
            </a:avLst>
          </a:prstGeom>
          <a:solidFill>
            <a:schemeClr val="bg2"/>
          </a:solidFill>
          <a:ln/>
        </p:spPr>
      </p:sp>
      <p:pic>
        <p:nvPicPr>
          <p:cNvPr id="20" name="Image 1" descr="preencoded.png">    </p:cNvPr>
          <p:cNvPicPr>
            <a:picLocks noChangeAspect="1"/>
          </p:cNvPicPr>
          <p:nvPr/>
        </p:nvPicPr>
        <p:blipFill>
          <a:blip r:embed="rId2"/>
          <a:stretch>
            <a:fillRect/>
          </a:stretch>
        </p:blipFill>
        <p:spPr>
          <a:xfrm>
            <a:off x="4983480" y="3044952"/>
            <a:ext cx="292608" cy="292608"/>
          </a:xfrm>
          <a:prstGeom prst="rect">
            <a:avLst/>
          </a:prstGeom>
        </p:spPr>
      </p:pic>
      <p:sp>
        <p:nvSpPr>
          <p:cNvPr id="21" name="Text 17"/>
          <p:cNvSpPr txBox="1"/>
          <p:nvPr/>
        </p:nvSpPr>
        <p:spPr>
          <a:xfrm>
            <a:off x="5376672" y="3008376"/>
            <a:ext cx="3200400" cy="365760"/>
          </a:xfrm>
          <a:prstGeom prst="rect">
            <a:avLst/>
          </a:prstGeom>
          <a:noFill/>
          <a:ln/>
        </p:spPr>
        <p:txBody>
          <a:bodyPr wrap="square" lIns="0" tIns="0" rIns="0" bIns="0" rtlCol="0" anchor="ctr"/>
          <a:lstStyle/>
          <a:p>
            <a:pPr indent="0" marL="0">
              <a:buNone/>
            </a:pPr>
            <a:r>
              <a:rPr lang="en-US" sz="1300" b="1" dirty="0">
                <a:solidFill>
                  <a:schemeClr val="accent1"/>
                </a:solidFill>
              </a:rPr>
              <a:t>Translating breaks on</a:t>
            </a:r>
            <a:endParaRPr lang="en-US" sz="1300" dirty="0"/>
          </a:p>
        </p:txBody>
      </p:sp>
      <p:sp>
        <p:nvSpPr>
          <p:cNvPr id="22" name="Text 18"/>
          <p:cNvSpPr txBox="1"/>
          <p:nvPr/>
        </p:nvSpPr>
        <p:spPr>
          <a:xfrm>
            <a:off x="4983480" y="3429000"/>
            <a:ext cx="3733495" cy="804672"/>
          </a:xfrm>
          <a:prstGeom prst="rect">
            <a:avLst/>
          </a:prstGeom>
          <a:noFill/>
          <a:ln/>
        </p:spPr>
        <p:txBody>
          <a:bodyPr wrap="square" lIns="0" tIns="0" rIns="0" bIns="0" rtlCol="0" anchor="t"/>
          <a:lstStyle/>
          <a:p>
            <a:pPr indent="0" marL="0">
              <a:buNone/>
            </a:pPr>
            <a:r>
              <a:rPr lang="en-US" sz="1400" dirty="0">
                <a:solidFill>
                  <a:schemeClr val="tx1"/>
                </a:solidFill>
              </a:rPr>
              <a:t>Little text online; tone marks often dropped; systems drift into a bigger neighbouring language.</a:t>
            </a:r>
            <a:endParaRPr lang="en-US" sz="1400" dirty="0"/>
          </a:p>
        </p:txBody>
      </p:sp>
      <p:sp>
        <p:nvSpPr>
          <p:cNvPr id="23" name="Shape 19"/>
          <p:cNvSpPr/>
          <p:nvPr/>
        </p:nvSpPr>
        <p:spPr>
          <a:xfrm>
            <a:off x="8899855" y="2962656"/>
            <a:ext cx="2615184" cy="1216152"/>
          </a:xfrm>
          <a:prstGeom prst="roundRect">
            <a:avLst>
              <a:gd name="adj" fmla="val 4511"/>
            </a:avLst>
          </a:prstGeom>
          <a:solidFill>
            <a:schemeClr val="bg1"/>
          </a:solidFill>
          <a:ln/>
        </p:spPr>
      </p:sp>
      <p:sp>
        <p:nvSpPr>
          <p:cNvPr id="24" name="Text 20"/>
          <p:cNvSpPr txBox="1"/>
          <p:nvPr/>
        </p:nvSpPr>
        <p:spPr>
          <a:xfrm>
            <a:off x="9046159" y="2980944"/>
            <a:ext cx="2340864" cy="420624"/>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71 vs 11</a:t>
            </a:r>
            <a:endParaRPr lang="en-US" sz="2300" dirty="0"/>
          </a:p>
        </p:txBody>
      </p:sp>
      <p:sp>
        <p:nvSpPr>
          <p:cNvPr id="25" name="Text 21"/>
          <p:cNvSpPr txBox="1"/>
          <p:nvPr/>
        </p:nvSpPr>
        <p:spPr>
          <a:xfrm>
            <a:off x="9046159" y="3410712"/>
            <a:ext cx="2340864" cy="548640"/>
          </a:xfrm>
          <a:prstGeom prst="rect">
            <a:avLst/>
          </a:prstGeom>
          <a:noFill/>
          <a:ln/>
        </p:spPr>
        <p:txBody>
          <a:bodyPr wrap="square" lIns="0" tIns="0" rIns="0" bIns="0" rtlCol="0" anchor="t"/>
          <a:lstStyle/>
          <a:p>
            <a:pPr indent="0" marL="0">
              <a:buNone/>
            </a:pPr>
            <a:r>
              <a:rPr lang="en-US" sz="1050" dirty="0">
                <a:solidFill>
                  <a:schemeClr val="tx1"/>
                </a:solidFill>
              </a:rPr>
              <a:t>ChatGPT translating the same sentences into French vs into Yoruba (chrF, 0–100)</a:t>
            </a:r>
            <a:endParaRPr lang="en-US" sz="1050" dirty="0"/>
          </a:p>
        </p:txBody>
      </p:sp>
      <p:sp>
        <p:nvSpPr>
          <p:cNvPr id="26" name="Text 22"/>
          <p:cNvSpPr txBox="1"/>
          <p:nvPr/>
        </p:nvSpPr>
        <p:spPr>
          <a:xfrm>
            <a:off x="9046159" y="3941064"/>
            <a:ext cx="2340864" cy="201168"/>
          </a:xfrm>
          <a:prstGeom prst="rect">
            <a:avLst/>
          </a:prstGeom>
          <a:noFill/>
          <a:ln/>
        </p:spPr>
        <p:txBody>
          <a:bodyPr wrap="square" lIns="0" tIns="0" rIns="0" bIns="0" rtlCol="0" anchor="t"/>
          <a:lstStyle/>
          <a:p>
            <a:pPr indent="0" marL="0">
              <a:buNone/>
            </a:pPr>
            <a:r>
              <a:rPr lang="en-US" sz="850" dirty="0">
                <a:solidFill>
                  <a:schemeClr val="accent3"/>
                </a:solidFill>
              </a:rPr>
              <a:t>Robinson et al., WMT 2023</a:t>
            </a:r>
            <a:endParaRPr lang="en-US" sz="850" dirty="0"/>
          </a:p>
        </p:txBody>
      </p:sp>
      <p:sp>
        <p:nvSpPr>
          <p:cNvPr id="27" name="card"/>
          <p:cNvSpPr/>
          <p:nvPr/>
        </p:nvSpPr>
        <p:spPr>
          <a:xfrm>
            <a:off x="4754880" y="4398264"/>
            <a:ext cx="6888175" cy="1591056"/>
          </a:xfrm>
          <a:prstGeom prst="roundRect">
            <a:avLst>
              <a:gd name="adj" fmla="val 4598"/>
            </a:avLst>
          </a:prstGeom>
          <a:solidFill>
            <a:srgbClr val="FBEDEA"/>
          </a:solidFill>
          <a:ln/>
        </p:spPr>
      </p:sp>
      <p:sp>
        <p:nvSpPr>
          <p:cNvPr id="28" name="Text 24"/>
          <p:cNvSpPr txBox="1"/>
          <p:nvPr/>
        </p:nvSpPr>
        <p:spPr>
          <a:xfrm>
            <a:off x="4983480" y="4507992"/>
            <a:ext cx="6430975" cy="292608"/>
          </a:xfrm>
          <a:prstGeom prst="rect">
            <a:avLst/>
          </a:prstGeom>
          <a:noFill/>
          <a:ln/>
        </p:spPr>
        <p:txBody>
          <a:bodyPr wrap="square" lIns="0" tIns="0" rIns="0" bIns="0" rtlCol="0" anchor="t"/>
          <a:lstStyle/>
          <a:p>
            <a:pPr indent="0" marL="0">
              <a:buNone/>
            </a:pPr>
            <a:r>
              <a:rPr lang="en-US" sz="1300" b="1" dirty="0">
                <a:solidFill>
                  <a:schemeClr val="accent1"/>
                </a:solidFill>
              </a:rPr>
              <a:t>In the real world</a:t>
            </a:r>
            <a:endParaRPr lang="en-US" sz="1300" dirty="0"/>
          </a:p>
        </p:txBody>
      </p:sp>
      <p:sp>
        <p:nvSpPr>
          <p:cNvPr id="29" name="Text 25"/>
          <p:cNvSpPr txBox="1"/>
          <p:nvPr/>
        </p:nvSpPr>
        <p:spPr>
          <a:xfrm>
            <a:off x="4983480" y="4809744"/>
            <a:ext cx="6430975" cy="877824"/>
          </a:xfrm>
          <a:prstGeom prst="rect">
            <a:avLst/>
          </a:prstGeom>
          <a:noFill/>
          <a:ln/>
        </p:spPr>
        <p:txBody>
          <a:bodyPr wrap="square" lIns="0" tIns="0" rIns="0" bIns="0" rtlCol="0" anchor="t"/>
          <a:lstStyle/>
          <a:p>
            <a:pPr indent="0" marL="0">
              <a:buNone/>
            </a:pPr>
            <a:r>
              <a:rPr lang="en-US" sz="1450" dirty="0">
                <a:solidFill>
                  <a:schemeClr val="tx1"/>
                </a:solidFill>
              </a:rPr>
              <a:t>2014: “Your child is fitting” (having a seizure) came out in Swahili as “Your child is dead”. 2025: a hospital's AI translator had a risky error in 92% of Somali discharge-note sections; professionals 13%.</a:t>
            </a:r>
            <a:endParaRPr lang="en-US" sz="1450" dirty="0"/>
          </a:p>
        </p:txBody>
      </p:sp>
      <p:sp>
        <p:nvSpPr>
          <p:cNvPr id="30" name="Text 26"/>
          <p:cNvSpPr txBox="1"/>
          <p:nvPr/>
        </p:nvSpPr>
        <p:spPr>
          <a:xfrm>
            <a:off x="4983480" y="5696712"/>
            <a:ext cx="6430975" cy="219456"/>
          </a:xfrm>
          <a:prstGeom prst="rect">
            <a:avLst/>
          </a:prstGeom>
          <a:noFill/>
          <a:ln/>
        </p:spPr>
        <p:txBody>
          <a:bodyPr wrap="square" lIns="0" tIns="0" rIns="0" bIns="0" rtlCol="0" anchor="t"/>
          <a:lstStyle/>
          <a:p>
            <a:pPr indent="0" marL="0">
              <a:buNone/>
            </a:pPr>
            <a:r>
              <a:rPr lang="en-US" sz="900" dirty="0">
                <a:solidFill>
                  <a:schemeClr val="accent3"/>
                </a:solidFill>
              </a:rPr>
              <a:t>Patil &amp; Davies, BMJ 2014; Martos et al., JAMA Network Open 2025</a:t>
            </a:r>
            <a:endParaRPr lang="en-US" sz="9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The pattern: data, scripts and meaning</a:t>
            </a:r>
            <a:endParaRPr lang="en-US" sz="3200" dirty="0"/>
          </a:p>
        </p:txBody>
      </p:sp>
      <p:sp>
        <p:nvSpPr>
          <p:cNvPr id="3" name="card"/>
          <p:cNvSpPr/>
          <p:nvPr/>
        </p:nvSpPr>
        <p:spPr>
          <a:xfrm>
            <a:off x="548640" y="1463040"/>
            <a:ext cx="3484778" cy="3291840"/>
          </a:xfrm>
          <a:prstGeom prst="roundRect">
            <a:avLst>
              <a:gd name="adj" fmla="val 2222"/>
            </a:avLst>
          </a:prstGeom>
          <a:solidFill>
            <a:schemeClr val="bg2"/>
          </a:solidFill>
          <a:ln/>
        </p:spPr>
      </p:sp>
      <p:sp>
        <p:nvSpPr>
          <p:cNvPr id="4" name="seal"/>
          <p:cNvSpPr/>
          <p:nvPr/>
        </p:nvSpPr>
        <p:spPr>
          <a:xfrm>
            <a:off x="914400" y="1783080"/>
            <a:ext cx="640080" cy="640080"/>
          </a:xfrm>
          <a:prstGeom prst="roundRect">
            <a:avLst>
              <a:gd name="adj" fmla="val 18000"/>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055218" y="1923898"/>
            <a:ext cx="358445" cy="358445"/>
          </a:xfrm>
          <a:prstGeom prst="rect">
            <a:avLst/>
          </a:prstGeom>
        </p:spPr>
      </p:pic>
      <p:sp>
        <p:nvSpPr>
          <p:cNvPr id="6" name="Text 3"/>
          <p:cNvSpPr txBox="1"/>
          <p:nvPr/>
        </p:nvSpPr>
        <p:spPr>
          <a:xfrm>
            <a:off x="914400" y="2606040"/>
            <a:ext cx="2753258" cy="77724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Less data, more errors</a:t>
            </a:r>
            <a:endParaRPr lang="en-US" sz="2000" dirty="0"/>
          </a:p>
        </p:txBody>
      </p:sp>
      <p:sp>
        <p:nvSpPr>
          <p:cNvPr id="7" name="Text 4"/>
          <p:cNvSpPr txBox="1"/>
          <p:nvPr/>
        </p:nvSpPr>
        <p:spPr>
          <a:xfrm>
            <a:off x="914400" y="3383280"/>
            <a:ext cx="2753258" cy="1280160"/>
          </a:xfrm>
          <a:prstGeom prst="rect">
            <a:avLst/>
          </a:prstGeom>
          <a:noFill/>
          <a:ln/>
        </p:spPr>
        <p:txBody>
          <a:bodyPr wrap="square" lIns="0" tIns="0" rIns="0" bIns="0" rtlCol="0" anchor="t"/>
          <a:lstStyle/>
          <a:p>
            <a:pPr indent="0" marL="0">
              <a:buNone/>
            </a:pPr>
            <a:r>
              <a:rPr lang="en-US" sz="1500" dirty="0">
                <a:solidFill>
                  <a:schemeClr val="tx1"/>
                </a:solidFill>
              </a:rPr>
              <a:t>Yoruba has one web page for every 25,000 in English. Risky errors: Spanish 7%, Somali 92%.</a:t>
            </a:r>
            <a:endParaRPr lang="en-US" sz="1500" dirty="0"/>
          </a:p>
        </p:txBody>
      </p:sp>
      <p:sp>
        <p:nvSpPr>
          <p:cNvPr id="8" name="card"/>
          <p:cNvSpPr/>
          <p:nvPr/>
        </p:nvSpPr>
        <p:spPr>
          <a:xfrm>
            <a:off x="4353458" y="1463040"/>
            <a:ext cx="3484778" cy="3291840"/>
          </a:xfrm>
          <a:prstGeom prst="roundRect">
            <a:avLst>
              <a:gd name="adj" fmla="val 2222"/>
            </a:avLst>
          </a:prstGeom>
          <a:solidFill>
            <a:schemeClr val="bg2"/>
          </a:solidFill>
          <a:ln/>
        </p:spPr>
      </p:sp>
      <p:sp>
        <p:nvSpPr>
          <p:cNvPr id="9" name="seal"/>
          <p:cNvSpPr/>
          <p:nvPr/>
        </p:nvSpPr>
        <p:spPr>
          <a:xfrm>
            <a:off x="4719218" y="1783080"/>
            <a:ext cx="640080" cy="640080"/>
          </a:xfrm>
          <a:prstGeom prst="roundRect">
            <a:avLst>
              <a:gd name="adj" fmla="val 18000"/>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4860036" y="1923898"/>
            <a:ext cx="358445" cy="358445"/>
          </a:xfrm>
          <a:prstGeom prst="rect">
            <a:avLst/>
          </a:prstGeom>
        </p:spPr>
      </p:pic>
      <p:sp>
        <p:nvSpPr>
          <p:cNvPr id="11" name="Text 7"/>
          <p:cNvSpPr txBox="1"/>
          <p:nvPr/>
        </p:nvSpPr>
        <p:spPr>
          <a:xfrm>
            <a:off x="4719218" y="2606040"/>
            <a:ext cx="2753258" cy="77724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Unusual writing breaks reading</a:t>
            </a:r>
            <a:endParaRPr lang="en-US" sz="2000" dirty="0"/>
          </a:p>
        </p:txBody>
      </p:sp>
      <p:sp>
        <p:nvSpPr>
          <p:cNvPr id="12" name="Text 8"/>
          <p:cNvSpPr txBox="1"/>
          <p:nvPr/>
        </p:nvSpPr>
        <p:spPr>
          <a:xfrm>
            <a:off x="4719218" y="3383280"/>
            <a:ext cx="2753258" cy="1280160"/>
          </a:xfrm>
          <a:prstGeom prst="rect">
            <a:avLst/>
          </a:prstGeom>
          <a:noFill/>
          <a:ln/>
        </p:spPr>
        <p:txBody>
          <a:bodyPr wrap="square" lIns="0" tIns="0" rIns="0" bIns="0" rtlCol="0" anchor="t"/>
          <a:lstStyle/>
          <a:p>
            <a:pPr indent="0" marL="0">
              <a:buNone/>
            </a:pPr>
            <a:r>
              <a:rPr lang="en-US" sz="1500" dirty="0">
                <a:solidFill>
                  <a:schemeClr val="tx1"/>
                </a:solidFill>
              </a:rPr>
              <a:t>Vertical text, no spaces, dots and stacked marks, rare scripts: 95% read well in Latin script, under 8% across 148 others.</a:t>
            </a:r>
            <a:endParaRPr lang="en-US" sz="1500" dirty="0"/>
          </a:p>
        </p:txBody>
      </p:sp>
      <p:sp>
        <p:nvSpPr>
          <p:cNvPr id="13" name="card"/>
          <p:cNvSpPr/>
          <p:nvPr/>
        </p:nvSpPr>
        <p:spPr>
          <a:xfrm>
            <a:off x="8158277" y="1463040"/>
            <a:ext cx="3484778" cy="3291840"/>
          </a:xfrm>
          <a:prstGeom prst="roundRect">
            <a:avLst>
              <a:gd name="adj" fmla="val 2222"/>
            </a:avLst>
          </a:prstGeom>
          <a:solidFill>
            <a:schemeClr val="bg2"/>
          </a:solidFill>
          <a:ln/>
        </p:spPr>
      </p:sp>
      <p:sp>
        <p:nvSpPr>
          <p:cNvPr id="14" name="seal"/>
          <p:cNvSpPr/>
          <p:nvPr/>
        </p:nvSpPr>
        <p:spPr>
          <a:xfrm>
            <a:off x="8524037" y="1783080"/>
            <a:ext cx="640080" cy="640080"/>
          </a:xfrm>
          <a:prstGeom prst="roundRect">
            <a:avLst>
              <a:gd name="adj" fmla="val 18000"/>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8664854" y="1923898"/>
            <a:ext cx="358445" cy="358445"/>
          </a:xfrm>
          <a:prstGeom prst="rect">
            <a:avLst/>
          </a:prstGeom>
        </p:spPr>
      </p:pic>
      <p:sp>
        <p:nvSpPr>
          <p:cNvPr id="16" name="Text 11"/>
          <p:cNvSpPr txBox="1"/>
          <p:nvPr/>
        </p:nvSpPr>
        <p:spPr>
          <a:xfrm>
            <a:off x="8524037" y="2606040"/>
            <a:ext cx="2753258" cy="77724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Meaning breaks translation everywhere</a:t>
            </a:r>
            <a:endParaRPr lang="en-US" sz="2000" dirty="0"/>
          </a:p>
        </p:txBody>
      </p:sp>
      <p:sp>
        <p:nvSpPr>
          <p:cNvPr id="17" name="Text 12"/>
          <p:cNvSpPr txBox="1"/>
          <p:nvPr/>
        </p:nvSpPr>
        <p:spPr>
          <a:xfrm>
            <a:off x="8524037" y="3383280"/>
            <a:ext cx="2753258" cy="1280160"/>
          </a:xfrm>
          <a:prstGeom prst="rect">
            <a:avLst/>
          </a:prstGeom>
          <a:noFill/>
          <a:ln/>
        </p:spPr>
        <p:txBody>
          <a:bodyPr wrap="square" lIns="0" tIns="0" rIns="0" bIns="0" rtlCol="0" anchor="t"/>
          <a:lstStyle/>
          <a:p>
            <a:pPr indent="0" marL="0">
              <a:buNone/>
            </a:pPr>
            <a:r>
              <a:rPr lang="en-US" sz="1500" dirty="0">
                <a:solidFill>
                  <a:schemeClr val="tx1"/>
                </a:solidFill>
              </a:rPr>
              <a:t>Gender, politeness, dialects and terms: hard in every language, even when the reading is perfect.</a:t>
            </a:r>
            <a:endParaRPr lang="en-US" sz="1500" dirty="0"/>
          </a:p>
        </p:txBody>
      </p:sp>
      <p:sp>
        <p:nvSpPr>
          <p:cNvPr id="18" name="card"/>
          <p:cNvSpPr/>
          <p:nvPr/>
        </p:nvSpPr>
        <p:spPr>
          <a:xfrm>
            <a:off x="548640" y="4983480"/>
            <a:ext cx="11094415" cy="1097280"/>
          </a:xfrm>
          <a:prstGeom prst="roundRect">
            <a:avLst>
              <a:gd name="adj" fmla="val 6667"/>
            </a:avLst>
          </a:prstGeom>
          <a:solidFill>
            <a:schemeClr val="tx1"/>
          </a:solidFill>
          <a:ln/>
        </p:spPr>
      </p:sp>
      <p:sp>
        <p:nvSpPr>
          <p:cNvPr id="19" name="Text 14"/>
          <p:cNvSpPr txBox="1"/>
          <p:nvPr/>
        </p:nvSpPr>
        <p:spPr>
          <a:xfrm>
            <a:off x="914400" y="4983480"/>
            <a:ext cx="10362895" cy="1097280"/>
          </a:xfrm>
          <a:prstGeom prst="rect">
            <a:avLst/>
          </a:prstGeom>
          <a:noFill/>
          <a:ln/>
        </p:spPr>
        <p:txBody>
          <a:bodyPr wrap="square" lIns="0" tIns="0" rIns="0" bIns="0" rtlCol="0" anchor="ctr"/>
          <a:lstStyle/>
          <a:p>
            <a:pPr indent="0" marL="0">
              <a:buNone/>
            </a:pPr>
            <a:r>
              <a:rPr lang="en-US" sz="1800" dirty="0">
                <a:solidFill>
                  <a:schemeClr val="bg1"/>
                </a:solidFill>
                <a:latin typeface="Cambria" pitchFamily="34" charset="0"/>
                <a:ea typeface="Cambria" pitchFamily="34" charset="-122"/>
                <a:cs typeface="Cambria" pitchFamily="34" charset="-120"/>
              </a:rPr>
              <a:t>And the new failure is invisible: </a:t>
            </a:r>
            <a:pPr indent="0" marL="0">
              <a:buNone/>
            </a:pPr>
            <a:r>
              <a:rPr lang="en-US" sz="1800" b="1" dirty="0">
                <a:solidFill>
                  <a:srgbClr val="F08A7C"/>
                </a:solidFill>
                <a:latin typeface="Cambria" pitchFamily="34" charset="0"/>
                <a:ea typeface="Cambria" pitchFamily="34" charset="-122"/>
                <a:cs typeface="Cambria" pitchFamily="34" charset="-120"/>
              </a:rPr>
              <a:t>fluent, plausible output that nothing flags. The job is finding those few places and putting a person there.</a:t>
            </a:r>
            <a:endParaRPr lang="en-US" sz="18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731520" y="2788920"/>
            <a:ext cx="10424160" cy="1005840"/>
          </a:xfrm>
          <a:prstGeom prst="rect">
            <a:avLst/>
          </a:prstGeom>
          <a:noFill/>
          <a:ln/>
        </p:spPr>
        <p:txBody>
          <a:bodyPr wrap="square" lIns="0" tIns="0" rIns="0" bIns="0" rtlCol="0" anchor="b"/>
          <a:lstStyle/>
          <a:p>
            <a:pPr algn="l" indent="0" marL="0">
              <a:buNone/>
            </a:pPr>
            <a:r>
              <a:rPr lang="en-US" sz="4400" b="1" dirty="0">
                <a:solidFill>
                  <a:schemeClr val="bg1"/>
                </a:solidFill>
              </a:rPr>
              <a:t>Doing better: seven methods compared</a:t>
            </a:r>
            <a:endParaRPr lang="en-US" sz="4400" dirty="0"/>
          </a:p>
        </p:txBody>
      </p:sp>
      <p:sp>
        <p:nvSpPr>
          <p:cNvPr id="3" name="Text 0"/>
          <p:cNvSpPr/>
          <p:nvPr>
            <p:ph idx="101" type="body" hasCustomPrompt="1"/>
          </p:nvPr>
        </p:nvSpPr>
        <p:spPr>
          <a:xfrm>
            <a:off x="731520" y="3931920"/>
            <a:ext cx="10058400" cy="731520"/>
          </a:xfrm>
          <a:prstGeom prst="rect">
            <a:avLst/>
          </a:prstGeom>
          <a:noFill/>
          <a:ln/>
        </p:spPr>
        <p:txBody>
          <a:bodyPr wrap="square" lIns="0" tIns="0" rIns="0" bIns="0" rtlCol="0" anchor="t"/>
          <a:lstStyle/>
          <a:p>
            <a:pPr indent="0" marL="0">
              <a:buNone/>
            </a:pPr>
            <a:r>
              <a:rPr lang="en-US" sz="2000" dirty="0">
                <a:solidFill>
                  <a:schemeClr val="accent4"/>
                </a:solidFill>
              </a:rPr>
              <a:t>From one prompt to agents and people: what the studies found</a:t>
            </a:r>
            <a:endParaRPr lang="en-US" sz="2000" dirty="0"/>
          </a:p>
        </p:txBody>
      </p:sp>
      <p:sp>
        <p:nvSpPr>
          <p:cNvPr id="4" name="seal"/>
          <p:cNvSpPr/>
          <p:nvPr/>
        </p:nvSpPr>
        <p:spPr>
          <a:xfrm>
            <a:off x="731520" y="1737360"/>
            <a:ext cx="822960" cy="822960"/>
          </a:xfrm>
          <a:prstGeom prst="roundRect">
            <a:avLst>
              <a:gd name="adj" fmla="val 18000"/>
            </a:avLst>
          </a:prstGeom>
          <a:solidFill>
            <a:schemeClr val="accent1"/>
          </a:solidFill>
          <a:ln/>
        </p:spPr>
      </p:sp>
      <p:sp>
        <p:nvSpPr>
          <p:cNvPr id="5" name="Text 3"/>
          <p:cNvSpPr txBox="1"/>
          <p:nvPr/>
        </p:nvSpPr>
        <p:spPr>
          <a:xfrm>
            <a:off x="731520" y="173736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03</a:t>
            </a:r>
            <a:endParaRPr lang="en-US" sz="2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Seven ways to translate with AI</a:t>
            </a:r>
            <a:endParaRPr lang="en-US" sz="3200" dirty="0"/>
          </a:p>
        </p:txBody>
      </p:sp>
      <p:sp>
        <p:nvSpPr>
          <p:cNvPr id="3" name="card"/>
          <p:cNvSpPr/>
          <p:nvPr/>
        </p:nvSpPr>
        <p:spPr>
          <a:xfrm>
            <a:off x="548640" y="1325880"/>
            <a:ext cx="11094415" cy="566928"/>
          </a:xfrm>
          <a:prstGeom prst="roundRect">
            <a:avLst>
              <a:gd name="adj" fmla="val 12903"/>
            </a:avLst>
          </a:prstGeom>
          <a:solidFill>
            <a:schemeClr val="bg2"/>
          </a:solidFill>
          <a:ln/>
        </p:spPr>
      </p:sp>
      <p:sp>
        <p:nvSpPr>
          <p:cNvPr id="4" name="Shape 2"/>
          <p:cNvSpPr/>
          <p:nvPr/>
        </p:nvSpPr>
        <p:spPr>
          <a:xfrm>
            <a:off x="685800" y="1408176"/>
            <a:ext cx="402336" cy="402336"/>
          </a:xfrm>
          <a:prstGeom prst="roundRect">
            <a:avLst>
              <a:gd name="adj" fmla="val 18182"/>
            </a:avLst>
          </a:prstGeom>
          <a:solidFill>
            <a:schemeClr val="accent1"/>
          </a:solidFill>
          <a:ln/>
        </p:spPr>
      </p:sp>
      <p:sp>
        <p:nvSpPr>
          <p:cNvPr id="5" name="Text 3"/>
          <p:cNvSpPr txBox="1"/>
          <p:nvPr/>
        </p:nvSpPr>
        <p:spPr>
          <a:xfrm>
            <a:off x="685800" y="1408176"/>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280160" y="1325880"/>
            <a:ext cx="2743200" cy="56692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One pass</a:t>
            </a:r>
            <a:endParaRPr lang="en-US" sz="1700" dirty="0"/>
          </a:p>
        </p:txBody>
      </p:sp>
      <p:sp>
        <p:nvSpPr>
          <p:cNvPr id="7" name="Text 5"/>
          <p:cNvSpPr txBox="1"/>
          <p:nvPr/>
        </p:nvSpPr>
        <p:spPr>
          <a:xfrm>
            <a:off x="4069080" y="1325880"/>
            <a:ext cx="5394960" cy="566928"/>
          </a:xfrm>
          <a:prstGeom prst="rect">
            <a:avLst/>
          </a:prstGeom>
          <a:noFill/>
          <a:ln/>
        </p:spPr>
        <p:txBody>
          <a:bodyPr wrap="square" lIns="0" tIns="0" rIns="0" bIns="0" rtlCol="0" anchor="ctr"/>
          <a:lstStyle/>
          <a:p>
            <a:pPr indent="0" marL="0">
              <a:buNone/>
            </a:pPr>
            <a:r>
              <a:rPr lang="en-US" sz="1500" dirty="0">
                <a:solidFill>
                  <a:schemeClr val="tx1"/>
                </a:solidFill>
              </a:rPr>
              <a:t>One engine call, or one prompt to a language model</a:t>
            </a:r>
            <a:endParaRPr lang="en-US" sz="1500" dirty="0"/>
          </a:p>
        </p:txBody>
      </p:sp>
      <p:sp>
        <p:nvSpPr>
          <p:cNvPr id="8" name="Text 6"/>
          <p:cNvSpPr txBox="1"/>
          <p:nvPr/>
        </p:nvSpPr>
        <p:spPr>
          <a:xfrm>
            <a:off x="9402775" y="1325880"/>
            <a:ext cx="2103120" cy="566928"/>
          </a:xfrm>
          <a:prstGeom prst="rect">
            <a:avLst/>
          </a:prstGeom>
          <a:noFill/>
          <a:ln/>
        </p:spPr>
        <p:txBody>
          <a:bodyPr wrap="square" lIns="0" tIns="0" rIns="0" bIns="0" rtlCol="0" anchor="ctr"/>
          <a:lstStyle/>
          <a:p>
            <a:pPr algn="r" indent="0" marL="0">
              <a:buNone/>
            </a:pPr>
            <a:r>
              <a:rPr lang="en-US" sz="1350" b="1" dirty="0">
                <a:solidFill>
                  <a:schemeClr val="accent3"/>
                </a:solidFill>
              </a:rPr>
              <a:t>1 call</a:t>
            </a:r>
            <a:endParaRPr lang="en-US" sz="1350" dirty="0"/>
          </a:p>
        </p:txBody>
      </p:sp>
      <p:sp>
        <p:nvSpPr>
          <p:cNvPr id="9" name="card"/>
          <p:cNvSpPr/>
          <p:nvPr/>
        </p:nvSpPr>
        <p:spPr>
          <a:xfrm>
            <a:off x="548640" y="1993392"/>
            <a:ext cx="11094415" cy="566928"/>
          </a:xfrm>
          <a:prstGeom prst="roundRect">
            <a:avLst>
              <a:gd name="adj" fmla="val 12903"/>
            </a:avLst>
          </a:prstGeom>
          <a:solidFill>
            <a:schemeClr val="bg2"/>
          </a:solidFill>
          <a:ln/>
        </p:spPr>
      </p:sp>
      <p:sp>
        <p:nvSpPr>
          <p:cNvPr id="10" name="Shape 8"/>
          <p:cNvSpPr/>
          <p:nvPr/>
        </p:nvSpPr>
        <p:spPr>
          <a:xfrm>
            <a:off x="685800" y="2075688"/>
            <a:ext cx="402336" cy="402336"/>
          </a:xfrm>
          <a:prstGeom prst="roundRect">
            <a:avLst>
              <a:gd name="adj" fmla="val 18182"/>
            </a:avLst>
          </a:prstGeom>
          <a:solidFill>
            <a:schemeClr val="accent1"/>
          </a:solidFill>
          <a:ln/>
        </p:spPr>
      </p:sp>
      <p:sp>
        <p:nvSpPr>
          <p:cNvPr id="11" name="Text 9"/>
          <p:cNvSpPr txBox="1"/>
          <p:nvPr/>
        </p:nvSpPr>
        <p:spPr>
          <a:xfrm>
            <a:off x="685800" y="2075688"/>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1280160" y="1993392"/>
            <a:ext cx="2743200" cy="56692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More context</a:t>
            </a:r>
            <a:endParaRPr lang="en-US" sz="1700" dirty="0"/>
          </a:p>
        </p:txBody>
      </p:sp>
      <p:sp>
        <p:nvSpPr>
          <p:cNvPr id="13" name="Text 11"/>
          <p:cNvSpPr txBox="1"/>
          <p:nvPr/>
        </p:nvSpPr>
        <p:spPr>
          <a:xfrm>
            <a:off x="4069080" y="1993392"/>
            <a:ext cx="5394960" cy="566928"/>
          </a:xfrm>
          <a:prstGeom prst="rect">
            <a:avLst/>
          </a:prstGeom>
          <a:noFill/>
          <a:ln/>
        </p:spPr>
        <p:txBody>
          <a:bodyPr wrap="square" lIns="0" tIns="0" rIns="0" bIns="0" rtlCol="0" anchor="ctr"/>
          <a:lstStyle/>
          <a:p>
            <a:pPr indent="0" marL="0">
              <a:buNone/>
            </a:pPr>
            <a:r>
              <a:rPr lang="en-US" sz="1500" dirty="0">
                <a:solidFill>
                  <a:schemeClr val="tx1"/>
                </a:solidFill>
              </a:rPr>
              <a:t>The whole document, your glossary, your past translations</a:t>
            </a:r>
            <a:endParaRPr lang="en-US" sz="1500" dirty="0"/>
          </a:p>
        </p:txBody>
      </p:sp>
      <p:sp>
        <p:nvSpPr>
          <p:cNvPr id="14" name="Text 12"/>
          <p:cNvSpPr txBox="1"/>
          <p:nvPr/>
        </p:nvSpPr>
        <p:spPr>
          <a:xfrm>
            <a:off x="9402775" y="1993392"/>
            <a:ext cx="2103120" cy="566928"/>
          </a:xfrm>
          <a:prstGeom prst="rect">
            <a:avLst/>
          </a:prstGeom>
          <a:noFill/>
          <a:ln/>
        </p:spPr>
        <p:txBody>
          <a:bodyPr wrap="square" lIns="0" tIns="0" rIns="0" bIns="0" rtlCol="0" anchor="ctr"/>
          <a:lstStyle/>
          <a:p>
            <a:pPr algn="r" indent="0" marL="0">
              <a:buNone/>
            </a:pPr>
            <a:r>
              <a:rPr lang="en-US" sz="1350" b="1" dirty="0">
                <a:solidFill>
                  <a:schemeClr val="accent3"/>
                </a:solidFill>
              </a:rPr>
              <a:t>Longer prompts</a:t>
            </a:r>
            <a:endParaRPr lang="en-US" sz="1350" dirty="0"/>
          </a:p>
        </p:txBody>
      </p:sp>
      <p:sp>
        <p:nvSpPr>
          <p:cNvPr id="15" name="card"/>
          <p:cNvSpPr/>
          <p:nvPr/>
        </p:nvSpPr>
        <p:spPr>
          <a:xfrm>
            <a:off x="548640" y="2660904"/>
            <a:ext cx="11094415" cy="566928"/>
          </a:xfrm>
          <a:prstGeom prst="roundRect">
            <a:avLst>
              <a:gd name="adj" fmla="val 12903"/>
            </a:avLst>
          </a:prstGeom>
          <a:solidFill>
            <a:schemeClr val="bg2"/>
          </a:solidFill>
          <a:ln/>
        </p:spPr>
      </p:sp>
      <p:sp>
        <p:nvSpPr>
          <p:cNvPr id="16" name="Shape 14"/>
          <p:cNvSpPr/>
          <p:nvPr/>
        </p:nvSpPr>
        <p:spPr>
          <a:xfrm>
            <a:off x="685800" y="2743200"/>
            <a:ext cx="402336" cy="402336"/>
          </a:xfrm>
          <a:prstGeom prst="roundRect">
            <a:avLst>
              <a:gd name="adj" fmla="val 18182"/>
            </a:avLst>
          </a:prstGeom>
          <a:solidFill>
            <a:schemeClr val="accent1"/>
          </a:solidFill>
          <a:ln/>
        </p:spPr>
      </p:sp>
      <p:sp>
        <p:nvSpPr>
          <p:cNvPr id="17" name="Text 15"/>
          <p:cNvSpPr txBox="1"/>
          <p:nvPr/>
        </p:nvSpPr>
        <p:spPr>
          <a:xfrm>
            <a:off x="685800" y="2743200"/>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3</a:t>
            </a:r>
            <a:endParaRPr lang="en-US" sz="1600" dirty="0"/>
          </a:p>
        </p:txBody>
      </p:sp>
      <p:sp>
        <p:nvSpPr>
          <p:cNvPr id="18" name="Text 16"/>
          <p:cNvSpPr txBox="1"/>
          <p:nvPr/>
        </p:nvSpPr>
        <p:spPr>
          <a:xfrm>
            <a:off x="1280160" y="2660904"/>
            <a:ext cx="2743200" cy="56692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Check your own work</a:t>
            </a:r>
            <a:endParaRPr lang="en-US" sz="1700" dirty="0"/>
          </a:p>
        </p:txBody>
      </p:sp>
      <p:sp>
        <p:nvSpPr>
          <p:cNvPr id="19" name="Text 17"/>
          <p:cNvSpPr txBox="1"/>
          <p:nvPr/>
        </p:nvSpPr>
        <p:spPr>
          <a:xfrm>
            <a:off x="4069080" y="2660904"/>
            <a:ext cx="5394960" cy="566928"/>
          </a:xfrm>
          <a:prstGeom prst="rect">
            <a:avLst/>
          </a:prstGeom>
          <a:noFill/>
          <a:ln/>
        </p:spPr>
        <p:txBody>
          <a:bodyPr wrap="square" lIns="0" tIns="0" rIns="0" bIns="0" rtlCol="0" anchor="ctr"/>
          <a:lstStyle/>
          <a:p>
            <a:pPr indent="0" marL="0">
              <a:buNone/>
            </a:pPr>
            <a:r>
              <a:rPr lang="en-US" sz="1500" dirty="0">
                <a:solidFill>
                  <a:schemeClr val="tx1"/>
                </a:solidFill>
              </a:rPr>
              <a:t>Translate, critique, refine</a:t>
            </a:r>
            <a:endParaRPr lang="en-US" sz="1500" dirty="0"/>
          </a:p>
        </p:txBody>
      </p:sp>
      <p:sp>
        <p:nvSpPr>
          <p:cNvPr id="20" name="Text 18"/>
          <p:cNvSpPr txBox="1"/>
          <p:nvPr/>
        </p:nvSpPr>
        <p:spPr>
          <a:xfrm>
            <a:off x="9402775" y="2660904"/>
            <a:ext cx="2103120" cy="566928"/>
          </a:xfrm>
          <a:prstGeom prst="rect">
            <a:avLst/>
          </a:prstGeom>
          <a:noFill/>
          <a:ln/>
        </p:spPr>
        <p:txBody>
          <a:bodyPr wrap="square" lIns="0" tIns="0" rIns="0" bIns="0" rtlCol="0" anchor="ctr"/>
          <a:lstStyle/>
          <a:p>
            <a:pPr algn="r" indent="0" marL="0">
              <a:buNone/>
            </a:pPr>
            <a:r>
              <a:rPr lang="en-US" sz="1350" b="1" dirty="0">
                <a:solidFill>
                  <a:schemeClr val="accent3"/>
                </a:solidFill>
              </a:rPr>
              <a:t>+1 to +10 calls</a:t>
            </a:r>
            <a:endParaRPr lang="en-US" sz="1350" dirty="0"/>
          </a:p>
        </p:txBody>
      </p:sp>
      <p:sp>
        <p:nvSpPr>
          <p:cNvPr id="21" name="card"/>
          <p:cNvSpPr/>
          <p:nvPr/>
        </p:nvSpPr>
        <p:spPr>
          <a:xfrm>
            <a:off x="548640" y="3328416"/>
            <a:ext cx="11094415" cy="566928"/>
          </a:xfrm>
          <a:prstGeom prst="roundRect">
            <a:avLst>
              <a:gd name="adj" fmla="val 12903"/>
            </a:avLst>
          </a:prstGeom>
          <a:solidFill>
            <a:schemeClr val="bg2"/>
          </a:solidFill>
          <a:ln/>
        </p:spPr>
      </p:sp>
      <p:sp>
        <p:nvSpPr>
          <p:cNvPr id="22" name="Shape 20"/>
          <p:cNvSpPr/>
          <p:nvPr/>
        </p:nvSpPr>
        <p:spPr>
          <a:xfrm>
            <a:off x="685800" y="3410712"/>
            <a:ext cx="402336" cy="402336"/>
          </a:xfrm>
          <a:prstGeom prst="roundRect">
            <a:avLst>
              <a:gd name="adj" fmla="val 18182"/>
            </a:avLst>
          </a:prstGeom>
          <a:solidFill>
            <a:schemeClr val="accent1"/>
          </a:solidFill>
          <a:ln/>
        </p:spPr>
      </p:sp>
      <p:sp>
        <p:nvSpPr>
          <p:cNvPr id="23" name="Text 21"/>
          <p:cNvSpPr txBox="1"/>
          <p:nvPr/>
        </p:nvSpPr>
        <p:spPr>
          <a:xfrm>
            <a:off x="685800" y="3410712"/>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4</a:t>
            </a:r>
            <a:endParaRPr lang="en-US" sz="1600" dirty="0"/>
          </a:p>
        </p:txBody>
      </p:sp>
      <p:sp>
        <p:nvSpPr>
          <p:cNvPr id="24" name="Text 22"/>
          <p:cNvSpPr txBox="1"/>
          <p:nvPr/>
        </p:nvSpPr>
        <p:spPr>
          <a:xfrm>
            <a:off x="1280160" y="3328416"/>
            <a:ext cx="2743200" cy="56692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Step by step</a:t>
            </a:r>
            <a:endParaRPr lang="en-US" sz="1700" dirty="0"/>
          </a:p>
        </p:txBody>
      </p:sp>
      <p:sp>
        <p:nvSpPr>
          <p:cNvPr id="25" name="Text 23"/>
          <p:cNvSpPr txBox="1"/>
          <p:nvPr/>
        </p:nvSpPr>
        <p:spPr>
          <a:xfrm>
            <a:off x="4069080" y="3328416"/>
            <a:ext cx="5394960" cy="566928"/>
          </a:xfrm>
          <a:prstGeom prst="rect">
            <a:avLst/>
          </a:prstGeom>
          <a:noFill/>
          <a:ln/>
        </p:spPr>
        <p:txBody>
          <a:bodyPr wrap="square" lIns="0" tIns="0" rIns="0" bIns="0" rtlCol="0" anchor="ctr"/>
          <a:lstStyle/>
          <a:p>
            <a:pPr indent="0" marL="0">
              <a:buNone/>
            </a:pPr>
            <a:r>
              <a:rPr lang="en-US" sz="1500" dirty="0">
                <a:solidFill>
                  <a:schemeClr val="tx1"/>
                </a:solidFill>
              </a:rPr>
              <a:t>Research, draft, refine, proofread, like a human translator</a:t>
            </a:r>
            <a:endParaRPr lang="en-US" sz="1500" dirty="0"/>
          </a:p>
        </p:txBody>
      </p:sp>
      <p:sp>
        <p:nvSpPr>
          <p:cNvPr id="26" name="Text 24"/>
          <p:cNvSpPr txBox="1"/>
          <p:nvPr/>
        </p:nvSpPr>
        <p:spPr>
          <a:xfrm>
            <a:off x="9402775" y="3328416"/>
            <a:ext cx="2103120" cy="566928"/>
          </a:xfrm>
          <a:prstGeom prst="rect">
            <a:avLst/>
          </a:prstGeom>
          <a:noFill/>
          <a:ln/>
        </p:spPr>
        <p:txBody>
          <a:bodyPr wrap="square" lIns="0" tIns="0" rIns="0" bIns="0" rtlCol="0" anchor="ctr"/>
          <a:lstStyle/>
          <a:p>
            <a:pPr algn="r" indent="0" marL="0">
              <a:buNone/>
            </a:pPr>
            <a:r>
              <a:rPr lang="en-US" sz="1350" b="1" dirty="0">
                <a:solidFill>
                  <a:schemeClr val="accent3"/>
                </a:solidFill>
              </a:rPr>
              <a:t>≈ 5 calls</a:t>
            </a:r>
            <a:endParaRPr lang="en-US" sz="1350" dirty="0"/>
          </a:p>
        </p:txBody>
      </p:sp>
      <p:sp>
        <p:nvSpPr>
          <p:cNvPr id="27" name="card"/>
          <p:cNvSpPr/>
          <p:nvPr/>
        </p:nvSpPr>
        <p:spPr>
          <a:xfrm>
            <a:off x="548640" y="3995928"/>
            <a:ext cx="11094415" cy="566928"/>
          </a:xfrm>
          <a:prstGeom prst="roundRect">
            <a:avLst>
              <a:gd name="adj" fmla="val 12903"/>
            </a:avLst>
          </a:prstGeom>
          <a:solidFill>
            <a:schemeClr val="bg2"/>
          </a:solidFill>
          <a:ln/>
        </p:spPr>
      </p:sp>
      <p:sp>
        <p:nvSpPr>
          <p:cNvPr id="28" name="Shape 26"/>
          <p:cNvSpPr/>
          <p:nvPr/>
        </p:nvSpPr>
        <p:spPr>
          <a:xfrm>
            <a:off x="685800" y="4078224"/>
            <a:ext cx="402336" cy="402336"/>
          </a:xfrm>
          <a:prstGeom prst="roundRect">
            <a:avLst>
              <a:gd name="adj" fmla="val 18182"/>
            </a:avLst>
          </a:prstGeom>
          <a:solidFill>
            <a:schemeClr val="accent1"/>
          </a:solidFill>
          <a:ln/>
        </p:spPr>
      </p:sp>
      <p:sp>
        <p:nvSpPr>
          <p:cNvPr id="29" name="Text 27"/>
          <p:cNvSpPr txBox="1"/>
          <p:nvPr/>
        </p:nvSpPr>
        <p:spPr>
          <a:xfrm>
            <a:off x="685800" y="4078224"/>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5</a:t>
            </a:r>
            <a:endParaRPr lang="en-US" sz="1600" dirty="0"/>
          </a:p>
        </p:txBody>
      </p:sp>
      <p:sp>
        <p:nvSpPr>
          <p:cNvPr id="30" name="Text 28"/>
          <p:cNvSpPr txBox="1"/>
          <p:nvPr/>
        </p:nvSpPr>
        <p:spPr>
          <a:xfrm>
            <a:off x="1280160" y="3995928"/>
            <a:ext cx="2743200" cy="56692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Teams of agents</a:t>
            </a:r>
            <a:endParaRPr lang="en-US" sz="1700" dirty="0"/>
          </a:p>
        </p:txBody>
      </p:sp>
      <p:sp>
        <p:nvSpPr>
          <p:cNvPr id="31" name="Text 29"/>
          <p:cNvSpPr txBox="1"/>
          <p:nvPr/>
        </p:nvSpPr>
        <p:spPr>
          <a:xfrm>
            <a:off x="4069080" y="3995928"/>
            <a:ext cx="5394960" cy="566928"/>
          </a:xfrm>
          <a:prstGeom prst="rect">
            <a:avLst/>
          </a:prstGeom>
          <a:noFill/>
          <a:ln/>
        </p:spPr>
        <p:txBody>
          <a:bodyPr wrap="square" lIns="0" tIns="0" rIns="0" bIns="0" rtlCol="0" anchor="ctr"/>
          <a:lstStyle/>
          <a:p>
            <a:pPr indent="0" marL="0">
              <a:buNone/>
            </a:pPr>
            <a:r>
              <a:rPr lang="en-US" sz="1500" dirty="0">
                <a:solidFill>
                  <a:schemeClr val="tx1"/>
                </a:solidFill>
              </a:rPr>
              <a:t>Several AI roles: translator, editor, reviewer, judge</a:t>
            </a:r>
            <a:endParaRPr lang="en-US" sz="1500" dirty="0"/>
          </a:p>
        </p:txBody>
      </p:sp>
      <p:sp>
        <p:nvSpPr>
          <p:cNvPr id="32" name="Text 30"/>
          <p:cNvSpPr txBox="1"/>
          <p:nvPr/>
        </p:nvSpPr>
        <p:spPr>
          <a:xfrm>
            <a:off x="9402775" y="3995928"/>
            <a:ext cx="2103120" cy="566928"/>
          </a:xfrm>
          <a:prstGeom prst="rect">
            <a:avLst/>
          </a:prstGeom>
          <a:noFill/>
          <a:ln/>
        </p:spPr>
        <p:txBody>
          <a:bodyPr wrap="square" lIns="0" tIns="0" rIns="0" bIns="0" rtlCol="0" anchor="ctr"/>
          <a:lstStyle/>
          <a:p>
            <a:pPr algn="r" indent="0" marL="0">
              <a:buNone/>
            </a:pPr>
            <a:r>
              <a:rPr lang="en-US" sz="1350" b="1" dirty="0">
                <a:solidFill>
                  <a:schemeClr val="accent3"/>
                </a:solidFill>
              </a:rPr>
              <a:t>5–15× the tokens</a:t>
            </a:r>
            <a:endParaRPr lang="en-US" sz="1350" dirty="0"/>
          </a:p>
        </p:txBody>
      </p:sp>
      <p:sp>
        <p:nvSpPr>
          <p:cNvPr id="33" name="card"/>
          <p:cNvSpPr/>
          <p:nvPr/>
        </p:nvSpPr>
        <p:spPr>
          <a:xfrm>
            <a:off x="548640" y="4663440"/>
            <a:ext cx="11094415" cy="566928"/>
          </a:xfrm>
          <a:prstGeom prst="roundRect">
            <a:avLst>
              <a:gd name="adj" fmla="val 12903"/>
            </a:avLst>
          </a:prstGeom>
          <a:solidFill>
            <a:schemeClr val="bg2"/>
          </a:solidFill>
          <a:ln/>
        </p:spPr>
      </p:sp>
      <p:sp>
        <p:nvSpPr>
          <p:cNvPr id="34" name="Shape 32"/>
          <p:cNvSpPr/>
          <p:nvPr/>
        </p:nvSpPr>
        <p:spPr>
          <a:xfrm>
            <a:off x="685800" y="4745736"/>
            <a:ext cx="402336" cy="402336"/>
          </a:xfrm>
          <a:prstGeom prst="roundRect">
            <a:avLst>
              <a:gd name="adj" fmla="val 18182"/>
            </a:avLst>
          </a:prstGeom>
          <a:solidFill>
            <a:schemeClr val="accent1"/>
          </a:solidFill>
          <a:ln/>
        </p:spPr>
      </p:sp>
      <p:sp>
        <p:nvSpPr>
          <p:cNvPr id="35" name="Text 33"/>
          <p:cNvSpPr txBox="1"/>
          <p:nvPr/>
        </p:nvSpPr>
        <p:spPr>
          <a:xfrm>
            <a:off x="685800" y="4745736"/>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6</a:t>
            </a:r>
            <a:endParaRPr lang="en-US" sz="1600" dirty="0"/>
          </a:p>
        </p:txBody>
      </p:sp>
      <p:sp>
        <p:nvSpPr>
          <p:cNvPr id="36" name="Text 34"/>
          <p:cNvSpPr txBox="1"/>
          <p:nvPr/>
        </p:nvSpPr>
        <p:spPr>
          <a:xfrm>
            <a:off x="1280160" y="4663440"/>
            <a:ext cx="2743200" cy="566928"/>
          </a:xfrm>
          <a:prstGeom prst="rect">
            <a:avLst/>
          </a:prstGeom>
          <a:noFill/>
          <a:ln/>
        </p:spPr>
        <p:txBody>
          <a:bodyPr wrap="square" lIns="0" tIns="0" rIns="0" bIns="0" rtlCol="0" anchor="ctr"/>
          <a:lstStyle/>
          <a:p>
            <a:pPr indent="0" marL="0">
              <a:buNone/>
            </a:pPr>
            <a:r>
              <a:rPr lang="en-US" sz="1700" b="1" dirty="0">
                <a:solidFill>
                  <a:schemeClr val="tx1"/>
                </a:solidFill>
                <a:latin typeface="Cambria" pitchFamily="34" charset="0"/>
                <a:ea typeface="Cambria" pitchFamily="34" charset="-122"/>
                <a:cs typeface="Cambria" pitchFamily="34" charset="-120"/>
              </a:rPr>
              <a:t>Score and select</a:t>
            </a:r>
            <a:endParaRPr lang="en-US" sz="1700" dirty="0"/>
          </a:p>
        </p:txBody>
      </p:sp>
      <p:sp>
        <p:nvSpPr>
          <p:cNvPr id="37" name="Text 35"/>
          <p:cNvSpPr txBox="1"/>
          <p:nvPr/>
        </p:nvSpPr>
        <p:spPr>
          <a:xfrm>
            <a:off x="4069080" y="4663440"/>
            <a:ext cx="5394960" cy="566928"/>
          </a:xfrm>
          <a:prstGeom prst="rect">
            <a:avLst/>
          </a:prstGeom>
          <a:noFill/>
          <a:ln/>
        </p:spPr>
        <p:txBody>
          <a:bodyPr wrap="square" lIns="0" tIns="0" rIns="0" bIns="0" rtlCol="0" anchor="ctr"/>
          <a:lstStyle/>
          <a:p>
            <a:pPr indent="0" marL="0">
              <a:buNone/>
            </a:pPr>
            <a:r>
              <a:rPr lang="en-US" sz="1500" dirty="0">
                <a:solidFill>
                  <a:schemeClr val="tx1"/>
                </a:solidFill>
              </a:rPr>
              <a:t>Make several versions and keep the best; flag doubtful sentences</a:t>
            </a:r>
            <a:endParaRPr lang="en-US" sz="1500" dirty="0"/>
          </a:p>
        </p:txBody>
      </p:sp>
      <p:sp>
        <p:nvSpPr>
          <p:cNvPr id="38" name="Text 36"/>
          <p:cNvSpPr txBox="1"/>
          <p:nvPr/>
        </p:nvSpPr>
        <p:spPr>
          <a:xfrm>
            <a:off x="9402775" y="4663440"/>
            <a:ext cx="2103120" cy="566928"/>
          </a:xfrm>
          <a:prstGeom prst="rect">
            <a:avLst/>
          </a:prstGeom>
          <a:noFill/>
          <a:ln/>
        </p:spPr>
        <p:txBody>
          <a:bodyPr wrap="square" lIns="0" tIns="0" rIns="0" bIns="0" rtlCol="0" anchor="ctr"/>
          <a:lstStyle/>
          <a:p>
            <a:pPr algn="r" indent="0" marL="0">
              <a:buNone/>
            </a:pPr>
            <a:r>
              <a:rPr lang="en-US" sz="1350" b="1" dirty="0">
                <a:solidFill>
                  <a:schemeClr val="accent3"/>
                </a:solidFill>
              </a:rPr>
              <a:t>Many versions</a:t>
            </a:r>
            <a:endParaRPr lang="en-US" sz="1350" dirty="0"/>
          </a:p>
        </p:txBody>
      </p:sp>
      <p:sp>
        <p:nvSpPr>
          <p:cNvPr id="39" name="card"/>
          <p:cNvSpPr/>
          <p:nvPr/>
        </p:nvSpPr>
        <p:spPr>
          <a:xfrm>
            <a:off x="548640" y="5330952"/>
            <a:ext cx="11094415" cy="566928"/>
          </a:xfrm>
          <a:prstGeom prst="roundRect">
            <a:avLst>
              <a:gd name="adj" fmla="val 12903"/>
            </a:avLst>
          </a:prstGeom>
          <a:solidFill>
            <a:schemeClr val="tx1"/>
          </a:solidFill>
          <a:ln/>
        </p:spPr>
      </p:sp>
      <p:sp>
        <p:nvSpPr>
          <p:cNvPr id="40" name="Shape 38"/>
          <p:cNvSpPr/>
          <p:nvPr/>
        </p:nvSpPr>
        <p:spPr>
          <a:xfrm>
            <a:off x="685800" y="5413248"/>
            <a:ext cx="402336" cy="402336"/>
          </a:xfrm>
          <a:prstGeom prst="roundRect">
            <a:avLst>
              <a:gd name="adj" fmla="val 18182"/>
            </a:avLst>
          </a:prstGeom>
          <a:solidFill>
            <a:schemeClr val="accent1"/>
          </a:solidFill>
          <a:ln/>
        </p:spPr>
      </p:sp>
      <p:sp>
        <p:nvSpPr>
          <p:cNvPr id="41" name="Text 39"/>
          <p:cNvSpPr txBox="1"/>
          <p:nvPr/>
        </p:nvSpPr>
        <p:spPr>
          <a:xfrm>
            <a:off x="685800" y="5413248"/>
            <a:ext cx="402336" cy="402336"/>
          </a:xfrm>
          <a:prstGeom prst="rect">
            <a:avLst/>
          </a:prstGeom>
          <a:noFill/>
          <a:ln/>
        </p:spPr>
        <p:txBody>
          <a:bodyPr wrap="square" lIns="0" tIns="0" rIns="0" bIns="0" rtlCol="0" anchor="ctr"/>
          <a:lstStyle/>
          <a:p>
            <a:pPr algn="ctr" indent="0" marL="0">
              <a:buNone/>
            </a:pPr>
            <a:r>
              <a:rPr lang="en-US" sz="1600" b="1" dirty="0">
                <a:solidFill>
                  <a:schemeClr val="bg1"/>
                </a:solidFill>
                <a:latin typeface="Cambria" pitchFamily="34" charset="0"/>
                <a:ea typeface="Cambria" pitchFamily="34" charset="-122"/>
                <a:cs typeface="Cambria" pitchFamily="34" charset="-120"/>
              </a:rPr>
              <a:t>7</a:t>
            </a:r>
            <a:endParaRPr lang="en-US" sz="1600" dirty="0"/>
          </a:p>
        </p:txBody>
      </p:sp>
      <p:sp>
        <p:nvSpPr>
          <p:cNvPr id="42" name="Text 40"/>
          <p:cNvSpPr txBox="1"/>
          <p:nvPr/>
        </p:nvSpPr>
        <p:spPr>
          <a:xfrm>
            <a:off x="1280160" y="5330952"/>
            <a:ext cx="2743200" cy="566928"/>
          </a:xfrm>
          <a:prstGeom prst="rect">
            <a:avLst/>
          </a:prstGeom>
          <a:noFill/>
          <a:ln/>
        </p:spPr>
        <p:txBody>
          <a:bodyPr wrap="square" lIns="0" tIns="0" rIns="0" bIns="0" rtlCol="0" anchor="ctr"/>
          <a:lstStyle/>
          <a:p>
            <a:pPr indent="0" marL="0">
              <a:buNone/>
            </a:pPr>
            <a:r>
              <a:rPr lang="en-US" sz="1700" b="1" dirty="0">
                <a:solidFill>
                  <a:schemeClr val="bg1"/>
                </a:solidFill>
                <a:latin typeface="Cambria" pitchFamily="34" charset="0"/>
                <a:ea typeface="Cambria" pitchFamily="34" charset="-122"/>
                <a:cs typeface="Cambria" pitchFamily="34" charset="-120"/>
              </a:rPr>
              <a:t>Ask the human</a:t>
            </a:r>
            <a:endParaRPr lang="en-US" sz="1700" dirty="0"/>
          </a:p>
        </p:txBody>
      </p:sp>
      <p:sp>
        <p:nvSpPr>
          <p:cNvPr id="43" name="Text 41"/>
          <p:cNvSpPr txBox="1"/>
          <p:nvPr/>
        </p:nvSpPr>
        <p:spPr>
          <a:xfrm>
            <a:off x="4069080" y="5330952"/>
            <a:ext cx="5394960" cy="566928"/>
          </a:xfrm>
          <a:prstGeom prst="rect">
            <a:avLst/>
          </a:prstGeom>
          <a:noFill/>
          <a:ln/>
        </p:spPr>
        <p:txBody>
          <a:bodyPr wrap="square" lIns="0" tIns="0" rIns="0" bIns="0" rtlCol="0" anchor="ctr"/>
          <a:lstStyle/>
          <a:p>
            <a:pPr indent="0" marL="0">
              <a:buNone/>
            </a:pPr>
            <a:r>
              <a:rPr lang="en-US" sz="1500" dirty="0">
                <a:solidFill>
                  <a:schemeClr val="bg1"/>
                </a:solidFill>
              </a:rPr>
              <a:t>Ask about what's ambiguous; a person accepts each change</a:t>
            </a:r>
            <a:endParaRPr lang="en-US" sz="1500" dirty="0"/>
          </a:p>
        </p:txBody>
      </p:sp>
      <p:sp>
        <p:nvSpPr>
          <p:cNvPr id="44" name="Text 42"/>
          <p:cNvSpPr txBox="1"/>
          <p:nvPr/>
        </p:nvSpPr>
        <p:spPr>
          <a:xfrm>
            <a:off x="9402775" y="5330952"/>
            <a:ext cx="2103120" cy="566928"/>
          </a:xfrm>
          <a:prstGeom prst="rect">
            <a:avLst/>
          </a:prstGeom>
          <a:noFill/>
          <a:ln/>
        </p:spPr>
        <p:txBody>
          <a:bodyPr wrap="square" lIns="0" tIns="0" rIns="0" bIns="0" rtlCol="0" anchor="ctr"/>
          <a:lstStyle/>
          <a:p>
            <a:pPr algn="r" indent="0" marL="0">
              <a:buNone/>
            </a:pPr>
            <a:r>
              <a:rPr lang="en-US" sz="1350" b="1" dirty="0">
                <a:solidFill>
                  <a:srgbClr val="F08A7C"/>
                </a:solidFill>
              </a:rPr>
              <a:t>+ a person's minutes</a:t>
            </a:r>
            <a:endParaRPr lang="en-US" sz="135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One pass, and one pass with more context</a:t>
            </a:r>
            <a:endParaRPr lang="en-US" sz="3200" dirty="0"/>
          </a:p>
        </p:txBody>
      </p:sp>
      <p:sp>
        <p:nvSpPr>
          <p:cNvPr id="3" name="card"/>
          <p:cNvSpPr/>
          <p:nvPr/>
        </p:nvSpPr>
        <p:spPr>
          <a:xfrm>
            <a:off x="548640" y="1325880"/>
            <a:ext cx="3611880" cy="2263140"/>
          </a:xfrm>
          <a:prstGeom prst="roundRect">
            <a:avLst>
              <a:gd name="adj" fmla="val 3232"/>
            </a:avLst>
          </a:prstGeom>
          <a:solidFill>
            <a:schemeClr val="tx1"/>
          </a:solidFill>
          <a:ln/>
        </p:spPr>
      </p:sp>
      <p:sp>
        <p:nvSpPr>
          <p:cNvPr id="4" name="Shape 2"/>
          <p:cNvSpPr/>
          <p:nvPr/>
        </p:nvSpPr>
        <p:spPr>
          <a:xfrm>
            <a:off x="822960" y="1600200"/>
            <a:ext cx="502920" cy="502920"/>
          </a:xfrm>
          <a:prstGeom prst="roundRect">
            <a:avLst>
              <a:gd name="adj" fmla="val 18182"/>
            </a:avLst>
          </a:prstGeom>
          <a:solidFill>
            <a:schemeClr val="accent1"/>
          </a:solidFill>
          <a:ln/>
        </p:spPr>
      </p:sp>
      <p:sp>
        <p:nvSpPr>
          <p:cNvPr id="5" name="Text 3"/>
          <p:cNvSpPr txBox="1"/>
          <p:nvPr/>
        </p:nvSpPr>
        <p:spPr>
          <a:xfrm>
            <a:off x="822960" y="16002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463040" y="1572768"/>
            <a:ext cx="2514600" cy="566928"/>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One pass</a:t>
            </a:r>
            <a:endParaRPr lang="en-US" sz="1900" dirty="0"/>
          </a:p>
        </p:txBody>
      </p:sp>
      <p:sp>
        <p:nvSpPr>
          <p:cNvPr id="7" name="Text 5"/>
          <p:cNvSpPr txBox="1"/>
          <p:nvPr/>
        </p:nvSpPr>
        <p:spPr>
          <a:xfrm>
            <a:off x="822960" y="2240280"/>
            <a:ext cx="3063240" cy="365760"/>
          </a:xfrm>
          <a:prstGeom prst="rect">
            <a:avLst/>
          </a:prstGeom>
          <a:noFill/>
          <a:ln/>
        </p:spPr>
        <p:txBody>
          <a:bodyPr wrap="square" lIns="0" tIns="0" rIns="0" bIns="0" rtlCol="0" anchor="t"/>
          <a:lstStyle/>
          <a:p>
            <a:pPr indent="0" marL="0">
              <a:buNone/>
            </a:pPr>
            <a:r>
              <a:rPr lang="en-US" sz="1300" b="1" dirty="0">
                <a:solidFill>
                  <a:srgbClr val="F08A7C"/>
                </a:solidFill>
              </a:rPr>
              <a:t>Source → model → translation</a:t>
            </a:r>
            <a:endParaRPr lang="en-US" sz="1300" dirty="0"/>
          </a:p>
        </p:txBody>
      </p:sp>
      <p:sp>
        <p:nvSpPr>
          <p:cNvPr id="8" name="Text 6"/>
          <p:cNvSpPr txBox="1"/>
          <p:nvPr/>
        </p:nvSpPr>
        <p:spPr>
          <a:xfrm>
            <a:off x="822960" y="2624328"/>
            <a:ext cx="3063240" cy="845820"/>
          </a:xfrm>
          <a:prstGeom prst="rect">
            <a:avLst/>
          </a:prstGeom>
          <a:noFill/>
          <a:ln/>
        </p:spPr>
        <p:txBody>
          <a:bodyPr wrap="square" lIns="0" tIns="0" rIns="0" bIns="0" rtlCol="0" anchor="t"/>
          <a:lstStyle/>
          <a:p>
            <a:pPr indent="0" marL="0">
              <a:buNone/>
            </a:pPr>
            <a:r>
              <a:rPr lang="en-US" sz="1400" dirty="0">
                <a:solidFill>
                  <a:schemeClr val="bg1"/>
                </a:solidFill>
              </a:rPr>
              <a:t>Nothing extra: one engine call or one prompt. Strong for big languages.</a:t>
            </a:r>
            <a:endParaRPr lang="en-US" sz="1400" dirty="0"/>
          </a:p>
        </p:txBody>
      </p:sp>
      <p:sp>
        <p:nvSpPr>
          <p:cNvPr id="9" name="card"/>
          <p:cNvSpPr/>
          <p:nvPr/>
        </p:nvSpPr>
        <p:spPr>
          <a:xfrm>
            <a:off x="548640" y="3771900"/>
            <a:ext cx="3611880" cy="2263140"/>
          </a:xfrm>
          <a:prstGeom prst="roundRect">
            <a:avLst>
              <a:gd name="adj" fmla="val 3232"/>
            </a:avLst>
          </a:prstGeom>
          <a:solidFill>
            <a:schemeClr val="tx1"/>
          </a:solidFill>
          <a:ln/>
        </p:spPr>
      </p:sp>
      <p:sp>
        <p:nvSpPr>
          <p:cNvPr id="10" name="Shape 8"/>
          <p:cNvSpPr/>
          <p:nvPr/>
        </p:nvSpPr>
        <p:spPr>
          <a:xfrm>
            <a:off x="822960" y="4046220"/>
            <a:ext cx="502920" cy="502920"/>
          </a:xfrm>
          <a:prstGeom prst="roundRect">
            <a:avLst>
              <a:gd name="adj" fmla="val 18182"/>
            </a:avLst>
          </a:prstGeom>
          <a:solidFill>
            <a:schemeClr val="accent1"/>
          </a:solidFill>
          <a:ln/>
        </p:spPr>
      </p:sp>
      <p:sp>
        <p:nvSpPr>
          <p:cNvPr id="11" name="Text 9"/>
          <p:cNvSpPr txBox="1"/>
          <p:nvPr/>
        </p:nvSpPr>
        <p:spPr>
          <a:xfrm>
            <a:off x="822960" y="404622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1463040" y="4018788"/>
            <a:ext cx="2514600" cy="566928"/>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More context</a:t>
            </a:r>
            <a:endParaRPr lang="en-US" sz="1900" dirty="0"/>
          </a:p>
        </p:txBody>
      </p:sp>
      <p:sp>
        <p:nvSpPr>
          <p:cNvPr id="13" name="Text 11"/>
          <p:cNvSpPr txBox="1"/>
          <p:nvPr/>
        </p:nvSpPr>
        <p:spPr>
          <a:xfrm>
            <a:off x="822960" y="4686300"/>
            <a:ext cx="3063240" cy="365760"/>
          </a:xfrm>
          <a:prstGeom prst="rect">
            <a:avLst/>
          </a:prstGeom>
          <a:noFill/>
          <a:ln/>
        </p:spPr>
        <p:txBody>
          <a:bodyPr wrap="square" lIns="0" tIns="0" rIns="0" bIns="0" rtlCol="0" anchor="t"/>
          <a:lstStyle/>
          <a:p>
            <a:pPr indent="0" marL="0">
              <a:buNone/>
            </a:pPr>
            <a:r>
              <a:rPr lang="en-US" sz="1300" b="1" dirty="0">
                <a:solidFill>
                  <a:srgbClr val="F08A7C"/>
                </a:solidFill>
              </a:rPr>
              <a:t>Document + glossary + memory</a:t>
            </a:r>
            <a:endParaRPr lang="en-US" sz="1300" dirty="0"/>
          </a:p>
        </p:txBody>
      </p:sp>
      <p:sp>
        <p:nvSpPr>
          <p:cNvPr id="14" name="Text 12"/>
          <p:cNvSpPr txBox="1"/>
          <p:nvPr/>
        </p:nvSpPr>
        <p:spPr>
          <a:xfrm>
            <a:off x="822960" y="5070348"/>
            <a:ext cx="3063240" cy="845820"/>
          </a:xfrm>
          <a:prstGeom prst="rect">
            <a:avLst/>
          </a:prstGeom>
          <a:noFill/>
          <a:ln/>
        </p:spPr>
        <p:txBody>
          <a:bodyPr wrap="square" lIns="0" tIns="0" rIns="0" bIns="0" rtlCol="0" anchor="t"/>
          <a:lstStyle/>
          <a:p>
            <a:pPr indent="0" marL="0">
              <a:buNone/>
            </a:pPr>
            <a:r>
              <a:rPr lang="en-US" sz="1400" dirty="0">
                <a:solidFill>
                  <a:schemeClr val="bg1"/>
                </a:solidFill>
              </a:rPr>
              <a:t>The same single pass, given the whole document, your termbase and your approved past translations.</a:t>
            </a:r>
            <a:endParaRPr lang="en-US" sz="1400" dirty="0"/>
          </a:p>
        </p:txBody>
      </p:sp>
      <p:sp>
        <p:nvSpPr>
          <p:cNvPr id="15" name="card"/>
          <p:cNvSpPr/>
          <p:nvPr/>
        </p:nvSpPr>
        <p:spPr>
          <a:xfrm>
            <a:off x="4434840" y="1325880"/>
            <a:ext cx="7208215" cy="907542"/>
          </a:xfrm>
          <a:prstGeom prst="roundRect">
            <a:avLst>
              <a:gd name="adj" fmla="val 8060"/>
            </a:avLst>
          </a:prstGeom>
          <a:solidFill>
            <a:schemeClr val="bg2"/>
          </a:solidFill>
          <a:ln/>
        </p:spPr>
      </p:sp>
      <p:sp>
        <p:nvSpPr>
          <p:cNvPr id="16" name="Text 14"/>
          <p:cNvSpPr txBox="1"/>
          <p:nvPr/>
        </p:nvSpPr>
        <p:spPr>
          <a:xfrm>
            <a:off x="4663440" y="1325880"/>
            <a:ext cx="2331720" cy="907542"/>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80.0 vs 77.4</a:t>
            </a:r>
            <a:endParaRPr lang="en-US" sz="2300" dirty="0"/>
          </a:p>
        </p:txBody>
      </p:sp>
      <p:sp>
        <p:nvSpPr>
          <p:cNvPr id="17" name="Text 15"/>
          <p:cNvSpPr txBox="1"/>
          <p:nvPr/>
        </p:nvSpPr>
        <p:spPr>
          <a:xfrm>
            <a:off x="7086600" y="1389888"/>
            <a:ext cx="4373575" cy="578358"/>
          </a:xfrm>
          <a:prstGeom prst="rect">
            <a:avLst/>
          </a:prstGeom>
          <a:noFill/>
          <a:ln/>
        </p:spPr>
        <p:txBody>
          <a:bodyPr wrap="square" lIns="0" tIns="0" rIns="0" bIns="0" rtlCol="0" anchor="ctr"/>
          <a:lstStyle/>
          <a:p>
            <a:pPr indent="0" marL="0">
              <a:buNone/>
            </a:pPr>
            <a:r>
              <a:rPr lang="en-US" sz="1250" dirty="0">
                <a:solidFill>
                  <a:schemeClr val="tx1"/>
                </a:solidFill>
              </a:rPr>
              <a:t>Chinese → English rated by professionals: one GPT prompt vs the best competition systems</a:t>
            </a:r>
            <a:endParaRPr lang="en-US" sz="1250" dirty="0"/>
          </a:p>
        </p:txBody>
      </p:sp>
      <p:sp>
        <p:nvSpPr>
          <p:cNvPr id="18" name="Text 16"/>
          <p:cNvSpPr txBox="1"/>
          <p:nvPr/>
        </p:nvSpPr>
        <p:spPr>
          <a:xfrm>
            <a:off x="7086600" y="1959102"/>
            <a:ext cx="4373575" cy="228600"/>
          </a:xfrm>
          <a:prstGeom prst="rect">
            <a:avLst/>
          </a:prstGeom>
          <a:noFill/>
          <a:ln/>
        </p:spPr>
        <p:txBody>
          <a:bodyPr wrap="square" lIns="0" tIns="0" rIns="0" bIns="0" rtlCol="0" anchor="t"/>
          <a:lstStyle/>
          <a:p>
            <a:pPr indent="0" marL="0">
              <a:buNone/>
            </a:pPr>
            <a:r>
              <a:rPr lang="en-US" sz="950" dirty="0">
                <a:solidFill>
                  <a:schemeClr val="accent3"/>
                </a:solidFill>
              </a:rPr>
              <a:t>Hendy et al. (Microsoft), 2023</a:t>
            </a:r>
            <a:endParaRPr lang="en-US" sz="950" dirty="0"/>
          </a:p>
        </p:txBody>
      </p:sp>
      <p:sp>
        <p:nvSpPr>
          <p:cNvPr id="19" name="card"/>
          <p:cNvSpPr/>
          <p:nvPr/>
        </p:nvSpPr>
        <p:spPr>
          <a:xfrm>
            <a:off x="4434840" y="2343150"/>
            <a:ext cx="7208215" cy="907542"/>
          </a:xfrm>
          <a:prstGeom prst="roundRect">
            <a:avLst>
              <a:gd name="adj" fmla="val 8060"/>
            </a:avLst>
          </a:prstGeom>
          <a:solidFill>
            <a:schemeClr val="bg2"/>
          </a:solidFill>
          <a:ln/>
        </p:spPr>
      </p:sp>
      <p:sp>
        <p:nvSpPr>
          <p:cNvPr id="20" name="Text 18"/>
          <p:cNvSpPr txBox="1"/>
          <p:nvPr/>
        </p:nvSpPr>
        <p:spPr>
          <a:xfrm>
            <a:off x="4663440" y="2343150"/>
            <a:ext cx="2331720" cy="907542"/>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−23 / −25</a:t>
            </a:r>
            <a:endParaRPr lang="en-US" sz="2300" dirty="0"/>
          </a:p>
        </p:txBody>
      </p:sp>
      <p:sp>
        <p:nvSpPr>
          <p:cNvPr id="21" name="Text 19"/>
          <p:cNvSpPr txBox="1"/>
          <p:nvPr/>
        </p:nvSpPr>
        <p:spPr>
          <a:xfrm>
            <a:off x="7086600" y="2407158"/>
            <a:ext cx="4373575" cy="578358"/>
          </a:xfrm>
          <a:prstGeom prst="rect">
            <a:avLst/>
          </a:prstGeom>
          <a:noFill/>
          <a:ln/>
        </p:spPr>
        <p:txBody>
          <a:bodyPr wrap="square" lIns="0" tIns="0" rIns="0" bIns="0" rtlCol="0" anchor="ctr"/>
          <a:lstStyle/>
          <a:p>
            <a:pPr indent="0" marL="0">
              <a:buNone/>
            </a:pPr>
            <a:r>
              <a:rPr lang="en-US" sz="1250" dirty="0">
                <a:solidFill>
                  <a:schemeClr val="tx1"/>
                </a:solidFill>
              </a:rPr>
              <a:t>points behind the best systems into Icelandic and Hausa: same prompt, same raters</a:t>
            </a:r>
            <a:endParaRPr lang="en-US" sz="1250" dirty="0"/>
          </a:p>
        </p:txBody>
      </p:sp>
      <p:sp>
        <p:nvSpPr>
          <p:cNvPr id="22" name="Text 20"/>
          <p:cNvSpPr txBox="1"/>
          <p:nvPr/>
        </p:nvSpPr>
        <p:spPr>
          <a:xfrm>
            <a:off x="7086600" y="2976372"/>
            <a:ext cx="4373575" cy="228600"/>
          </a:xfrm>
          <a:prstGeom prst="rect">
            <a:avLst/>
          </a:prstGeom>
          <a:noFill/>
          <a:ln/>
        </p:spPr>
        <p:txBody>
          <a:bodyPr wrap="square" lIns="0" tIns="0" rIns="0" bIns="0" rtlCol="0" anchor="t"/>
          <a:lstStyle/>
          <a:p>
            <a:pPr indent="0" marL="0">
              <a:buNone/>
            </a:pPr>
            <a:r>
              <a:rPr lang="en-US" sz="950" dirty="0">
                <a:solidFill>
                  <a:schemeClr val="accent3"/>
                </a:solidFill>
              </a:rPr>
              <a:t>Hendy et al. (Microsoft), 2023</a:t>
            </a:r>
            <a:endParaRPr lang="en-US" sz="950" dirty="0"/>
          </a:p>
        </p:txBody>
      </p:sp>
      <p:sp>
        <p:nvSpPr>
          <p:cNvPr id="23" name="card"/>
          <p:cNvSpPr/>
          <p:nvPr/>
        </p:nvSpPr>
        <p:spPr>
          <a:xfrm>
            <a:off x="4434840" y="3360420"/>
            <a:ext cx="7208215" cy="907542"/>
          </a:xfrm>
          <a:prstGeom prst="roundRect">
            <a:avLst>
              <a:gd name="adj" fmla="val 8060"/>
            </a:avLst>
          </a:prstGeom>
          <a:solidFill>
            <a:schemeClr val="bg2"/>
          </a:solidFill>
          <a:ln/>
        </p:spPr>
      </p:sp>
      <p:sp>
        <p:nvSpPr>
          <p:cNvPr id="24" name="Text 22"/>
          <p:cNvSpPr txBox="1"/>
          <p:nvPr/>
        </p:nvSpPr>
        <p:spPr>
          <a:xfrm>
            <a:off x="4663440" y="3360420"/>
            <a:ext cx="2331720" cy="907542"/>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71% · 83%</a:t>
            </a:r>
            <a:endParaRPr lang="en-US" sz="2300" dirty="0"/>
          </a:p>
        </p:txBody>
      </p:sp>
      <p:sp>
        <p:nvSpPr>
          <p:cNvPr id="25" name="Text 23"/>
          <p:cNvSpPr txBox="1"/>
          <p:nvPr/>
        </p:nvSpPr>
        <p:spPr>
          <a:xfrm>
            <a:off x="7086600" y="3424428"/>
            <a:ext cx="4373575" cy="578358"/>
          </a:xfrm>
          <a:prstGeom prst="rect">
            <a:avLst/>
          </a:prstGeom>
          <a:noFill/>
          <a:ln/>
        </p:spPr>
        <p:txBody>
          <a:bodyPr wrap="square" lIns="0" tIns="0" rIns="0" bIns="0" rtlCol="0" anchor="ctr"/>
          <a:lstStyle/>
          <a:p>
            <a:pPr indent="0" marL="0">
              <a:buNone/>
            </a:pPr>
            <a:r>
              <a:rPr lang="en-US" sz="1250" dirty="0">
                <a:solidFill>
                  <a:schemeClr val="tx1"/>
                </a:solidFill>
              </a:rPr>
              <a:t>professionals preferred translating a whole paragraph at once: over sentence by sentence · over Google Translate</a:t>
            </a:r>
            <a:endParaRPr lang="en-US" sz="1250" dirty="0"/>
          </a:p>
        </p:txBody>
      </p:sp>
      <p:sp>
        <p:nvSpPr>
          <p:cNvPr id="26" name="Text 24"/>
          <p:cNvSpPr txBox="1"/>
          <p:nvPr/>
        </p:nvSpPr>
        <p:spPr>
          <a:xfrm>
            <a:off x="7086600" y="3993642"/>
            <a:ext cx="4373575" cy="228600"/>
          </a:xfrm>
          <a:prstGeom prst="rect">
            <a:avLst/>
          </a:prstGeom>
          <a:noFill/>
          <a:ln/>
        </p:spPr>
        <p:txBody>
          <a:bodyPr wrap="square" lIns="0" tIns="0" rIns="0" bIns="0" rtlCol="0" anchor="t"/>
          <a:lstStyle/>
          <a:p>
            <a:pPr indent="0" marL="0">
              <a:buNone/>
            </a:pPr>
            <a:r>
              <a:rPr lang="en-US" sz="950" dirty="0">
                <a:solidFill>
                  <a:schemeClr val="accent3"/>
                </a:solidFill>
              </a:rPr>
              <a:t>Karpinska &amp; Iyyer, WMT 2023</a:t>
            </a:r>
            <a:endParaRPr lang="en-US" sz="950" dirty="0"/>
          </a:p>
        </p:txBody>
      </p:sp>
      <p:sp>
        <p:nvSpPr>
          <p:cNvPr id="27" name="card"/>
          <p:cNvSpPr/>
          <p:nvPr/>
        </p:nvSpPr>
        <p:spPr>
          <a:xfrm>
            <a:off x="4434840" y="4377690"/>
            <a:ext cx="7208215" cy="907542"/>
          </a:xfrm>
          <a:prstGeom prst="roundRect">
            <a:avLst>
              <a:gd name="adj" fmla="val 8060"/>
            </a:avLst>
          </a:prstGeom>
          <a:solidFill>
            <a:schemeClr val="bg2"/>
          </a:solidFill>
          <a:ln/>
        </p:spPr>
      </p:sp>
      <p:sp>
        <p:nvSpPr>
          <p:cNvPr id="28" name="Text 26"/>
          <p:cNvSpPr txBox="1"/>
          <p:nvPr/>
        </p:nvSpPr>
        <p:spPr>
          <a:xfrm>
            <a:off x="4663440" y="4377690"/>
            <a:ext cx="2331720" cy="907542"/>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44% → 99%</a:t>
            </a:r>
            <a:endParaRPr lang="en-US" sz="2300" dirty="0"/>
          </a:p>
        </p:txBody>
      </p:sp>
      <p:sp>
        <p:nvSpPr>
          <p:cNvPr id="29" name="Text 27"/>
          <p:cNvSpPr txBox="1"/>
          <p:nvPr/>
        </p:nvSpPr>
        <p:spPr>
          <a:xfrm>
            <a:off x="7086600" y="4441698"/>
            <a:ext cx="4373575" cy="578358"/>
          </a:xfrm>
          <a:prstGeom prst="rect">
            <a:avLst/>
          </a:prstGeom>
          <a:noFill/>
          <a:ln/>
        </p:spPr>
        <p:txBody>
          <a:bodyPr wrap="square" lIns="0" tIns="0" rIns="0" bIns="0" rtlCol="0" anchor="ctr"/>
          <a:lstStyle/>
          <a:p>
            <a:pPr indent="0" marL="0">
              <a:buNone/>
            </a:pPr>
            <a:r>
              <a:rPr lang="en-US" sz="1250" dirty="0">
                <a:solidFill>
                  <a:schemeClr val="tx1"/>
                </a:solidFill>
              </a:rPr>
              <a:t>client glossary terms used correctly, without vs with the glossary (single sentences)</a:t>
            </a:r>
            <a:endParaRPr lang="en-US" sz="1250" dirty="0"/>
          </a:p>
        </p:txBody>
      </p:sp>
      <p:sp>
        <p:nvSpPr>
          <p:cNvPr id="30" name="Text 28"/>
          <p:cNvSpPr txBox="1"/>
          <p:nvPr/>
        </p:nvSpPr>
        <p:spPr>
          <a:xfrm>
            <a:off x="7086600" y="5010912"/>
            <a:ext cx="4373575" cy="228600"/>
          </a:xfrm>
          <a:prstGeom prst="rect">
            <a:avLst/>
          </a:prstGeom>
          <a:noFill/>
          <a:ln/>
        </p:spPr>
        <p:txBody>
          <a:bodyPr wrap="square" lIns="0" tIns="0" rIns="0" bIns="0" rtlCol="0" anchor="t"/>
          <a:lstStyle/>
          <a:p>
            <a:pPr indent="0" marL="0">
              <a:buNone/>
            </a:pPr>
            <a:r>
              <a:rPr lang="en-US" sz="950" dirty="0">
                <a:solidFill>
                  <a:schemeClr val="accent3"/>
                </a:solidFill>
              </a:rPr>
              <a:t>WMT25 Terminology task</a:t>
            </a:r>
            <a:endParaRPr lang="en-US" sz="950" dirty="0"/>
          </a:p>
        </p:txBody>
      </p:sp>
      <p:sp>
        <p:nvSpPr>
          <p:cNvPr id="31" name="card"/>
          <p:cNvSpPr/>
          <p:nvPr/>
        </p:nvSpPr>
        <p:spPr>
          <a:xfrm>
            <a:off x="4434840" y="5440680"/>
            <a:ext cx="7208215" cy="594360"/>
          </a:xfrm>
          <a:prstGeom prst="roundRect">
            <a:avLst>
              <a:gd name="adj" fmla="val 12308"/>
            </a:avLst>
          </a:prstGeom>
          <a:solidFill>
            <a:srgbClr val="FBEDEA"/>
          </a:solidFill>
          <a:ln/>
        </p:spPr>
      </p:sp>
      <p:sp>
        <p:nvSpPr>
          <p:cNvPr id="32" name="Text 30"/>
          <p:cNvSpPr txBox="1"/>
          <p:nvPr/>
        </p:nvSpPr>
        <p:spPr>
          <a:xfrm>
            <a:off x="4663440" y="5440680"/>
            <a:ext cx="6751015" cy="594360"/>
          </a:xfrm>
          <a:prstGeom prst="rect">
            <a:avLst/>
          </a:prstGeom>
          <a:noFill/>
          <a:ln/>
        </p:spPr>
        <p:txBody>
          <a:bodyPr wrap="square" lIns="0" tIns="0" rIns="0" bIns="0" rtlCol="0" anchor="ctr"/>
          <a:lstStyle/>
          <a:p>
            <a:pPr indent="0" marL="0">
              <a:buNone/>
            </a:pPr>
            <a:r>
              <a:rPr lang="en-US" sz="1400" b="1" dirty="0">
                <a:solidFill>
                  <a:schemeClr val="accent1"/>
                </a:solidFill>
              </a:rPr>
              <a:t>The catch  </a:t>
            </a:r>
            <a:pPr indent="0" marL="0">
              <a:buNone/>
            </a:pPr>
            <a:r>
              <a:rPr lang="en-US" sz="1400" dirty="0">
                <a:solidFill>
                  <a:schemeClr val="tx1"/>
                </a:solidFill>
              </a:rPr>
              <a:t>small languages need more than a prompt; across 2,000-word reports, even the best systems missed 1 required term in 5.</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Check your own work, and step by step</a:t>
            </a:r>
            <a:endParaRPr lang="en-US" sz="3200" dirty="0"/>
          </a:p>
        </p:txBody>
      </p:sp>
      <p:sp>
        <p:nvSpPr>
          <p:cNvPr id="3" name="card"/>
          <p:cNvSpPr/>
          <p:nvPr/>
        </p:nvSpPr>
        <p:spPr>
          <a:xfrm>
            <a:off x="548640" y="1325880"/>
            <a:ext cx="3611880" cy="2263140"/>
          </a:xfrm>
          <a:prstGeom prst="roundRect">
            <a:avLst>
              <a:gd name="adj" fmla="val 3232"/>
            </a:avLst>
          </a:prstGeom>
          <a:solidFill>
            <a:schemeClr val="tx1"/>
          </a:solidFill>
          <a:ln/>
        </p:spPr>
      </p:sp>
      <p:sp>
        <p:nvSpPr>
          <p:cNvPr id="4" name="Shape 2"/>
          <p:cNvSpPr/>
          <p:nvPr/>
        </p:nvSpPr>
        <p:spPr>
          <a:xfrm>
            <a:off x="822960" y="1600200"/>
            <a:ext cx="502920" cy="502920"/>
          </a:xfrm>
          <a:prstGeom prst="roundRect">
            <a:avLst>
              <a:gd name="adj" fmla="val 18182"/>
            </a:avLst>
          </a:prstGeom>
          <a:solidFill>
            <a:schemeClr val="accent1"/>
          </a:solidFill>
          <a:ln/>
        </p:spPr>
      </p:sp>
      <p:sp>
        <p:nvSpPr>
          <p:cNvPr id="5" name="Text 3"/>
          <p:cNvSpPr txBox="1"/>
          <p:nvPr/>
        </p:nvSpPr>
        <p:spPr>
          <a:xfrm>
            <a:off x="822960" y="16002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6" name="Text 4"/>
          <p:cNvSpPr txBox="1"/>
          <p:nvPr/>
        </p:nvSpPr>
        <p:spPr>
          <a:xfrm>
            <a:off x="1463040" y="1572768"/>
            <a:ext cx="2514600" cy="566928"/>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Check your own work</a:t>
            </a:r>
            <a:endParaRPr lang="en-US" sz="1900" dirty="0"/>
          </a:p>
        </p:txBody>
      </p:sp>
      <p:sp>
        <p:nvSpPr>
          <p:cNvPr id="7" name="Text 5"/>
          <p:cNvSpPr txBox="1"/>
          <p:nvPr/>
        </p:nvSpPr>
        <p:spPr>
          <a:xfrm>
            <a:off x="822960" y="2240280"/>
            <a:ext cx="3063240" cy="365760"/>
          </a:xfrm>
          <a:prstGeom prst="rect">
            <a:avLst/>
          </a:prstGeom>
          <a:noFill/>
          <a:ln/>
        </p:spPr>
        <p:txBody>
          <a:bodyPr wrap="square" lIns="0" tIns="0" rIns="0" bIns="0" rtlCol="0" anchor="t"/>
          <a:lstStyle/>
          <a:p>
            <a:pPr indent="0" marL="0">
              <a:buNone/>
            </a:pPr>
            <a:r>
              <a:rPr lang="en-US" sz="1300" b="1" dirty="0">
                <a:solidFill>
                  <a:srgbClr val="F08A7C"/>
                </a:solidFill>
              </a:rPr>
              <a:t>Translate → critique → refine</a:t>
            </a:r>
            <a:endParaRPr lang="en-US" sz="1300" dirty="0"/>
          </a:p>
        </p:txBody>
      </p:sp>
      <p:sp>
        <p:nvSpPr>
          <p:cNvPr id="8" name="Text 6"/>
          <p:cNvSpPr txBox="1"/>
          <p:nvPr/>
        </p:nvSpPr>
        <p:spPr>
          <a:xfrm>
            <a:off x="822960" y="2624328"/>
            <a:ext cx="3063240" cy="845820"/>
          </a:xfrm>
          <a:prstGeom prst="rect">
            <a:avLst/>
          </a:prstGeom>
          <a:noFill/>
          <a:ln/>
        </p:spPr>
        <p:txBody>
          <a:bodyPr wrap="square" lIns="0" tIns="0" rIns="0" bIns="0" rtlCol="0" anchor="t"/>
          <a:lstStyle/>
          <a:p>
            <a:pPr indent="0" marL="0">
              <a:buNone/>
            </a:pPr>
            <a:r>
              <a:rPr lang="en-US" sz="1400" dirty="0">
                <a:solidFill>
                  <a:schemeClr val="bg1"/>
                </a:solidFill>
              </a:rPr>
              <a:t>The model reviews its draft for errors, then fixes them. Works best when the critique names the exact problem.</a:t>
            </a:r>
            <a:endParaRPr lang="en-US" sz="1400" dirty="0"/>
          </a:p>
        </p:txBody>
      </p:sp>
      <p:sp>
        <p:nvSpPr>
          <p:cNvPr id="9" name="card"/>
          <p:cNvSpPr/>
          <p:nvPr/>
        </p:nvSpPr>
        <p:spPr>
          <a:xfrm>
            <a:off x="548640" y="3771900"/>
            <a:ext cx="3611880" cy="2263140"/>
          </a:xfrm>
          <a:prstGeom prst="roundRect">
            <a:avLst>
              <a:gd name="adj" fmla="val 3232"/>
            </a:avLst>
          </a:prstGeom>
          <a:solidFill>
            <a:schemeClr val="tx1"/>
          </a:solidFill>
          <a:ln/>
        </p:spPr>
      </p:sp>
      <p:sp>
        <p:nvSpPr>
          <p:cNvPr id="10" name="Shape 8"/>
          <p:cNvSpPr/>
          <p:nvPr/>
        </p:nvSpPr>
        <p:spPr>
          <a:xfrm>
            <a:off x="822960" y="4046220"/>
            <a:ext cx="502920" cy="502920"/>
          </a:xfrm>
          <a:prstGeom prst="roundRect">
            <a:avLst>
              <a:gd name="adj" fmla="val 18182"/>
            </a:avLst>
          </a:prstGeom>
          <a:solidFill>
            <a:schemeClr val="accent1"/>
          </a:solidFill>
          <a:ln/>
        </p:spPr>
      </p:sp>
      <p:sp>
        <p:nvSpPr>
          <p:cNvPr id="11" name="Text 9"/>
          <p:cNvSpPr txBox="1"/>
          <p:nvPr/>
        </p:nvSpPr>
        <p:spPr>
          <a:xfrm>
            <a:off x="822960" y="404622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4</a:t>
            </a:r>
            <a:endParaRPr lang="en-US" sz="2000" dirty="0"/>
          </a:p>
        </p:txBody>
      </p:sp>
      <p:sp>
        <p:nvSpPr>
          <p:cNvPr id="12" name="Text 10"/>
          <p:cNvSpPr txBox="1"/>
          <p:nvPr/>
        </p:nvSpPr>
        <p:spPr>
          <a:xfrm>
            <a:off x="1463040" y="4018788"/>
            <a:ext cx="2514600" cy="566928"/>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Step by step</a:t>
            </a:r>
            <a:endParaRPr lang="en-US" sz="1900" dirty="0"/>
          </a:p>
        </p:txBody>
      </p:sp>
      <p:sp>
        <p:nvSpPr>
          <p:cNvPr id="13" name="Text 11"/>
          <p:cNvSpPr txBox="1"/>
          <p:nvPr/>
        </p:nvSpPr>
        <p:spPr>
          <a:xfrm>
            <a:off x="822960" y="4686300"/>
            <a:ext cx="3063240" cy="365760"/>
          </a:xfrm>
          <a:prstGeom prst="rect">
            <a:avLst/>
          </a:prstGeom>
          <a:noFill/>
          <a:ln/>
        </p:spPr>
        <p:txBody>
          <a:bodyPr wrap="square" lIns="0" tIns="0" rIns="0" bIns="0" rtlCol="0" anchor="t"/>
          <a:lstStyle/>
          <a:p>
            <a:pPr indent="0" marL="0">
              <a:buNone/>
            </a:pPr>
            <a:r>
              <a:rPr lang="en-US" sz="1300" b="1" dirty="0">
                <a:solidFill>
                  <a:srgbClr val="F08A7C"/>
                </a:solidFill>
              </a:rPr>
              <a:t>Research → draft → refine → proofread</a:t>
            </a:r>
            <a:endParaRPr lang="en-US" sz="1300" dirty="0"/>
          </a:p>
        </p:txBody>
      </p:sp>
      <p:sp>
        <p:nvSpPr>
          <p:cNvPr id="14" name="Text 12"/>
          <p:cNvSpPr txBox="1"/>
          <p:nvPr/>
        </p:nvSpPr>
        <p:spPr>
          <a:xfrm>
            <a:off x="822960" y="5070348"/>
            <a:ext cx="3063240" cy="845820"/>
          </a:xfrm>
          <a:prstGeom prst="rect">
            <a:avLst/>
          </a:prstGeom>
          <a:noFill/>
          <a:ln/>
        </p:spPr>
        <p:txBody>
          <a:bodyPr wrap="square" lIns="0" tIns="0" rIns="0" bIns="0" rtlCol="0" anchor="t"/>
          <a:lstStyle/>
          <a:p>
            <a:pPr indent="0" marL="0">
              <a:buNone/>
            </a:pPr>
            <a:r>
              <a:rPr lang="en-US" sz="1400" dirty="0">
                <a:solidFill>
                  <a:schemeClr val="bg1"/>
                </a:solidFill>
              </a:rPr>
              <a:t>Imitates a human translator's process, one model call per step.</a:t>
            </a:r>
            <a:endParaRPr lang="en-US" sz="1400" dirty="0"/>
          </a:p>
        </p:txBody>
      </p:sp>
      <p:sp>
        <p:nvSpPr>
          <p:cNvPr id="15" name="card"/>
          <p:cNvSpPr/>
          <p:nvPr/>
        </p:nvSpPr>
        <p:spPr>
          <a:xfrm>
            <a:off x="4434840" y="1325880"/>
            <a:ext cx="7208215" cy="907542"/>
          </a:xfrm>
          <a:prstGeom prst="roundRect">
            <a:avLst>
              <a:gd name="adj" fmla="val 8060"/>
            </a:avLst>
          </a:prstGeom>
          <a:solidFill>
            <a:schemeClr val="bg2"/>
          </a:solidFill>
          <a:ln/>
        </p:spPr>
      </p:sp>
      <p:sp>
        <p:nvSpPr>
          <p:cNvPr id="16" name="Text 14"/>
          <p:cNvSpPr txBox="1"/>
          <p:nvPr/>
        </p:nvSpPr>
        <p:spPr>
          <a:xfrm>
            <a:off x="4663440" y="1325880"/>
            <a:ext cx="2331720" cy="907542"/>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38% vs 16%</a:t>
            </a:r>
            <a:endParaRPr lang="en-US" sz="2300" dirty="0"/>
          </a:p>
        </p:txBody>
      </p:sp>
      <p:sp>
        <p:nvSpPr>
          <p:cNvPr id="17" name="Text 15"/>
          <p:cNvSpPr txBox="1"/>
          <p:nvPr/>
        </p:nvSpPr>
        <p:spPr>
          <a:xfrm>
            <a:off x="7086600" y="1389888"/>
            <a:ext cx="4373575" cy="578358"/>
          </a:xfrm>
          <a:prstGeom prst="rect">
            <a:avLst/>
          </a:prstGeom>
          <a:noFill/>
          <a:ln/>
        </p:spPr>
        <p:txBody>
          <a:bodyPr wrap="square" lIns="0" tIns="0" rIns="0" bIns="0" rtlCol="0" anchor="ctr"/>
          <a:lstStyle/>
          <a:p>
            <a:pPr indent="0" marL="0">
              <a:buNone/>
            </a:pPr>
            <a:r>
              <a:rPr lang="en-US" sz="1250" dirty="0">
                <a:solidFill>
                  <a:schemeClr val="tx1"/>
                </a:solidFill>
              </a:rPr>
              <a:t>revisions that pointed at the exact error: won vs lost with professional raters. A vague “please improve” made German worse</a:t>
            </a:r>
            <a:endParaRPr lang="en-US" sz="1250" dirty="0"/>
          </a:p>
        </p:txBody>
      </p:sp>
      <p:sp>
        <p:nvSpPr>
          <p:cNvPr id="18" name="Text 16"/>
          <p:cNvSpPr txBox="1"/>
          <p:nvPr/>
        </p:nvSpPr>
        <p:spPr>
          <a:xfrm>
            <a:off x="7086600" y="1959102"/>
            <a:ext cx="4373575" cy="228600"/>
          </a:xfrm>
          <a:prstGeom prst="rect">
            <a:avLst/>
          </a:prstGeom>
          <a:noFill/>
          <a:ln/>
        </p:spPr>
        <p:txBody>
          <a:bodyPr wrap="square" lIns="0" tIns="0" rIns="0" bIns="0" rtlCol="0" anchor="t"/>
          <a:lstStyle/>
          <a:p>
            <a:pPr indent="0" marL="0">
              <a:buNone/>
            </a:pPr>
            <a:r>
              <a:rPr lang="en-US" sz="950" dirty="0">
                <a:solidFill>
                  <a:schemeClr val="accent3"/>
                </a:solidFill>
              </a:rPr>
              <a:t>LLMRefine, Xu et al. 2024</a:t>
            </a:r>
            <a:endParaRPr lang="en-US" sz="950" dirty="0"/>
          </a:p>
        </p:txBody>
      </p:sp>
      <p:sp>
        <p:nvSpPr>
          <p:cNvPr id="19" name="card"/>
          <p:cNvSpPr/>
          <p:nvPr/>
        </p:nvSpPr>
        <p:spPr>
          <a:xfrm>
            <a:off x="4434840" y="2343150"/>
            <a:ext cx="7208215" cy="907542"/>
          </a:xfrm>
          <a:prstGeom prst="roundRect">
            <a:avLst>
              <a:gd name="adj" fmla="val 8060"/>
            </a:avLst>
          </a:prstGeom>
          <a:solidFill>
            <a:schemeClr val="bg2"/>
          </a:solidFill>
          <a:ln/>
        </p:spPr>
      </p:sp>
      <p:sp>
        <p:nvSpPr>
          <p:cNvPr id="20" name="Text 18"/>
          <p:cNvSpPr txBox="1"/>
          <p:nvPr/>
        </p:nvSpPr>
        <p:spPr>
          <a:xfrm>
            <a:off x="4663440" y="2343150"/>
            <a:ext cx="2331720" cy="907542"/>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 round</a:t>
            </a:r>
            <a:endParaRPr lang="en-US" sz="2800" dirty="0"/>
          </a:p>
        </p:txBody>
      </p:sp>
      <p:sp>
        <p:nvSpPr>
          <p:cNvPr id="21" name="Text 19"/>
          <p:cNvSpPr txBox="1"/>
          <p:nvPr/>
        </p:nvSpPr>
        <p:spPr>
          <a:xfrm>
            <a:off x="7086600" y="2407158"/>
            <a:ext cx="4373575" cy="578358"/>
          </a:xfrm>
          <a:prstGeom prst="rect">
            <a:avLst/>
          </a:prstGeom>
          <a:noFill/>
          <a:ln/>
        </p:spPr>
        <p:txBody>
          <a:bodyPr wrap="square" lIns="0" tIns="0" rIns="0" bIns="0" rtlCol="0" anchor="ctr"/>
          <a:lstStyle/>
          <a:p>
            <a:pPr indent="0" marL="0">
              <a:buNone/>
            </a:pPr>
            <a:r>
              <a:rPr lang="en-US" sz="1250" dirty="0">
                <a:solidFill>
                  <a:schemeClr val="tx1"/>
                </a:solidFill>
              </a:rPr>
              <a:t>self-correction helped once; more rounds added nothing. GPT-4 chose to change only 7 of its own 50 translations</a:t>
            </a:r>
            <a:endParaRPr lang="en-US" sz="1250" dirty="0"/>
          </a:p>
        </p:txBody>
      </p:sp>
      <p:sp>
        <p:nvSpPr>
          <p:cNvPr id="22" name="Text 20"/>
          <p:cNvSpPr txBox="1"/>
          <p:nvPr/>
        </p:nvSpPr>
        <p:spPr>
          <a:xfrm>
            <a:off x="7086600" y="2976372"/>
            <a:ext cx="4373575" cy="228600"/>
          </a:xfrm>
          <a:prstGeom prst="rect">
            <a:avLst/>
          </a:prstGeom>
          <a:noFill/>
          <a:ln/>
        </p:spPr>
        <p:txBody>
          <a:bodyPr wrap="square" lIns="0" tIns="0" rIns="0" bIns="0" rtlCol="0" anchor="t"/>
          <a:lstStyle/>
          <a:p>
            <a:pPr indent="0" marL="0">
              <a:buNone/>
            </a:pPr>
            <a:r>
              <a:rPr lang="en-US" sz="950" dirty="0">
                <a:solidFill>
                  <a:schemeClr val="accent3"/>
                </a:solidFill>
              </a:rPr>
              <a:t>TEaR, Feng et al. 2024</a:t>
            </a:r>
            <a:endParaRPr lang="en-US" sz="950" dirty="0"/>
          </a:p>
        </p:txBody>
      </p:sp>
      <p:sp>
        <p:nvSpPr>
          <p:cNvPr id="23" name="card"/>
          <p:cNvSpPr/>
          <p:nvPr/>
        </p:nvSpPr>
        <p:spPr>
          <a:xfrm>
            <a:off x="4434840" y="3360420"/>
            <a:ext cx="7208215" cy="907542"/>
          </a:xfrm>
          <a:prstGeom prst="roundRect">
            <a:avLst>
              <a:gd name="adj" fmla="val 8060"/>
            </a:avLst>
          </a:prstGeom>
          <a:solidFill>
            <a:schemeClr val="bg2"/>
          </a:solidFill>
          <a:ln/>
        </p:spPr>
      </p:sp>
      <p:sp>
        <p:nvSpPr>
          <p:cNvPr id="24" name="Text 22"/>
          <p:cNvSpPr txBox="1"/>
          <p:nvPr/>
        </p:nvSpPr>
        <p:spPr>
          <a:xfrm>
            <a:off x="4663440" y="3360420"/>
            <a:ext cx="2331720" cy="907542"/>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76.5% vs 2%</a:t>
            </a:r>
            <a:endParaRPr lang="en-US" sz="2300" dirty="0"/>
          </a:p>
        </p:txBody>
      </p:sp>
      <p:sp>
        <p:nvSpPr>
          <p:cNvPr id="25" name="Text 23"/>
          <p:cNvSpPr txBox="1"/>
          <p:nvPr/>
        </p:nvSpPr>
        <p:spPr>
          <a:xfrm>
            <a:off x="7086600" y="3424428"/>
            <a:ext cx="4373575" cy="578358"/>
          </a:xfrm>
          <a:prstGeom prst="rect">
            <a:avLst/>
          </a:prstGeom>
          <a:noFill/>
          <a:ln/>
        </p:spPr>
        <p:txBody>
          <a:bodyPr wrap="square" lIns="0" tIns="0" rIns="0" bIns="0" rtlCol="0" anchor="ctr"/>
          <a:lstStyle/>
          <a:p>
            <a:pPr indent="0" marL="0">
              <a:buNone/>
            </a:pPr>
            <a:r>
              <a:rPr lang="en-US" sz="1250" dirty="0">
                <a:solidFill>
                  <a:schemeClr val="tx1"/>
                </a:solidFill>
              </a:rPr>
              <a:t>revised text preferred for fluency (accuracy: 50% vs 16%, one model), in a study of over a million words</a:t>
            </a:r>
            <a:endParaRPr lang="en-US" sz="1250" dirty="0"/>
          </a:p>
        </p:txBody>
      </p:sp>
      <p:sp>
        <p:nvSpPr>
          <p:cNvPr id="26" name="Text 24"/>
          <p:cNvSpPr txBox="1"/>
          <p:nvPr/>
        </p:nvSpPr>
        <p:spPr>
          <a:xfrm>
            <a:off x="7086600" y="3993642"/>
            <a:ext cx="4373575" cy="228600"/>
          </a:xfrm>
          <a:prstGeom prst="rect">
            <a:avLst/>
          </a:prstGeom>
          <a:noFill/>
          <a:ln/>
        </p:spPr>
        <p:txBody>
          <a:bodyPr wrap="square" lIns="0" tIns="0" rIns="0" bIns="0" rtlCol="0" anchor="t"/>
          <a:lstStyle/>
          <a:p>
            <a:pPr indent="0" marL="0">
              <a:buNone/>
            </a:pPr>
            <a:r>
              <a:rPr lang="en-US" sz="950" dirty="0">
                <a:solidFill>
                  <a:schemeClr val="accent3"/>
                </a:solidFill>
              </a:rPr>
              <a:t>Tan et al. 2026</a:t>
            </a:r>
            <a:endParaRPr lang="en-US" sz="950" dirty="0"/>
          </a:p>
        </p:txBody>
      </p:sp>
      <p:sp>
        <p:nvSpPr>
          <p:cNvPr id="27" name="card"/>
          <p:cNvSpPr/>
          <p:nvPr/>
        </p:nvSpPr>
        <p:spPr>
          <a:xfrm>
            <a:off x="4434840" y="4377690"/>
            <a:ext cx="7208215" cy="907542"/>
          </a:xfrm>
          <a:prstGeom prst="roundRect">
            <a:avLst>
              <a:gd name="adj" fmla="val 8060"/>
            </a:avLst>
          </a:prstGeom>
          <a:solidFill>
            <a:schemeClr val="bg2"/>
          </a:solidFill>
          <a:ln/>
        </p:spPr>
      </p:sp>
      <p:sp>
        <p:nvSpPr>
          <p:cNvPr id="28" name="Text 26"/>
          <p:cNvSpPr txBox="1"/>
          <p:nvPr/>
        </p:nvSpPr>
        <p:spPr>
          <a:xfrm>
            <a:off x="4663440" y="4377690"/>
            <a:ext cx="2331720" cy="907542"/>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4 of 4</a:t>
            </a:r>
            <a:endParaRPr lang="en-US" sz="2800" dirty="0"/>
          </a:p>
        </p:txBody>
      </p:sp>
      <p:sp>
        <p:nvSpPr>
          <p:cNvPr id="29" name="Text 27"/>
          <p:cNvSpPr txBox="1"/>
          <p:nvPr/>
        </p:nvSpPr>
        <p:spPr>
          <a:xfrm>
            <a:off x="7086600" y="4441698"/>
            <a:ext cx="4373575" cy="578358"/>
          </a:xfrm>
          <a:prstGeom prst="rect">
            <a:avLst/>
          </a:prstGeom>
          <a:noFill/>
          <a:ln/>
        </p:spPr>
        <p:txBody>
          <a:bodyPr wrap="square" lIns="0" tIns="0" rIns="0" bIns="0" rtlCol="0" anchor="ctr"/>
          <a:lstStyle/>
          <a:p>
            <a:pPr indent="0" marL="0">
              <a:buNone/>
            </a:pPr>
            <a:r>
              <a:rPr lang="en-US" sz="1250" dirty="0">
                <a:solidFill>
                  <a:schemeClr val="tx1"/>
                </a:solidFill>
              </a:rPr>
              <a:t>models did worse with the four-step recipe than with their own first draft, in professional review</a:t>
            </a:r>
            <a:endParaRPr lang="en-US" sz="1250" dirty="0"/>
          </a:p>
        </p:txBody>
      </p:sp>
      <p:sp>
        <p:nvSpPr>
          <p:cNvPr id="30" name="Text 28"/>
          <p:cNvSpPr txBox="1"/>
          <p:nvPr/>
        </p:nvSpPr>
        <p:spPr>
          <a:xfrm>
            <a:off x="7086600" y="5010912"/>
            <a:ext cx="4373575" cy="228600"/>
          </a:xfrm>
          <a:prstGeom prst="rect">
            <a:avLst/>
          </a:prstGeom>
          <a:noFill/>
          <a:ln/>
        </p:spPr>
        <p:txBody>
          <a:bodyPr wrap="square" lIns="0" tIns="0" rIns="0" bIns="0" rtlCol="0" anchor="t"/>
          <a:lstStyle/>
          <a:p>
            <a:pPr indent="0" marL="0">
              <a:buNone/>
            </a:pPr>
            <a:r>
              <a:rPr lang="en-US" sz="950" dirty="0">
                <a:solidFill>
                  <a:schemeClr val="accent3"/>
                </a:solidFill>
              </a:rPr>
              <a:t>Tan et al. 2026 (recipe: Briakou et al., Google 2024)</a:t>
            </a:r>
            <a:endParaRPr lang="en-US" sz="950" dirty="0"/>
          </a:p>
        </p:txBody>
      </p:sp>
      <p:sp>
        <p:nvSpPr>
          <p:cNvPr id="31" name="card"/>
          <p:cNvSpPr/>
          <p:nvPr/>
        </p:nvSpPr>
        <p:spPr>
          <a:xfrm>
            <a:off x="4434840" y="5440680"/>
            <a:ext cx="7208215" cy="594360"/>
          </a:xfrm>
          <a:prstGeom prst="roundRect">
            <a:avLst>
              <a:gd name="adj" fmla="val 12308"/>
            </a:avLst>
          </a:prstGeom>
          <a:solidFill>
            <a:srgbClr val="FBEDEA"/>
          </a:solidFill>
          <a:ln/>
        </p:spPr>
      </p:sp>
      <p:sp>
        <p:nvSpPr>
          <p:cNvPr id="32" name="Text 30"/>
          <p:cNvSpPr txBox="1"/>
          <p:nvPr/>
        </p:nvSpPr>
        <p:spPr>
          <a:xfrm>
            <a:off x="4663440" y="5440680"/>
            <a:ext cx="6751015" cy="594360"/>
          </a:xfrm>
          <a:prstGeom prst="rect">
            <a:avLst/>
          </a:prstGeom>
          <a:noFill/>
          <a:ln/>
        </p:spPr>
        <p:txBody>
          <a:bodyPr wrap="square" lIns="0" tIns="0" rIns="0" bIns="0" rtlCol="0" anchor="ctr"/>
          <a:lstStyle/>
          <a:p>
            <a:pPr indent="0" marL="0">
              <a:buNone/>
            </a:pPr>
            <a:r>
              <a:rPr lang="en-US" sz="1400" b="1" dirty="0">
                <a:solidFill>
                  <a:schemeClr val="accent1"/>
                </a:solidFill>
              </a:rPr>
              <a:t>The catch  </a:t>
            </a:r>
            <a:pPr indent="0" marL="0">
              <a:buNone/>
            </a:pPr>
            <a:r>
              <a:rPr lang="en-US" sz="1400" dirty="0">
                <a:solidFill>
                  <a:schemeClr val="tx1"/>
                </a:solidFill>
              </a:rPr>
              <a:t>“fixing” translations that were already right made them worse, and a weaker model revising a stronger one's work cost about 10 points.</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Teams of agents: readable, expensive, leaky</a:t>
            </a:r>
            <a:endParaRPr lang="en-US" sz="3200" dirty="0"/>
          </a:p>
        </p:txBody>
      </p:sp>
      <p:sp>
        <p:nvSpPr>
          <p:cNvPr id="3" name="card"/>
          <p:cNvSpPr/>
          <p:nvPr/>
        </p:nvSpPr>
        <p:spPr>
          <a:xfrm>
            <a:off x="548640" y="1325880"/>
            <a:ext cx="3611880" cy="4709160"/>
          </a:xfrm>
          <a:prstGeom prst="roundRect">
            <a:avLst>
              <a:gd name="adj" fmla="val 2025"/>
            </a:avLst>
          </a:prstGeom>
          <a:solidFill>
            <a:schemeClr val="tx1"/>
          </a:solidFill>
          <a:ln/>
        </p:spPr>
      </p:sp>
      <p:sp>
        <p:nvSpPr>
          <p:cNvPr id="4" name="Shape 2"/>
          <p:cNvSpPr/>
          <p:nvPr/>
        </p:nvSpPr>
        <p:spPr>
          <a:xfrm>
            <a:off x="822960" y="1600200"/>
            <a:ext cx="502920" cy="502920"/>
          </a:xfrm>
          <a:prstGeom prst="roundRect">
            <a:avLst>
              <a:gd name="adj" fmla="val 18182"/>
            </a:avLst>
          </a:prstGeom>
          <a:solidFill>
            <a:schemeClr val="accent1"/>
          </a:solidFill>
          <a:ln/>
        </p:spPr>
      </p:sp>
      <p:sp>
        <p:nvSpPr>
          <p:cNvPr id="5" name="Text 3"/>
          <p:cNvSpPr txBox="1"/>
          <p:nvPr/>
        </p:nvSpPr>
        <p:spPr>
          <a:xfrm>
            <a:off x="822960" y="16002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5</a:t>
            </a:r>
            <a:endParaRPr lang="en-US" sz="2000" dirty="0"/>
          </a:p>
        </p:txBody>
      </p:sp>
      <p:sp>
        <p:nvSpPr>
          <p:cNvPr id="6" name="Text 4"/>
          <p:cNvSpPr txBox="1"/>
          <p:nvPr/>
        </p:nvSpPr>
        <p:spPr>
          <a:xfrm>
            <a:off x="1463040" y="1572768"/>
            <a:ext cx="2514600" cy="566928"/>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Teams of agents</a:t>
            </a:r>
            <a:endParaRPr lang="en-US" sz="1900" dirty="0"/>
          </a:p>
        </p:txBody>
      </p:sp>
      <p:sp>
        <p:nvSpPr>
          <p:cNvPr id="7" name="Text 5"/>
          <p:cNvSpPr txBox="1"/>
          <p:nvPr/>
        </p:nvSpPr>
        <p:spPr>
          <a:xfrm>
            <a:off x="822960" y="2240280"/>
            <a:ext cx="3063240" cy="365760"/>
          </a:xfrm>
          <a:prstGeom prst="rect">
            <a:avLst/>
          </a:prstGeom>
          <a:noFill/>
          <a:ln/>
        </p:spPr>
        <p:txBody>
          <a:bodyPr wrap="square" lIns="0" tIns="0" rIns="0" bIns="0" rtlCol="0" anchor="t"/>
          <a:lstStyle/>
          <a:p>
            <a:pPr indent="0" marL="0">
              <a:buNone/>
            </a:pPr>
            <a:r>
              <a:rPr lang="en-US" sz="1300" b="1" dirty="0">
                <a:solidFill>
                  <a:srgbClr val="F08A7C"/>
                </a:solidFill>
              </a:rPr>
              <a:t>Translator · editor · reviewer · judge</a:t>
            </a:r>
            <a:endParaRPr lang="en-US" sz="1300" dirty="0"/>
          </a:p>
        </p:txBody>
      </p:sp>
      <p:sp>
        <p:nvSpPr>
          <p:cNvPr id="8" name="Text 6"/>
          <p:cNvSpPr txBox="1"/>
          <p:nvPr/>
        </p:nvSpPr>
        <p:spPr>
          <a:xfrm>
            <a:off x="822960" y="2624328"/>
            <a:ext cx="3063240" cy="3291840"/>
          </a:xfrm>
          <a:prstGeom prst="rect">
            <a:avLst/>
          </a:prstGeom>
          <a:noFill/>
          <a:ln/>
        </p:spPr>
        <p:txBody>
          <a:bodyPr wrap="square" lIns="0" tIns="0" rIns="0" bIns="0" rtlCol="0" anchor="t"/>
          <a:lstStyle/>
          <a:p>
            <a:pPr indent="0" marL="0">
              <a:buNone/>
            </a:pPr>
            <a:r>
              <a:rPr lang="en-US" sz="1400" dirty="0">
                <a:solidFill>
                  <a:schemeClr val="bg1"/>
                </a:solidFill>
              </a:rPr>
              <a:t>Several AI roles pass the work along, like a translation agency: one drafts, others review style, terms and accuracy, a judge decides. Andrew Ng's open-source agent (2024) is the best-known simple version.</a:t>
            </a:r>
            <a:endParaRPr lang="en-US" sz="1400" dirty="0"/>
          </a:p>
        </p:txBody>
      </p:sp>
      <p:sp>
        <p:nvSpPr>
          <p:cNvPr id="9" name="card"/>
          <p:cNvSpPr/>
          <p:nvPr/>
        </p:nvSpPr>
        <p:spPr>
          <a:xfrm>
            <a:off x="4434840" y="1325880"/>
            <a:ext cx="7208215" cy="907542"/>
          </a:xfrm>
          <a:prstGeom prst="roundRect">
            <a:avLst>
              <a:gd name="adj" fmla="val 8060"/>
            </a:avLst>
          </a:prstGeom>
          <a:solidFill>
            <a:schemeClr val="bg2"/>
          </a:solidFill>
          <a:ln/>
        </p:spPr>
      </p:sp>
      <p:sp>
        <p:nvSpPr>
          <p:cNvPr id="10" name="Text 8"/>
          <p:cNvSpPr txBox="1"/>
          <p:nvPr/>
        </p:nvSpPr>
        <p:spPr>
          <a:xfrm>
            <a:off x="4663440" y="1325880"/>
            <a:ext cx="2331720" cy="907542"/>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52% vs 40%</a:t>
            </a:r>
            <a:endParaRPr lang="en-US" sz="2300" dirty="0"/>
          </a:p>
        </p:txBody>
      </p:sp>
      <p:sp>
        <p:nvSpPr>
          <p:cNvPr id="11" name="Text 9"/>
          <p:cNvSpPr txBox="1"/>
          <p:nvPr/>
        </p:nvSpPr>
        <p:spPr>
          <a:xfrm>
            <a:off x="7086600" y="1389888"/>
            <a:ext cx="4373575" cy="578358"/>
          </a:xfrm>
          <a:prstGeom prst="rect">
            <a:avLst/>
          </a:prstGeom>
          <a:noFill/>
          <a:ln/>
        </p:spPr>
        <p:txBody>
          <a:bodyPr wrap="square" lIns="0" tIns="0" rIns="0" bIns="0" rtlCol="0" anchor="ctr"/>
          <a:lstStyle/>
          <a:p>
            <a:pPr indent="0" marL="0">
              <a:buNone/>
            </a:pPr>
            <a:r>
              <a:rPr lang="en-US" sz="1250" dirty="0">
                <a:solidFill>
                  <a:schemeClr val="tx1"/>
                </a:solidFill>
              </a:rPr>
              <a:t>readers preferred an AI “publishing house” over the professional translation of Chinese web novels</a:t>
            </a:r>
            <a:endParaRPr lang="en-US" sz="1250" dirty="0"/>
          </a:p>
        </p:txBody>
      </p:sp>
      <p:sp>
        <p:nvSpPr>
          <p:cNvPr id="12" name="Text 10"/>
          <p:cNvSpPr txBox="1"/>
          <p:nvPr/>
        </p:nvSpPr>
        <p:spPr>
          <a:xfrm>
            <a:off x="7086600" y="1959102"/>
            <a:ext cx="4373575" cy="228600"/>
          </a:xfrm>
          <a:prstGeom prst="rect">
            <a:avLst/>
          </a:prstGeom>
          <a:noFill/>
          <a:ln/>
        </p:spPr>
        <p:txBody>
          <a:bodyPr wrap="square" lIns="0" tIns="0" rIns="0" bIns="0" rtlCol="0" anchor="t"/>
          <a:lstStyle/>
          <a:p>
            <a:pPr indent="0" marL="0">
              <a:buNone/>
            </a:pPr>
            <a:r>
              <a:rPr lang="en-US" sz="950" dirty="0">
                <a:solidFill>
                  <a:schemeClr val="accent3"/>
                </a:solidFill>
              </a:rPr>
              <a:t>TransAgents, Wu et al. 2024</a:t>
            </a:r>
            <a:endParaRPr lang="en-US" sz="950" dirty="0"/>
          </a:p>
        </p:txBody>
      </p:sp>
      <p:sp>
        <p:nvSpPr>
          <p:cNvPr id="13" name="card"/>
          <p:cNvSpPr/>
          <p:nvPr/>
        </p:nvSpPr>
        <p:spPr>
          <a:xfrm>
            <a:off x="4434840" y="2343150"/>
            <a:ext cx="7208215" cy="907542"/>
          </a:xfrm>
          <a:prstGeom prst="roundRect">
            <a:avLst>
              <a:gd name="adj" fmla="val 8060"/>
            </a:avLst>
          </a:prstGeom>
          <a:solidFill>
            <a:schemeClr val="bg2"/>
          </a:solidFill>
          <a:ln/>
        </p:spPr>
      </p:sp>
      <p:sp>
        <p:nvSpPr>
          <p:cNvPr id="14" name="Text 12"/>
          <p:cNvSpPr txBox="1"/>
          <p:nvPr/>
        </p:nvSpPr>
        <p:spPr>
          <a:xfrm>
            <a:off x="4663440" y="2343150"/>
            <a:ext cx="2331720" cy="907542"/>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$487 vs $42</a:t>
            </a:r>
            <a:endParaRPr lang="en-US" sz="2300" dirty="0"/>
          </a:p>
        </p:txBody>
      </p:sp>
      <p:sp>
        <p:nvSpPr>
          <p:cNvPr id="15" name="Text 13"/>
          <p:cNvSpPr txBox="1"/>
          <p:nvPr/>
        </p:nvSpPr>
        <p:spPr>
          <a:xfrm>
            <a:off x="7086600" y="2407158"/>
            <a:ext cx="4373575" cy="578358"/>
          </a:xfrm>
          <a:prstGeom prst="rect">
            <a:avLst/>
          </a:prstGeom>
          <a:noFill/>
          <a:ln/>
        </p:spPr>
        <p:txBody>
          <a:bodyPr wrap="square" lIns="0" tIns="0" rIns="0" bIns="0" rtlCol="0" anchor="ctr"/>
          <a:lstStyle/>
          <a:p>
            <a:pPr indent="0" marL="0">
              <a:buNone/>
            </a:pPr>
            <a:r>
              <a:rPr lang="en-US" sz="1250" dirty="0">
                <a:solidFill>
                  <a:schemeClr val="tx1"/>
                </a:solidFill>
              </a:rPr>
              <a:t>and 13 hours vs 1 for the same books: the agent team vs one GPT-4 pass. It also skipped sentences</a:t>
            </a:r>
            <a:endParaRPr lang="en-US" sz="1250" dirty="0"/>
          </a:p>
        </p:txBody>
      </p:sp>
      <p:sp>
        <p:nvSpPr>
          <p:cNvPr id="16" name="Text 14"/>
          <p:cNvSpPr txBox="1"/>
          <p:nvPr/>
        </p:nvSpPr>
        <p:spPr>
          <a:xfrm>
            <a:off x="7086600" y="2976372"/>
            <a:ext cx="4373575" cy="228600"/>
          </a:xfrm>
          <a:prstGeom prst="rect">
            <a:avLst/>
          </a:prstGeom>
          <a:noFill/>
          <a:ln/>
        </p:spPr>
        <p:txBody>
          <a:bodyPr wrap="square" lIns="0" tIns="0" rIns="0" bIns="0" rtlCol="0" anchor="t"/>
          <a:lstStyle/>
          <a:p>
            <a:pPr indent="0" marL="0">
              <a:buNone/>
            </a:pPr>
            <a:r>
              <a:rPr lang="en-US" sz="950" dirty="0">
                <a:solidFill>
                  <a:schemeClr val="accent3"/>
                </a:solidFill>
              </a:rPr>
              <a:t>TransAgents, Wu et al. 2024</a:t>
            </a:r>
            <a:endParaRPr lang="en-US" sz="950" dirty="0"/>
          </a:p>
        </p:txBody>
      </p:sp>
      <p:sp>
        <p:nvSpPr>
          <p:cNvPr id="17" name="card"/>
          <p:cNvSpPr/>
          <p:nvPr/>
        </p:nvSpPr>
        <p:spPr>
          <a:xfrm>
            <a:off x="4434840" y="3360420"/>
            <a:ext cx="7208215" cy="907542"/>
          </a:xfrm>
          <a:prstGeom prst="roundRect">
            <a:avLst>
              <a:gd name="adj" fmla="val 8060"/>
            </a:avLst>
          </a:prstGeom>
          <a:solidFill>
            <a:schemeClr val="bg2"/>
          </a:solidFill>
          <a:ln/>
        </p:spPr>
      </p:sp>
      <p:sp>
        <p:nvSpPr>
          <p:cNvPr id="18" name="Text 16"/>
          <p:cNvSpPr txBox="1"/>
          <p:nvPr/>
        </p:nvSpPr>
        <p:spPr>
          <a:xfrm>
            <a:off x="4663440" y="3360420"/>
            <a:ext cx="2331720" cy="907542"/>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 5× tokens</a:t>
            </a:r>
            <a:endParaRPr lang="en-US" sz="2300" dirty="0"/>
          </a:p>
        </p:txBody>
      </p:sp>
      <p:sp>
        <p:nvSpPr>
          <p:cNvPr id="19" name="Text 17"/>
          <p:cNvSpPr txBox="1"/>
          <p:nvPr/>
        </p:nvSpPr>
        <p:spPr>
          <a:xfrm>
            <a:off x="7086600" y="3424428"/>
            <a:ext cx="4373575" cy="578358"/>
          </a:xfrm>
          <a:prstGeom prst="rect">
            <a:avLst/>
          </a:prstGeom>
          <a:noFill/>
          <a:ln/>
        </p:spPr>
        <p:txBody>
          <a:bodyPr wrap="square" lIns="0" tIns="0" rIns="0" bIns="0" rtlCol="0" anchor="ctr"/>
          <a:lstStyle/>
          <a:p>
            <a:pPr indent="0" marL="0">
              <a:buNone/>
            </a:pPr>
            <a:r>
              <a:rPr lang="en-US" sz="1250" dirty="0">
                <a:solidFill>
                  <a:schemeClr val="tx1"/>
                </a:solidFill>
              </a:rPr>
              <a:t>Andrew Ng's translate–reflect–improve agent vs one GPT-4o call; rated about level with Google Translate (one small study)</a:t>
            </a:r>
            <a:endParaRPr lang="en-US" sz="1250" dirty="0"/>
          </a:p>
        </p:txBody>
      </p:sp>
      <p:sp>
        <p:nvSpPr>
          <p:cNvPr id="20" name="Text 18"/>
          <p:cNvSpPr txBox="1"/>
          <p:nvPr/>
        </p:nvSpPr>
        <p:spPr>
          <a:xfrm>
            <a:off x="7086600" y="3993642"/>
            <a:ext cx="4373575" cy="228600"/>
          </a:xfrm>
          <a:prstGeom prst="rect">
            <a:avLst/>
          </a:prstGeom>
          <a:noFill/>
          <a:ln/>
        </p:spPr>
        <p:txBody>
          <a:bodyPr wrap="square" lIns="0" tIns="0" rIns="0" bIns="0" rtlCol="0" anchor="t"/>
          <a:lstStyle/>
          <a:p>
            <a:pPr indent="0" marL="0">
              <a:buNone/>
            </a:pPr>
            <a:r>
              <a:rPr lang="en-US" sz="950" dirty="0">
                <a:solidFill>
                  <a:schemeClr val="accent3"/>
                </a:solidFill>
              </a:rPr>
              <a:t>Briva-Iglesias &amp; Dogru 2025</a:t>
            </a:r>
            <a:endParaRPr lang="en-US" sz="950" dirty="0"/>
          </a:p>
        </p:txBody>
      </p:sp>
      <p:sp>
        <p:nvSpPr>
          <p:cNvPr id="21" name="card"/>
          <p:cNvSpPr/>
          <p:nvPr/>
        </p:nvSpPr>
        <p:spPr>
          <a:xfrm>
            <a:off x="4434840" y="4377690"/>
            <a:ext cx="7208215" cy="907542"/>
          </a:xfrm>
          <a:prstGeom prst="roundRect">
            <a:avLst>
              <a:gd name="adj" fmla="val 8060"/>
            </a:avLst>
          </a:prstGeom>
          <a:solidFill>
            <a:schemeClr val="bg2"/>
          </a:solidFill>
          <a:ln/>
        </p:spPr>
      </p:sp>
      <p:sp>
        <p:nvSpPr>
          <p:cNvPr id="22" name="Text 20"/>
          <p:cNvSpPr txBox="1"/>
          <p:nvPr/>
        </p:nvSpPr>
        <p:spPr>
          <a:xfrm>
            <a:off x="4663440" y="4377690"/>
            <a:ext cx="2331720" cy="907542"/>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68% · 93%</a:t>
            </a:r>
            <a:endParaRPr lang="en-US" sz="2300" dirty="0"/>
          </a:p>
        </p:txBody>
      </p:sp>
      <p:sp>
        <p:nvSpPr>
          <p:cNvPr id="23" name="Text 21"/>
          <p:cNvSpPr txBox="1"/>
          <p:nvPr/>
        </p:nvSpPr>
        <p:spPr>
          <a:xfrm>
            <a:off x="7086600" y="4441698"/>
            <a:ext cx="4373575" cy="578358"/>
          </a:xfrm>
          <a:prstGeom prst="rect">
            <a:avLst/>
          </a:prstGeom>
          <a:noFill/>
          <a:ln/>
        </p:spPr>
        <p:txBody>
          <a:bodyPr wrap="square" lIns="0" tIns="0" rIns="0" bIns="0" rtlCol="0" anchor="ctr"/>
          <a:lstStyle/>
          <a:p>
            <a:pPr indent="0" marL="0">
              <a:buNone/>
            </a:pPr>
            <a:r>
              <a:rPr lang="en-US" sz="1250" dirty="0">
                <a:solidFill>
                  <a:schemeClr val="tx1"/>
                </a:solidFill>
              </a:rPr>
              <a:t>readers preferring the human translation to a 2026 agent pipeline: into English · into other languages</a:t>
            </a:r>
            <a:endParaRPr lang="en-US" sz="1250" dirty="0"/>
          </a:p>
        </p:txBody>
      </p:sp>
      <p:sp>
        <p:nvSpPr>
          <p:cNvPr id="24" name="Text 22"/>
          <p:cNvSpPr txBox="1"/>
          <p:nvPr/>
        </p:nvSpPr>
        <p:spPr>
          <a:xfrm>
            <a:off x="7086600" y="5010912"/>
            <a:ext cx="4373575" cy="228600"/>
          </a:xfrm>
          <a:prstGeom prst="rect">
            <a:avLst/>
          </a:prstGeom>
          <a:noFill/>
          <a:ln/>
        </p:spPr>
        <p:txBody>
          <a:bodyPr wrap="square" lIns="0" tIns="0" rIns="0" bIns="0" rtlCol="0" anchor="t"/>
          <a:lstStyle/>
          <a:p>
            <a:pPr indent="0" marL="0">
              <a:buNone/>
            </a:pPr>
            <a:r>
              <a:rPr lang="en-US" sz="950" dirty="0">
                <a:solidFill>
                  <a:schemeClr val="accent3"/>
                </a:solidFill>
              </a:rPr>
              <a:t>Ferstler et al. 2026</a:t>
            </a:r>
            <a:endParaRPr lang="en-US" sz="950" dirty="0"/>
          </a:p>
        </p:txBody>
      </p:sp>
      <p:sp>
        <p:nvSpPr>
          <p:cNvPr id="25" name="card"/>
          <p:cNvSpPr/>
          <p:nvPr/>
        </p:nvSpPr>
        <p:spPr>
          <a:xfrm>
            <a:off x="4434840" y="5440680"/>
            <a:ext cx="7208215" cy="594360"/>
          </a:xfrm>
          <a:prstGeom prst="roundRect">
            <a:avLst>
              <a:gd name="adj" fmla="val 12308"/>
            </a:avLst>
          </a:prstGeom>
          <a:solidFill>
            <a:srgbClr val="FBEDEA"/>
          </a:solidFill>
          <a:ln/>
        </p:spPr>
      </p:sp>
      <p:sp>
        <p:nvSpPr>
          <p:cNvPr id="26" name="Text 24"/>
          <p:cNvSpPr txBox="1"/>
          <p:nvPr/>
        </p:nvSpPr>
        <p:spPr>
          <a:xfrm>
            <a:off x="4663440" y="5440680"/>
            <a:ext cx="6751015" cy="594360"/>
          </a:xfrm>
          <a:prstGeom prst="rect">
            <a:avLst/>
          </a:prstGeom>
          <a:noFill/>
          <a:ln/>
        </p:spPr>
        <p:txBody>
          <a:bodyPr wrap="square" lIns="0" tIns="0" rIns="0" bIns="0" rtlCol="0" anchor="ctr"/>
          <a:lstStyle/>
          <a:p>
            <a:pPr indent="0" marL="0">
              <a:buNone/>
            </a:pPr>
            <a:r>
              <a:rPr lang="en-US" sz="1400" b="1" dirty="0">
                <a:solidFill>
                  <a:schemeClr val="accent1"/>
                </a:solidFill>
              </a:rPr>
              <a:t>The catch  </a:t>
            </a:r>
            <a:pPr indent="0" marL="0">
              <a:buNone/>
            </a:pPr>
            <a:r>
              <a:rPr lang="en-US" sz="1400" dirty="0">
                <a:solidFill>
                  <a:schemeClr val="tx1"/>
                </a:solidFill>
              </a:rPr>
              <a:t>more agents isn't automatically better: 5–15× the tokens, dropped content, worse on short texts, and AI judges that favour their own model.</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Let a score choose, or let it point</a:t>
            </a:r>
            <a:endParaRPr lang="en-US" sz="3200" dirty="0"/>
          </a:p>
        </p:txBody>
      </p:sp>
      <p:sp>
        <p:nvSpPr>
          <p:cNvPr id="3" name="card"/>
          <p:cNvSpPr/>
          <p:nvPr/>
        </p:nvSpPr>
        <p:spPr>
          <a:xfrm>
            <a:off x="548640" y="1325880"/>
            <a:ext cx="3611880" cy="4709160"/>
          </a:xfrm>
          <a:prstGeom prst="roundRect">
            <a:avLst>
              <a:gd name="adj" fmla="val 2025"/>
            </a:avLst>
          </a:prstGeom>
          <a:solidFill>
            <a:schemeClr val="tx1"/>
          </a:solidFill>
          <a:ln/>
        </p:spPr>
      </p:sp>
      <p:sp>
        <p:nvSpPr>
          <p:cNvPr id="4" name="Shape 2"/>
          <p:cNvSpPr/>
          <p:nvPr/>
        </p:nvSpPr>
        <p:spPr>
          <a:xfrm>
            <a:off x="822960" y="1600200"/>
            <a:ext cx="502920" cy="502920"/>
          </a:xfrm>
          <a:prstGeom prst="roundRect">
            <a:avLst>
              <a:gd name="adj" fmla="val 18182"/>
            </a:avLst>
          </a:prstGeom>
          <a:solidFill>
            <a:schemeClr val="accent1"/>
          </a:solidFill>
          <a:ln/>
        </p:spPr>
      </p:sp>
      <p:sp>
        <p:nvSpPr>
          <p:cNvPr id="5" name="Text 3"/>
          <p:cNvSpPr txBox="1"/>
          <p:nvPr/>
        </p:nvSpPr>
        <p:spPr>
          <a:xfrm>
            <a:off x="822960" y="16002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6</a:t>
            </a:r>
            <a:endParaRPr lang="en-US" sz="2000" dirty="0"/>
          </a:p>
        </p:txBody>
      </p:sp>
      <p:sp>
        <p:nvSpPr>
          <p:cNvPr id="6" name="Text 4"/>
          <p:cNvSpPr txBox="1"/>
          <p:nvPr/>
        </p:nvSpPr>
        <p:spPr>
          <a:xfrm>
            <a:off x="1463040" y="1572768"/>
            <a:ext cx="2514600" cy="566928"/>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Score and select</a:t>
            </a:r>
            <a:endParaRPr lang="en-US" sz="1900" dirty="0"/>
          </a:p>
        </p:txBody>
      </p:sp>
      <p:sp>
        <p:nvSpPr>
          <p:cNvPr id="7" name="Text 5"/>
          <p:cNvSpPr txBox="1"/>
          <p:nvPr/>
        </p:nvSpPr>
        <p:spPr>
          <a:xfrm>
            <a:off x="822960" y="2240280"/>
            <a:ext cx="3063240" cy="365760"/>
          </a:xfrm>
          <a:prstGeom prst="rect">
            <a:avLst/>
          </a:prstGeom>
          <a:noFill/>
          <a:ln/>
        </p:spPr>
        <p:txBody>
          <a:bodyPr wrap="square" lIns="0" tIns="0" rIns="0" bIns="0" rtlCol="0" anchor="t"/>
          <a:lstStyle/>
          <a:p>
            <a:pPr indent="0" marL="0">
              <a:buNone/>
            </a:pPr>
            <a:r>
              <a:rPr lang="en-US" sz="1300" b="1" dirty="0">
                <a:solidFill>
                  <a:srgbClr val="F08A7C"/>
                </a:solidFill>
              </a:rPr>
              <a:t>Many versions → score → pick or flag</a:t>
            </a:r>
            <a:endParaRPr lang="en-US" sz="1300" dirty="0"/>
          </a:p>
        </p:txBody>
      </p:sp>
      <p:sp>
        <p:nvSpPr>
          <p:cNvPr id="8" name="Text 6"/>
          <p:cNvSpPr txBox="1"/>
          <p:nvPr/>
        </p:nvSpPr>
        <p:spPr>
          <a:xfrm>
            <a:off x="822960" y="2624328"/>
            <a:ext cx="3063240" cy="3291840"/>
          </a:xfrm>
          <a:prstGeom prst="rect">
            <a:avLst/>
          </a:prstGeom>
          <a:noFill/>
          <a:ln/>
        </p:spPr>
        <p:txBody>
          <a:bodyPr wrap="square" lIns="0" tIns="0" rIns="0" bIns="0" rtlCol="0" anchor="t"/>
          <a:lstStyle/>
          <a:p>
            <a:pPr indent="0" marL="0">
              <a:buNone/>
            </a:pPr>
            <a:r>
              <a:rPr lang="en-US" sz="1400" dirty="0">
                <a:solidFill>
                  <a:schemeClr val="bg1"/>
                </a:solidFill>
              </a:rPr>
              <a:t>Generate several translations and keep the one a quality metric prefers, or score each sentence to show reviewers where to look.</a:t>
            </a:r>
            <a:endParaRPr lang="en-US" sz="1400" dirty="0"/>
          </a:p>
        </p:txBody>
      </p:sp>
      <p:sp>
        <p:nvSpPr>
          <p:cNvPr id="9" name="card"/>
          <p:cNvSpPr/>
          <p:nvPr/>
        </p:nvSpPr>
        <p:spPr>
          <a:xfrm>
            <a:off x="4434840" y="1325880"/>
            <a:ext cx="7208215" cy="907542"/>
          </a:xfrm>
          <a:prstGeom prst="roundRect">
            <a:avLst>
              <a:gd name="adj" fmla="val 8060"/>
            </a:avLst>
          </a:prstGeom>
          <a:solidFill>
            <a:schemeClr val="bg2"/>
          </a:solidFill>
          <a:ln/>
        </p:spPr>
      </p:sp>
      <p:sp>
        <p:nvSpPr>
          <p:cNvPr id="10" name="Text 8"/>
          <p:cNvSpPr txBox="1"/>
          <p:nvPr/>
        </p:nvSpPr>
        <p:spPr>
          <a:xfrm>
            <a:off x="4663440" y="1325880"/>
            <a:ext cx="2331720" cy="907542"/>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−23%</a:t>
            </a:r>
            <a:endParaRPr lang="en-US" sz="2800" dirty="0"/>
          </a:p>
        </p:txBody>
      </p:sp>
      <p:sp>
        <p:nvSpPr>
          <p:cNvPr id="11" name="Text 9"/>
          <p:cNvSpPr txBox="1"/>
          <p:nvPr/>
        </p:nvSpPr>
        <p:spPr>
          <a:xfrm>
            <a:off x="7086600" y="1389888"/>
            <a:ext cx="4373575" cy="578358"/>
          </a:xfrm>
          <a:prstGeom prst="rect">
            <a:avLst/>
          </a:prstGeom>
          <a:noFill/>
          <a:ln/>
        </p:spPr>
        <p:txBody>
          <a:bodyPr wrap="square" lIns="0" tIns="0" rIns="0" bIns="0" rtlCol="0" anchor="ctr"/>
          <a:lstStyle/>
          <a:p>
            <a:pPr indent="0" marL="0">
              <a:buNone/>
            </a:pPr>
            <a:r>
              <a:rPr lang="en-US" sz="1250" dirty="0">
                <a:solidFill>
                  <a:schemeClr val="tx1"/>
                </a:solidFill>
              </a:rPr>
              <a:t>errors in professional review when many versions were generated and a metric picked the best (English → German)</a:t>
            </a:r>
            <a:endParaRPr lang="en-US" sz="1250" dirty="0"/>
          </a:p>
        </p:txBody>
      </p:sp>
      <p:sp>
        <p:nvSpPr>
          <p:cNvPr id="12" name="Text 10"/>
          <p:cNvSpPr txBox="1"/>
          <p:nvPr/>
        </p:nvSpPr>
        <p:spPr>
          <a:xfrm>
            <a:off x="7086600" y="1959102"/>
            <a:ext cx="4373575" cy="228600"/>
          </a:xfrm>
          <a:prstGeom prst="rect">
            <a:avLst/>
          </a:prstGeom>
          <a:noFill/>
          <a:ln/>
        </p:spPr>
        <p:txBody>
          <a:bodyPr wrap="square" lIns="0" tIns="0" rIns="0" bIns="0" rtlCol="0" anchor="t"/>
          <a:lstStyle/>
          <a:p>
            <a:pPr indent="0" marL="0">
              <a:buNone/>
            </a:pPr>
            <a:r>
              <a:rPr lang="en-US" sz="950" dirty="0">
                <a:solidFill>
                  <a:schemeClr val="accent3"/>
                </a:solidFill>
              </a:rPr>
              <a:t>Freitag et al. (Google), TACL 2022</a:t>
            </a:r>
            <a:endParaRPr lang="en-US" sz="950" dirty="0"/>
          </a:p>
        </p:txBody>
      </p:sp>
      <p:sp>
        <p:nvSpPr>
          <p:cNvPr id="13" name="card"/>
          <p:cNvSpPr/>
          <p:nvPr/>
        </p:nvSpPr>
        <p:spPr>
          <a:xfrm>
            <a:off x="4434840" y="2343150"/>
            <a:ext cx="7208215" cy="907542"/>
          </a:xfrm>
          <a:prstGeom prst="roundRect">
            <a:avLst>
              <a:gd name="adj" fmla="val 8060"/>
            </a:avLst>
          </a:prstGeom>
          <a:solidFill>
            <a:schemeClr val="bg2"/>
          </a:solidFill>
          <a:ln/>
        </p:spPr>
      </p:sp>
      <p:sp>
        <p:nvSpPr>
          <p:cNvPr id="14" name="Text 12"/>
          <p:cNvSpPr txBox="1"/>
          <p:nvPr/>
        </p:nvSpPr>
        <p:spPr>
          <a:xfrm>
            <a:off x="4663440" y="2343150"/>
            <a:ext cx="2331720" cy="907542"/>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49 → 80</a:t>
            </a:r>
            <a:endParaRPr lang="en-US" sz="2800" dirty="0"/>
          </a:p>
        </p:txBody>
      </p:sp>
      <p:sp>
        <p:nvSpPr>
          <p:cNvPr id="15" name="Text 13"/>
          <p:cNvSpPr txBox="1"/>
          <p:nvPr/>
        </p:nvSpPr>
        <p:spPr>
          <a:xfrm>
            <a:off x="7086600" y="2407158"/>
            <a:ext cx="4373575" cy="578358"/>
          </a:xfrm>
          <a:prstGeom prst="rect">
            <a:avLst/>
          </a:prstGeom>
          <a:noFill/>
          <a:ln/>
        </p:spPr>
        <p:txBody>
          <a:bodyPr wrap="square" lIns="0" tIns="0" rIns="0" bIns="0" rtlCol="0" anchor="ctr"/>
          <a:lstStyle/>
          <a:p>
            <a:pPr indent="0" marL="0">
              <a:buNone/>
            </a:pPr>
            <a:r>
              <a:rPr lang="en-US" sz="1250" dirty="0">
                <a:solidFill>
                  <a:schemeClr val="tx1"/>
                </a:solidFill>
              </a:rPr>
              <a:t>critical errors when the pick was made by a quality-estimation score alone (English → Russian)</a:t>
            </a:r>
            <a:endParaRPr lang="en-US" sz="1250" dirty="0"/>
          </a:p>
        </p:txBody>
      </p:sp>
      <p:sp>
        <p:nvSpPr>
          <p:cNvPr id="16" name="Text 14"/>
          <p:cNvSpPr txBox="1"/>
          <p:nvPr/>
        </p:nvSpPr>
        <p:spPr>
          <a:xfrm>
            <a:off x="7086600" y="2976372"/>
            <a:ext cx="4373575" cy="228600"/>
          </a:xfrm>
          <a:prstGeom prst="rect">
            <a:avLst/>
          </a:prstGeom>
          <a:noFill/>
          <a:ln/>
        </p:spPr>
        <p:txBody>
          <a:bodyPr wrap="square" lIns="0" tIns="0" rIns="0" bIns="0" rtlCol="0" anchor="t"/>
          <a:lstStyle/>
          <a:p>
            <a:pPr indent="0" marL="0">
              <a:buNone/>
            </a:pPr>
            <a:r>
              <a:rPr lang="en-US" sz="950" dirty="0">
                <a:solidFill>
                  <a:schemeClr val="accent3"/>
                </a:solidFill>
              </a:rPr>
              <a:t>Fernandes et al., NAACL 2022</a:t>
            </a:r>
            <a:endParaRPr lang="en-US" sz="950" dirty="0"/>
          </a:p>
        </p:txBody>
      </p:sp>
      <p:sp>
        <p:nvSpPr>
          <p:cNvPr id="17" name="card"/>
          <p:cNvSpPr/>
          <p:nvPr/>
        </p:nvSpPr>
        <p:spPr>
          <a:xfrm>
            <a:off x="4434840" y="3360420"/>
            <a:ext cx="7208215" cy="907542"/>
          </a:xfrm>
          <a:prstGeom prst="roundRect">
            <a:avLst>
              <a:gd name="adj" fmla="val 8060"/>
            </a:avLst>
          </a:prstGeom>
          <a:solidFill>
            <a:schemeClr val="bg2"/>
          </a:solidFill>
          <a:ln/>
        </p:spPr>
      </p:sp>
      <p:sp>
        <p:nvSpPr>
          <p:cNvPr id="18" name="Text 16"/>
          <p:cNvSpPr txBox="1"/>
          <p:nvPr/>
        </p:nvSpPr>
        <p:spPr>
          <a:xfrm>
            <a:off x="4663440" y="3360420"/>
            <a:ext cx="2331720" cy="907542"/>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71 s → 31 s</a:t>
            </a:r>
            <a:endParaRPr lang="en-US" sz="2300" dirty="0"/>
          </a:p>
        </p:txBody>
      </p:sp>
      <p:sp>
        <p:nvSpPr>
          <p:cNvPr id="19" name="Text 17"/>
          <p:cNvSpPr txBox="1"/>
          <p:nvPr/>
        </p:nvSpPr>
        <p:spPr>
          <a:xfrm>
            <a:off x="7086600" y="3424428"/>
            <a:ext cx="4373575" cy="578358"/>
          </a:xfrm>
          <a:prstGeom prst="rect">
            <a:avLst/>
          </a:prstGeom>
          <a:noFill/>
          <a:ln/>
        </p:spPr>
        <p:txBody>
          <a:bodyPr wrap="square" lIns="0" tIns="0" rIns="0" bIns="0" rtlCol="0" anchor="ctr"/>
          <a:lstStyle/>
          <a:p>
            <a:pPr indent="0" marL="0">
              <a:buNone/>
            </a:pPr>
            <a:r>
              <a:rPr lang="en-US" sz="1250" dirty="0">
                <a:solidFill>
                  <a:schemeClr val="tx1"/>
                </a:solidFill>
              </a:rPr>
              <a:t>reviewer time per error found when AI pre-marks likely errors; about 25% of review could be skipped</a:t>
            </a:r>
            <a:endParaRPr lang="en-US" sz="1250" dirty="0"/>
          </a:p>
        </p:txBody>
      </p:sp>
      <p:sp>
        <p:nvSpPr>
          <p:cNvPr id="20" name="Text 18"/>
          <p:cNvSpPr txBox="1"/>
          <p:nvPr/>
        </p:nvSpPr>
        <p:spPr>
          <a:xfrm>
            <a:off x="7086600" y="3993642"/>
            <a:ext cx="4373575" cy="228600"/>
          </a:xfrm>
          <a:prstGeom prst="rect">
            <a:avLst/>
          </a:prstGeom>
          <a:noFill/>
          <a:ln/>
        </p:spPr>
        <p:txBody>
          <a:bodyPr wrap="square" lIns="0" tIns="0" rIns="0" bIns="0" rtlCol="0" anchor="t"/>
          <a:lstStyle/>
          <a:p>
            <a:pPr indent="0" marL="0">
              <a:buNone/>
            </a:pPr>
            <a:r>
              <a:rPr lang="en-US" sz="950" dirty="0">
                <a:solidFill>
                  <a:schemeClr val="accent3"/>
                </a:solidFill>
              </a:rPr>
              <a:t>Zouhar, Kocmi &amp; Sachan, 2025</a:t>
            </a:r>
            <a:endParaRPr lang="en-US" sz="950" dirty="0"/>
          </a:p>
        </p:txBody>
      </p:sp>
      <p:sp>
        <p:nvSpPr>
          <p:cNvPr id="21" name="card"/>
          <p:cNvSpPr/>
          <p:nvPr/>
        </p:nvSpPr>
        <p:spPr>
          <a:xfrm>
            <a:off x="4434840" y="4377690"/>
            <a:ext cx="7208215" cy="907542"/>
          </a:xfrm>
          <a:prstGeom prst="roundRect">
            <a:avLst>
              <a:gd name="adj" fmla="val 8060"/>
            </a:avLst>
          </a:prstGeom>
          <a:solidFill>
            <a:schemeClr val="bg2"/>
          </a:solidFill>
          <a:ln/>
        </p:spPr>
      </p:sp>
      <p:sp>
        <p:nvSpPr>
          <p:cNvPr id="22" name="Text 20"/>
          <p:cNvSpPr txBox="1"/>
          <p:nvPr/>
        </p:nvSpPr>
        <p:spPr>
          <a:xfrm>
            <a:off x="4663440" y="4377690"/>
            <a:ext cx="2331720" cy="907542"/>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Auto #1</a:t>
            </a:r>
            <a:endParaRPr lang="en-US" sz="2800" dirty="0"/>
          </a:p>
        </p:txBody>
      </p:sp>
      <p:sp>
        <p:nvSpPr>
          <p:cNvPr id="23" name="Text 21"/>
          <p:cNvSpPr txBox="1"/>
          <p:nvPr/>
        </p:nvSpPr>
        <p:spPr>
          <a:xfrm>
            <a:off x="7086600" y="4441698"/>
            <a:ext cx="4373575" cy="578358"/>
          </a:xfrm>
          <a:prstGeom prst="rect">
            <a:avLst/>
          </a:prstGeom>
          <a:noFill/>
          <a:ln/>
        </p:spPr>
        <p:txBody>
          <a:bodyPr wrap="square" lIns="0" tIns="0" rIns="0" bIns="0" rtlCol="0" anchor="ctr"/>
          <a:lstStyle/>
          <a:p>
            <a:pPr indent="0" marL="0">
              <a:buNone/>
            </a:pPr>
            <a:r>
              <a:rPr lang="en-US" sz="1250" dirty="0">
                <a:solidFill>
                  <a:schemeClr val="tx1"/>
                </a:solidFill>
              </a:rPr>
              <a:t>in 2025, the system that topped every automatic leaderboard ranked far lower with the human judges</a:t>
            </a:r>
            <a:endParaRPr lang="en-US" sz="1250" dirty="0"/>
          </a:p>
        </p:txBody>
      </p:sp>
      <p:sp>
        <p:nvSpPr>
          <p:cNvPr id="24" name="Text 22"/>
          <p:cNvSpPr txBox="1"/>
          <p:nvPr/>
        </p:nvSpPr>
        <p:spPr>
          <a:xfrm>
            <a:off x="7086600" y="5010912"/>
            <a:ext cx="4373575" cy="228600"/>
          </a:xfrm>
          <a:prstGeom prst="rect">
            <a:avLst/>
          </a:prstGeom>
          <a:noFill/>
          <a:ln/>
        </p:spPr>
        <p:txBody>
          <a:bodyPr wrap="square" lIns="0" tIns="0" rIns="0" bIns="0" rtlCol="0" anchor="t"/>
          <a:lstStyle/>
          <a:p>
            <a:pPr indent="0" marL="0">
              <a:buNone/>
            </a:pPr>
            <a:r>
              <a:rPr lang="en-US" sz="950" dirty="0">
                <a:solidFill>
                  <a:schemeClr val="accent3"/>
                </a:solidFill>
              </a:rPr>
              <a:t>WMT25 findings</a:t>
            </a:r>
            <a:endParaRPr lang="en-US" sz="950" dirty="0"/>
          </a:p>
        </p:txBody>
      </p:sp>
      <p:sp>
        <p:nvSpPr>
          <p:cNvPr id="25" name="card"/>
          <p:cNvSpPr/>
          <p:nvPr/>
        </p:nvSpPr>
        <p:spPr>
          <a:xfrm>
            <a:off x="4434840" y="5440680"/>
            <a:ext cx="7208215" cy="594360"/>
          </a:xfrm>
          <a:prstGeom prst="roundRect">
            <a:avLst>
              <a:gd name="adj" fmla="val 12308"/>
            </a:avLst>
          </a:prstGeom>
          <a:solidFill>
            <a:srgbClr val="FBEDEA"/>
          </a:solidFill>
          <a:ln/>
        </p:spPr>
      </p:sp>
      <p:sp>
        <p:nvSpPr>
          <p:cNvPr id="26" name="Text 24"/>
          <p:cNvSpPr txBox="1"/>
          <p:nvPr/>
        </p:nvSpPr>
        <p:spPr>
          <a:xfrm>
            <a:off x="4663440" y="5440680"/>
            <a:ext cx="6751015" cy="594360"/>
          </a:xfrm>
          <a:prstGeom prst="rect">
            <a:avLst/>
          </a:prstGeom>
          <a:noFill/>
          <a:ln/>
        </p:spPr>
        <p:txBody>
          <a:bodyPr wrap="square" lIns="0" tIns="0" rIns="0" bIns="0" rtlCol="0" anchor="ctr"/>
          <a:lstStyle/>
          <a:p>
            <a:pPr indent="0" marL="0">
              <a:buNone/>
            </a:pPr>
            <a:r>
              <a:rPr lang="en-US" sz="1400" b="1" dirty="0">
                <a:solidFill>
                  <a:schemeClr val="accent1"/>
                </a:solidFill>
              </a:rPr>
              <a:t>The catch  </a:t>
            </a:r>
            <a:pPr indent="0" marL="0">
              <a:buNone/>
            </a:pPr>
            <a:r>
              <a:rPr lang="en-US" sz="1400" dirty="0">
                <a:solidFill>
                  <a:schemeClr val="tx1"/>
                </a:solidFill>
              </a:rPr>
              <a:t>optimise the score and you get the score, not the translation. Scores are good at pointing people at problems, bad at deciding.</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Ask the human</a:t>
            </a:r>
            <a:endParaRPr lang="en-US" sz="3200" dirty="0"/>
          </a:p>
        </p:txBody>
      </p:sp>
      <p:sp>
        <p:nvSpPr>
          <p:cNvPr id="3" name="card"/>
          <p:cNvSpPr/>
          <p:nvPr/>
        </p:nvSpPr>
        <p:spPr>
          <a:xfrm>
            <a:off x="548640" y="1325880"/>
            <a:ext cx="3611880" cy="4709160"/>
          </a:xfrm>
          <a:prstGeom prst="roundRect">
            <a:avLst>
              <a:gd name="adj" fmla="val 2025"/>
            </a:avLst>
          </a:prstGeom>
          <a:solidFill>
            <a:schemeClr val="tx1"/>
          </a:solidFill>
          <a:ln/>
        </p:spPr>
      </p:sp>
      <p:sp>
        <p:nvSpPr>
          <p:cNvPr id="4" name="Shape 2"/>
          <p:cNvSpPr/>
          <p:nvPr/>
        </p:nvSpPr>
        <p:spPr>
          <a:xfrm>
            <a:off x="822960" y="1600200"/>
            <a:ext cx="502920" cy="502920"/>
          </a:xfrm>
          <a:prstGeom prst="roundRect">
            <a:avLst>
              <a:gd name="adj" fmla="val 18182"/>
            </a:avLst>
          </a:prstGeom>
          <a:solidFill>
            <a:schemeClr val="accent1"/>
          </a:solidFill>
          <a:ln/>
        </p:spPr>
      </p:sp>
      <p:sp>
        <p:nvSpPr>
          <p:cNvPr id="5" name="Text 3"/>
          <p:cNvSpPr txBox="1"/>
          <p:nvPr/>
        </p:nvSpPr>
        <p:spPr>
          <a:xfrm>
            <a:off x="822960" y="16002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7</a:t>
            </a:r>
            <a:endParaRPr lang="en-US" sz="2000" dirty="0"/>
          </a:p>
        </p:txBody>
      </p:sp>
      <p:sp>
        <p:nvSpPr>
          <p:cNvPr id="6" name="Text 4"/>
          <p:cNvSpPr txBox="1"/>
          <p:nvPr/>
        </p:nvSpPr>
        <p:spPr>
          <a:xfrm>
            <a:off x="1463040" y="1572768"/>
            <a:ext cx="2514600" cy="566928"/>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Ask the human</a:t>
            </a:r>
            <a:endParaRPr lang="en-US" sz="1900" dirty="0"/>
          </a:p>
        </p:txBody>
      </p:sp>
      <p:sp>
        <p:nvSpPr>
          <p:cNvPr id="7" name="Text 5"/>
          <p:cNvSpPr txBox="1"/>
          <p:nvPr/>
        </p:nvSpPr>
        <p:spPr>
          <a:xfrm>
            <a:off x="822960" y="2240280"/>
            <a:ext cx="3063240" cy="365760"/>
          </a:xfrm>
          <a:prstGeom prst="rect">
            <a:avLst/>
          </a:prstGeom>
          <a:noFill/>
          <a:ln/>
        </p:spPr>
        <p:txBody>
          <a:bodyPr wrap="square" lIns="0" tIns="0" rIns="0" bIns="0" rtlCol="0" anchor="t"/>
          <a:lstStyle/>
          <a:p>
            <a:pPr indent="0" marL="0">
              <a:buNone/>
            </a:pPr>
            <a:r>
              <a:rPr lang="en-US" sz="1300" b="1" dirty="0">
                <a:solidFill>
                  <a:srgbClr val="F08A7C"/>
                </a:solidFill>
              </a:rPr>
              <a:t>Ask → answer → translate → accept</a:t>
            </a:r>
            <a:endParaRPr lang="en-US" sz="1300" dirty="0"/>
          </a:p>
        </p:txBody>
      </p:sp>
      <p:sp>
        <p:nvSpPr>
          <p:cNvPr id="8" name="Text 6"/>
          <p:cNvSpPr txBox="1"/>
          <p:nvPr/>
        </p:nvSpPr>
        <p:spPr>
          <a:xfrm>
            <a:off x="822960" y="2624328"/>
            <a:ext cx="3063240" cy="3291840"/>
          </a:xfrm>
          <a:prstGeom prst="rect">
            <a:avLst/>
          </a:prstGeom>
          <a:noFill/>
          <a:ln/>
        </p:spPr>
        <p:txBody>
          <a:bodyPr wrap="square" lIns="0" tIns="0" rIns="0" bIns="0" rtlCol="0" anchor="t"/>
          <a:lstStyle/>
          <a:p>
            <a:pPr indent="0" marL="0">
              <a:buNone/>
            </a:pPr>
            <a:r>
              <a:rPr lang="en-US" sz="1400" dirty="0">
                <a:solidFill>
                  <a:schemeClr val="bg1"/>
                </a:solidFill>
              </a:rPr>
              <a:t>The system asks about what the text alone can't decide (gender, formality, a term's sense), and a person accepts or rejects each change. The person stays accountable.</a:t>
            </a:r>
            <a:endParaRPr lang="en-US" sz="1400" dirty="0"/>
          </a:p>
        </p:txBody>
      </p:sp>
      <p:sp>
        <p:nvSpPr>
          <p:cNvPr id="9" name="card"/>
          <p:cNvSpPr/>
          <p:nvPr/>
        </p:nvSpPr>
        <p:spPr>
          <a:xfrm>
            <a:off x="4434840" y="1325880"/>
            <a:ext cx="7208215" cy="907542"/>
          </a:xfrm>
          <a:prstGeom prst="roundRect">
            <a:avLst>
              <a:gd name="adj" fmla="val 8060"/>
            </a:avLst>
          </a:prstGeom>
          <a:solidFill>
            <a:schemeClr val="bg2"/>
          </a:solidFill>
          <a:ln/>
        </p:spPr>
      </p:sp>
      <p:sp>
        <p:nvSpPr>
          <p:cNvPr id="10" name="Text 8"/>
          <p:cNvSpPr txBox="1"/>
          <p:nvPr/>
        </p:nvSpPr>
        <p:spPr>
          <a:xfrm>
            <a:off x="4663440" y="1325880"/>
            <a:ext cx="2331720" cy="907542"/>
          </a:xfrm>
          <a:prstGeom prst="rect">
            <a:avLst/>
          </a:prstGeom>
          <a:noFill/>
          <a:ln/>
        </p:spPr>
        <p:txBody>
          <a:bodyPr wrap="square" lIns="0" tIns="0" rIns="0" bIns="0" rtlCol="0" anchor="ctr"/>
          <a:lstStyle/>
          <a:p>
            <a:pPr indent="0" marL="0">
              <a:buNone/>
            </a:pPr>
            <a:r>
              <a:rPr lang="en-US" sz="1900" b="1" dirty="0">
                <a:solidFill>
                  <a:schemeClr val="accent1"/>
                </a:solidFill>
                <a:latin typeface="Cambria" pitchFamily="34" charset="0"/>
                <a:ea typeface="Cambria" pitchFamily="34" charset="-122"/>
                <a:cs typeface="Cambria" pitchFamily="34" charset="-120"/>
              </a:rPr>
              <a:t>77 · 68 · 54%</a:t>
            </a:r>
            <a:endParaRPr lang="en-US" sz="1900" dirty="0"/>
          </a:p>
        </p:txBody>
      </p:sp>
      <p:sp>
        <p:nvSpPr>
          <p:cNvPr id="11" name="Text 9"/>
          <p:cNvSpPr txBox="1"/>
          <p:nvPr/>
        </p:nvSpPr>
        <p:spPr>
          <a:xfrm>
            <a:off x="7086600" y="1389888"/>
            <a:ext cx="4373575" cy="578358"/>
          </a:xfrm>
          <a:prstGeom prst="rect">
            <a:avLst/>
          </a:prstGeom>
          <a:noFill/>
          <a:ln/>
        </p:spPr>
        <p:txBody>
          <a:bodyPr wrap="square" lIns="0" tIns="0" rIns="0" bIns="0" rtlCol="0" anchor="ctr"/>
          <a:lstStyle/>
          <a:p>
            <a:pPr indent="0" marL="0">
              <a:buNone/>
            </a:pPr>
            <a:r>
              <a:rPr lang="en-US" sz="1250" dirty="0">
                <a:solidFill>
                  <a:schemeClr val="tx1"/>
                </a:solidFill>
              </a:rPr>
              <a:t>gender right: after one clarifying question · given all the background · Google Translate (simulated user)</a:t>
            </a:r>
            <a:endParaRPr lang="en-US" sz="1250" dirty="0"/>
          </a:p>
        </p:txBody>
      </p:sp>
      <p:sp>
        <p:nvSpPr>
          <p:cNvPr id="12" name="Text 10"/>
          <p:cNvSpPr txBox="1"/>
          <p:nvPr/>
        </p:nvSpPr>
        <p:spPr>
          <a:xfrm>
            <a:off x="7086600" y="1959102"/>
            <a:ext cx="4373575" cy="228600"/>
          </a:xfrm>
          <a:prstGeom prst="rect">
            <a:avLst/>
          </a:prstGeom>
          <a:noFill/>
          <a:ln/>
        </p:spPr>
        <p:txBody>
          <a:bodyPr wrap="square" lIns="0" tIns="0" rIns="0" bIns="0" rtlCol="0" anchor="t"/>
          <a:lstStyle/>
          <a:p>
            <a:pPr indent="0" marL="0">
              <a:buNone/>
            </a:pPr>
            <a:r>
              <a:rPr lang="en-US" sz="950" dirty="0">
                <a:solidFill>
                  <a:schemeClr val="accent3"/>
                </a:solidFill>
              </a:rPr>
              <a:t>Pilault et al. (Google), 2023</a:t>
            </a:r>
            <a:endParaRPr lang="en-US" sz="950" dirty="0"/>
          </a:p>
        </p:txBody>
      </p:sp>
      <p:sp>
        <p:nvSpPr>
          <p:cNvPr id="13" name="card"/>
          <p:cNvSpPr/>
          <p:nvPr/>
        </p:nvSpPr>
        <p:spPr>
          <a:xfrm>
            <a:off x="4434840" y="2343150"/>
            <a:ext cx="7208215" cy="907542"/>
          </a:xfrm>
          <a:prstGeom prst="roundRect">
            <a:avLst>
              <a:gd name="adj" fmla="val 8060"/>
            </a:avLst>
          </a:prstGeom>
          <a:solidFill>
            <a:schemeClr val="bg2"/>
          </a:solidFill>
          <a:ln/>
        </p:spPr>
      </p:sp>
      <p:sp>
        <p:nvSpPr>
          <p:cNvPr id="14" name="Text 12"/>
          <p:cNvSpPr txBox="1"/>
          <p:nvPr/>
        </p:nvSpPr>
        <p:spPr>
          <a:xfrm>
            <a:off x="4663440" y="2343150"/>
            <a:ext cx="2331720" cy="907542"/>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 in 3</a:t>
            </a:r>
            <a:endParaRPr lang="en-US" sz="2800" dirty="0"/>
          </a:p>
        </p:txBody>
      </p:sp>
      <p:sp>
        <p:nvSpPr>
          <p:cNvPr id="15" name="Text 13"/>
          <p:cNvSpPr txBox="1"/>
          <p:nvPr/>
        </p:nvSpPr>
        <p:spPr>
          <a:xfrm>
            <a:off x="7086600" y="2407158"/>
            <a:ext cx="4373575" cy="578358"/>
          </a:xfrm>
          <a:prstGeom prst="rect">
            <a:avLst/>
          </a:prstGeom>
          <a:noFill/>
          <a:ln/>
        </p:spPr>
        <p:txBody>
          <a:bodyPr wrap="square" lIns="0" tIns="0" rIns="0" bIns="0" rtlCol="0" anchor="ctr"/>
          <a:lstStyle/>
          <a:p>
            <a:pPr indent="0" marL="0">
              <a:buNone/>
            </a:pPr>
            <a:r>
              <a:rPr lang="en-US" sz="1250" dirty="0">
                <a:solidFill>
                  <a:schemeClr val="tx1"/>
                </a:solidFill>
              </a:rPr>
              <a:t>ambiguous words translated with the wrong sense by the best engine (DeepL); Google 42%</a:t>
            </a:r>
            <a:endParaRPr lang="en-US" sz="1250" dirty="0"/>
          </a:p>
        </p:txBody>
      </p:sp>
      <p:sp>
        <p:nvSpPr>
          <p:cNvPr id="16" name="Text 14"/>
          <p:cNvSpPr txBox="1"/>
          <p:nvPr/>
        </p:nvSpPr>
        <p:spPr>
          <a:xfrm>
            <a:off x="7086600" y="2976372"/>
            <a:ext cx="4373575" cy="228600"/>
          </a:xfrm>
          <a:prstGeom prst="rect">
            <a:avLst/>
          </a:prstGeom>
          <a:noFill/>
          <a:ln/>
        </p:spPr>
        <p:txBody>
          <a:bodyPr wrap="square" lIns="0" tIns="0" rIns="0" bIns="0" rtlCol="0" anchor="t"/>
          <a:lstStyle/>
          <a:p>
            <a:pPr indent="0" marL="0">
              <a:buNone/>
            </a:pPr>
            <a:r>
              <a:rPr lang="en-US" sz="950" dirty="0">
                <a:solidFill>
                  <a:schemeClr val="accent3"/>
                </a:solidFill>
              </a:rPr>
              <a:t>Iyer, Chen &amp; Birch, WMT 2023</a:t>
            </a:r>
            <a:endParaRPr lang="en-US" sz="950" dirty="0"/>
          </a:p>
        </p:txBody>
      </p:sp>
      <p:sp>
        <p:nvSpPr>
          <p:cNvPr id="17" name="card"/>
          <p:cNvSpPr/>
          <p:nvPr/>
        </p:nvSpPr>
        <p:spPr>
          <a:xfrm>
            <a:off x="4434840" y="3360420"/>
            <a:ext cx="7208215" cy="907542"/>
          </a:xfrm>
          <a:prstGeom prst="roundRect">
            <a:avLst>
              <a:gd name="adj" fmla="val 8060"/>
            </a:avLst>
          </a:prstGeom>
          <a:solidFill>
            <a:schemeClr val="bg2"/>
          </a:solidFill>
          <a:ln/>
        </p:spPr>
      </p:sp>
      <p:sp>
        <p:nvSpPr>
          <p:cNvPr id="18" name="Text 16"/>
          <p:cNvSpPr txBox="1"/>
          <p:nvPr/>
        </p:nvSpPr>
        <p:spPr>
          <a:xfrm>
            <a:off x="4663440" y="3360420"/>
            <a:ext cx="2331720" cy="907542"/>
          </a:xfrm>
          <a:prstGeom prst="rect">
            <a:avLst/>
          </a:prstGeom>
          <a:noFill/>
          <a:ln/>
        </p:spPr>
        <p:txBody>
          <a:bodyPr wrap="square" lIns="0" tIns="0" rIns="0" bIns="0" rtlCol="0" anchor="ctr"/>
          <a:lstStyle/>
          <a:p>
            <a:pPr indent="0" marL="0">
              <a:buNone/>
            </a:pPr>
            <a:r>
              <a:rPr lang="en-US" sz="1900" b="1" dirty="0">
                <a:solidFill>
                  <a:schemeClr val="accent1"/>
                </a:solidFill>
                <a:latin typeface="Cambria" pitchFamily="34" charset="0"/>
                <a:ea typeface="Cambria" pitchFamily="34" charset="-122"/>
                <a:cs typeface="Cambria" pitchFamily="34" charset="-120"/>
              </a:rPr>
              <a:t>46.5% vs 28.4%</a:t>
            </a:r>
            <a:endParaRPr lang="en-US" sz="1900" dirty="0"/>
          </a:p>
        </p:txBody>
      </p:sp>
      <p:sp>
        <p:nvSpPr>
          <p:cNvPr id="19" name="Text 17"/>
          <p:cNvSpPr txBox="1"/>
          <p:nvPr/>
        </p:nvSpPr>
        <p:spPr>
          <a:xfrm>
            <a:off x="7086600" y="3424428"/>
            <a:ext cx="4373575" cy="578358"/>
          </a:xfrm>
          <a:prstGeom prst="rect">
            <a:avLst/>
          </a:prstGeom>
          <a:noFill/>
          <a:ln/>
        </p:spPr>
        <p:txBody>
          <a:bodyPr wrap="square" lIns="0" tIns="0" rIns="0" bIns="0" rtlCol="0" anchor="ctr"/>
          <a:lstStyle/>
          <a:p>
            <a:pPr indent="0" marL="0">
              <a:buNone/>
            </a:pPr>
            <a:r>
              <a:rPr lang="en-US" sz="1250" dirty="0">
                <a:solidFill>
                  <a:schemeClr val="tx1"/>
                </a:solidFill>
              </a:rPr>
              <a:t>AI draft + professional edit preferred over professional translation alone, 6 languages, in 7 minutes instead of 17</a:t>
            </a:r>
            <a:endParaRPr lang="en-US" sz="1250" dirty="0"/>
          </a:p>
        </p:txBody>
      </p:sp>
      <p:sp>
        <p:nvSpPr>
          <p:cNvPr id="20" name="Text 18"/>
          <p:cNvSpPr txBox="1"/>
          <p:nvPr/>
        </p:nvSpPr>
        <p:spPr>
          <a:xfrm>
            <a:off x="7086600" y="3993642"/>
            <a:ext cx="4373575" cy="228600"/>
          </a:xfrm>
          <a:prstGeom prst="rect">
            <a:avLst/>
          </a:prstGeom>
          <a:noFill/>
          <a:ln/>
        </p:spPr>
        <p:txBody>
          <a:bodyPr wrap="square" lIns="0" tIns="0" rIns="0" bIns="0" rtlCol="0" anchor="t"/>
          <a:lstStyle/>
          <a:p>
            <a:pPr indent="0" marL="0">
              <a:buNone/>
            </a:pPr>
            <a:r>
              <a:rPr lang="en-US" sz="950" dirty="0">
                <a:solidFill>
                  <a:schemeClr val="accent3"/>
                </a:solidFill>
              </a:rPr>
              <a:t>Brewster et al., npj Digital Medicine 2025</a:t>
            </a:r>
            <a:endParaRPr lang="en-US" sz="950" dirty="0"/>
          </a:p>
        </p:txBody>
      </p:sp>
      <p:sp>
        <p:nvSpPr>
          <p:cNvPr id="21" name="card"/>
          <p:cNvSpPr/>
          <p:nvPr/>
        </p:nvSpPr>
        <p:spPr>
          <a:xfrm>
            <a:off x="4434840" y="4377690"/>
            <a:ext cx="7208215" cy="907542"/>
          </a:xfrm>
          <a:prstGeom prst="roundRect">
            <a:avLst>
              <a:gd name="adj" fmla="val 8060"/>
            </a:avLst>
          </a:prstGeom>
          <a:solidFill>
            <a:schemeClr val="bg2"/>
          </a:solidFill>
          <a:ln/>
        </p:spPr>
      </p:sp>
      <p:sp>
        <p:nvSpPr>
          <p:cNvPr id="22" name="Text 20"/>
          <p:cNvSpPr txBox="1"/>
          <p:nvPr/>
        </p:nvSpPr>
        <p:spPr>
          <a:xfrm>
            <a:off x="4663440" y="4377690"/>
            <a:ext cx="2331720" cy="907542"/>
          </a:xfrm>
          <a:prstGeom prst="rect">
            <a:avLst/>
          </a:prstGeom>
          <a:noFill/>
          <a:ln/>
        </p:spPr>
        <p:txBody>
          <a:bodyPr wrap="square" lIns="0" tIns="0" rIns="0" bIns="0" rtlCol="0" anchor="ctr"/>
          <a:lstStyle/>
          <a:p>
            <a:pPr indent="0" marL="0">
              <a:buNone/>
            </a:pPr>
            <a:r>
              <a:rPr lang="en-US" sz="2300" b="1" dirty="0">
                <a:solidFill>
                  <a:schemeClr val="accent1"/>
                </a:solidFill>
                <a:latin typeface="Cambria" pitchFamily="34" charset="0"/>
                <a:ea typeface="Cambria" pitchFamily="34" charset="-122"/>
                <a:cs typeface="Cambria" pitchFamily="34" charset="-120"/>
              </a:rPr>
              <a:t>−34% time</a:t>
            </a:r>
            <a:endParaRPr lang="en-US" sz="2300" dirty="0"/>
          </a:p>
        </p:txBody>
      </p:sp>
      <p:sp>
        <p:nvSpPr>
          <p:cNvPr id="23" name="Text 21"/>
          <p:cNvSpPr txBox="1"/>
          <p:nvPr/>
        </p:nvSpPr>
        <p:spPr>
          <a:xfrm>
            <a:off x="7086600" y="4441698"/>
            <a:ext cx="4373575" cy="578358"/>
          </a:xfrm>
          <a:prstGeom prst="rect">
            <a:avLst/>
          </a:prstGeom>
          <a:noFill/>
          <a:ln/>
        </p:spPr>
        <p:txBody>
          <a:bodyPr wrap="square" lIns="0" tIns="0" rIns="0" bIns="0" rtlCol="0" anchor="ctr"/>
          <a:lstStyle/>
          <a:p>
            <a:pPr indent="0" marL="0">
              <a:buNone/>
            </a:pPr>
            <a:r>
              <a:rPr lang="en-US" sz="1250" dirty="0">
                <a:solidFill>
                  <a:schemeClr val="tx1"/>
                </a:solidFill>
              </a:rPr>
              <a:t>for 30 licensed translators using suggest-and-accept AI reviewers instead of a chatbot, with slightly higher quality</a:t>
            </a:r>
            <a:endParaRPr lang="en-US" sz="1250" dirty="0"/>
          </a:p>
        </p:txBody>
      </p:sp>
      <p:sp>
        <p:nvSpPr>
          <p:cNvPr id="24" name="Text 22"/>
          <p:cNvSpPr txBox="1"/>
          <p:nvPr/>
        </p:nvSpPr>
        <p:spPr>
          <a:xfrm>
            <a:off x="7086600" y="5010912"/>
            <a:ext cx="4373575" cy="228600"/>
          </a:xfrm>
          <a:prstGeom prst="rect">
            <a:avLst/>
          </a:prstGeom>
          <a:noFill/>
          <a:ln/>
        </p:spPr>
        <p:txBody>
          <a:bodyPr wrap="square" lIns="0" tIns="0" rIns="0" bIns="0" rtlCol="0" anchor="t"/>
          <a:lstStyle/>
          <a:p>
            <a:pPr indent="0" marL="0">
              <a:buNone/>
            </a:pPr>
            <a:r>
              <a:rPr lang="en-US" sz="950" dirty="0">
                <a:solidFill>
                  <a:schemeClr val="accent3"/>
                </a:solidFill>
              </a:rPr>
              <a:t>CHORUS, ICMI 2026</a:t>
            </a:r>
            <a:endParaRPr lang="en-US" sz="950" dirty="0"/>
          </a:p>
        </p:txBody>
      </p:sp>
      <p:sp>
        <p:nvSpPr>
          <p:cNvPr id="25" name="card"/>
          <p:cNvSpPr/>
          <p:nvPr/>
        </p:nvSpPr>
        <p:spPr>
          <a:xfrm>
            <a:off x="4434840" y="5440680"/>
            <a:ext cx="7208215" cy="594360"/>
          </a:xfrm>
          <a:prstGeom prst="roundRect">
            <a:avLst>
              <a:gd name="adj" fmla="val 12308"/>
            </a:avLst>
          </a:prstGeom>
          <a:solidFill>
            <a:srgbClr val="FBEDEA"/>
          </a:solidFill>
          <a:ln/>
        </p:spPr>
      </p:sp>
      <p:sp>
        <p:nvSpPr>
          <p:cNvPr id="26" name="Text 24"/>
          <p:cNvSpPr txBox="1"/>
          <p:nvPr/>
        </p:nvSpPr>
        <p:spPr>
          <a:xfrm>
            <a:off x="4663440" y="5440680"/>
            <a:ext cx="6751015" cy="594360"/>
          </a:xfrm>
          <a:prstGeom prst="rect">
            <a:avLst/>
          </a:prstGeom>
          <a:noFill/>
          <a:ln/>
        </p:spPr>
        <p:txBody>
          <a:bodyPr wrap="square" lIns="0" tIns="0" rIns="0" bIns="0" rtlCol="0" anchor="ctr"/>
          <a:lstStyle/>
          <a:p>
            <a:pPr indent="0" marL="0">
              <a:buNone/>
            </a:pPr>
            <a:r>
              <a:rPr lang="en-US" sz="1400" b="1" dirty="0">
                <a:solidFill>
                  <a:schemeClr val="accent1"/>
                </a:solidFill>
              </a:rPr>
              <a:t>The catch  </a:t>
            </a:r>
            <a:pPr indent="0" marL="0">
              <a:buNone/>
            </a:pPr>
            <a:r>
              <a:rPr lang="en-US" sz="1400" dirty="0">
                <a:solidFill>
                  <a:schemeClr val="tx1"/>
                </a:solidFill>
              </a:rPr>
              <a:t>gains depend on the language and the person: over 90 million words, editing machine drafts was 66% faster on average, but −7% for Swedish and +130% for French.</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The seven methods side by side</a:t>
            </a:r>
            <a:endParaRPr lang="en-US" sz="3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057400"/>
                <a:gridCol w="4069080"/>
                <a:gridCol w="1783080"/>
                <a:gridCol w="3182112"/>
              </a:tblGrid>
              <a:tr h="384048">
                <a:tc>
                  <a:txBody>
                    <a:bodyPr/>
                    <a:lstStyle/>
                    <a:p>
                      <a:pPr indent="0" marL="0">
                        <a:buNone/>
                      </a:pPr>
                      <a:r>
                        <a:rPr lang="en-US" sz="1250" b="1" dirty="0">
                          <a:solidFill>
                            <a:srgbClr val="FFFFFF"/>
                          </a:solidFill>
                          <a:latin typeface="+mn-lt" pitchFamily="34" charset="0"/>
                          <a:ea typeface="+mn-lt" pitchFamily="34" charset="-122"/>
                          <a:cs typeface="+mn-lt" pitchFamily="34" charset="-120"/>
                        </a:rPr>
                        <a:t>Method</a:t>
                      </a:r>
                      <a:endParaRPr lang="en-US" sz="125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C2230"/>
                    </a:solidFill>
                  </a:tcPr>
                </a:tc>
                <a:tc>
                  <a:txBody>
                    <a:bodyPr/>
                    <a:lstStyle/>
                    <a:p>
                      <a:pPr indent="0" marL="0">
                        <a:buNone/>
                      </a:pPr>
                      <a:r>
                        <a:rPr lang="en-US" sz="1250" b="1" dirty="0">
                          <a:solidFill>
                            <a:srgbClr val="FFFFFF"/>
                          </a:solidFill>
                          <a:latin typeface="+mn-lt" pitchFamily="34" charset="0"/>
                          <a:ea typeface="+mn-lt" pitchFamily="34" charset="-122"/>
                          <a:cs typeface="+mn-lt" pitchFamily="34" charset="-120"/>
                        </a:rPr>
                        <a:t>Best published gain</a:t>
                      </a:r>
                      <a:endParaRPr lang="en-US" sz="125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C2230"/>
                    </a:solidFill>
                  </a:tcPr>
                </a:tc>
                <a:tc>
                  <a:txBody>
                    <a:bodyPr/>
                    <a:lstStyle/>
                    <a:p>
                      <a:pPr indent="0" marL="0">
                        <a:buNone/>
                      </a:pPr>
                      <a:r>
                        <a:rPr lang="en-US" sz="1250" b="1" dirty="0">
                          <a:solidFill>
                            <a:srgbClr val="FFFFFF"/>
                          </a:solidFill>
                          <a:latin typeface="+mn-lt" pitchFamily="34" charset="0"/>
                          <a:ea typeface="+mn-lt" pitchFamily="34" charset="-122"/>
                          <a:cs typeface="+mn-lt" pitchFamily="34" charset="-120"/>
                        </a:rPr>
                        <a:t>Cost</a:t>
                      </a:r>
                      <a:endParaRPr lang="en-US" sz="125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C2230"/>
                    </a:solidFill>
                  </a:tcPr>
                </a:tc>
                <a:tc>
                  <a:txBody>
                    <a:bodyPr/>
                    <a:lstStyle/>
                    <a:p>
                      <a:pPr indent="0" marL="0">
                        <a:buNone/>
                      </a:pPr>
                      <a:r>
                        <a:rPr lang="en-US" sz="1250" b="1" dirty="0">
                          <a:solidFill>
                            <a:srgbClr val="FFFFFF"/>
                          </a:solidFill>
                          <a:latin typeface="+mn-lt" pitchFamily="34" charset="0"/>
                          <a:ea typeface="+mn-lt" pitchFamily="34" charset="-122"/>
                          <a:cs typeface="+mn-lt" pitchFamily="34" charset="-120"/>
                        </a:rPr>
                        <a:t>Main risk</a:t>
                      </a:r>
                      <a:endParaRPr lang="en-US" sz="125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C2230"/>
                    </a:solidFill>
                  </a:tcPr>
                </a:tc>
              </a:tr>
              <a:tr h="603504">
                <a:tc>
                  <a:txBody>
                    <a:bodyPr/>
                    <a:lstStyle/>
                    <a:p>
                      <a:pPr indent="0" marL="0">
                        <a:buNone/>
                      </a:pPr>
                      <a:r>
                        <a:rPr lang="en-US" sz="1200" b="1" dirty="0">
                          <a:solidFill>
                            <a:srgbClr val="C8402F"/>
                          </a:solidFill>
                          <a:latin typeface="+mn-lt" pitchFamily="34" charset="0"/>
                          <a:ea typeface="+mn-lt" pitchFamily="34" charset="-122"/>
                          <a:cs typeface="+mn-lt" pitchFamily="34" charset="-120"/>
                        </a:rPr>
                        <a:t>1 One pass</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5F8"/>
                    </a:solidFill>
                  </a:tcPr>
                </a:tc>
                <a:tc>
                  <a:txBody>
                    <a:bodyPr/>
                    <a:lstStyle/>
                    <a:p>
                      <a:pPr indent="0" marL="0">
                        <a:buNone/>
                      </a:pPr>
                      <a:r>
                        <a:rPr lang="en-US" sz="1200" dirty="0">
                          <a:solidFill>
                            <a:srgbClr val="1C2230"/>
                          </a:solidFill>
                          <a:latin typeface="+mn-lt" pitchFamily="34" charset="0"/>
                          <a:ea typeface="+mn-lt" pitchFamily="34" charset="-122"/>
                          <a:cs typeface="+mn-lt" pitchFamily="34" charset="-120"/>
                        </a:rPr>
                        <a:t>As good as the best systems for big languages (Chinese → English 80.0 vs 77.4)</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5F8"/>
                    </a:solidFill>
                  </a:tcPr>
                </a:tc>
                <a:tc>
                  <a:txBody>
                    <a:bodyPr/>
                    <a:lstStyle/>
                    <a:p>
                      <a:pPr indent="0" marL="0">
                        <a:buNone/>
                      </a:pPr>
                      <a:r>
                        <a:rPr lang="en-US" sz="1200" dirty="0">
                          <a:solidFill>
                            <a:srgbClr val="1C2230"/>
                          </a:solidFill>
                          <a:latin typeface="+mn-lt" pitchFamily="34" charset="0"/>
                          <a:ea typeface="+mn-lt" pitchFamily="34" charset="-122"/>
                          <a:cs typeface="+mn-lt" pitchFamily="34" charset="-120"/>
                        </a:rPr>
                        <a:t>1 call</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5F8"/>
                    </a:solidFill>
                  </a:tcPr>
                </a:tc>
                <a:tc>
                  <a:txBody>
                    <a:bodyPr/>
                    <a:lstStyle/>
                    <a:p>
                      <a:pPr indent="0" marL="0">
                        <a:buNone/>
                      </a:pPr>
                      <a:r>
                        <a:rPr lang="en-US" sz="1200" dirty="0">
                          <a:solidFill>
                            <a:srgbClr val="1C2230"/>
                          </a:solidFill>
                          <a:latin typeface="+mn-lt" pitchFamily="34" charset="0"/>
                          <a:ea typeface="+mn-lt" pitchFamily="34" charset="-122"/>
                          <a:cs typeface="+mn-lt" pitchFamily="34" charset="-120"/>
                        </a:rPr>
                        <a:t>23–25 points behind for Icelandic and Hausa</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5F8"/>
                    </a:solidFill>
                  </a:tcPr>
                </a:tc>
              </a:tr>
              <a:tr h="603504">
                <a:tc>
                  <a:txBody>
                    <a:bodyPr/>
                    <a:lstStyle/>
                    <a:p>
                      <a:pPr indent="0" marL="0">
                        <a:buNone/>
                      </a:pPr>
                      <a:r>
                        <a:rPr lang="en-US" sz="1200" b="1" dirty="0">
                          <a:solidFill>
                            <a:srgbClr val="C8402F"/>
                          </a:solidFill>
                          <a:latin typeface="+mn-lt" pitchFamily="34" charset="0"/>
                          <a:ea typeface="+mn-lt" pitchFamily="34" charset="-122"/>
                          <a:cs typeface="+mn-lt" pitchFamily="34" charset="-120"/>
                        </a:rPr>
                        <a:t>2 More context</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C2230"/>
                          </a:solidFill>
                          <a:latin typeface="+mn-lt" pitchFamily="34" charset="0"/>
                          <a:ea typeface="+mn-lt" pitchFamily="34" charset="-122"/>
                          <a:cs typeface="+mn-lt" pitchFamily="34" charset="-120"/>
                        </a:rPr>
                        <a:t>Whole paragraphs preferred 71%; glossary terms 44% → 99%</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C2230"/>
                          </a:solidFill>
                          <a:latin typeface="+mn-lt" pitchFamily="34" charset="0"/>
                          <a:ea typeface="+mn-lt" pitchFamily="34" charset="-122"/>
                          <a:cs typeface="+mn-lt" pitchFamily="34" charset="-120"/>
                        </a:rPr>
                        <a:t>Longer prompts</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C2230"/>
                          </a:solidFill>
                          <a:latin typeface="+mn-lt" pitchFamily="34" charset="0"/>
                          <a:ea typeface="+mn-lt" pitchFamily="34" charset="-122"/>
                          <a:cs typeface="+mn-lt" pitchFamily="34" charset="-120"/>
                        </a:rPr>
                        <a:t>Content dropped in long outputs; 1 term in 5 missed in long reports</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C8402F"/>
                          </a:solidFill>
                          <a:latin typeface="+mn-lt" pitchFamily="34" charset="0"/>
                          <a:ea typeface="+mn-lt" pitchFamily="34" charset="-122"/>
                          <a:cs typeface="+mn-lt" pitchFamily="34" charset="-120"/>
                        </a:rPr>
                        <a:t>3 Check your work</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5F8"/>
                    </a:solidFill>
                  </a:tcPr>
                </a:tc>
                <a:tc>
                  <a:txBody>
                    <a:bodyPr/>
                    <a:lstStyle/>
                    <a:p>
                      <a:pPr indent="0" marL="0">
                        <a:buNone/>
                      </a:pPr>
                      <a:r>
                        <a:rPr lang="en-US" sz="1200" dirty="0">
                          <a:solidFill>
                            <a:srgbClr val="1C2230"/>
                          </a:solidFill>
                          <a:latin typeface="+mn-lt" pitchFamily="34" charset="0"/>
                          <a:ea typeface="+mn-lt" pitchFamily="34" charset="-122"/>
                          <a:cs typeface="+mn-lt" pitchFamily="34" charset="-120"/>
                        </a:rPr>
                        <a:t>Pointing at the exact error: won 38%, lost 16%</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5F8"/>
                    </a:solidFill>
                  </a:tcPr>
                </a:tc>
                <a:tc>
                  <a:txBody>
                    <a:bodyPr/>
                    <a:lstStyle/>
                    <a:p>
                      <a:pPr indent="0" marL="0">
                        <a:buNone/>
                      </a:pPr>
                      <a:r>
                        <a:rPr lang="en-US" sz="1200" dirty="0">
                          <a:solidFill>
                            <a:srgbClr val="1C2230"/>
                          </a:solidFill>
                          <a:latin typeface="+mn-lt" pitchFamily="34" charset="0"/>
                          <a:ea typeface="+mn-lt" pitchFamily="34" charset="-122"/>
                          <a:cs typeface="+mn-lt" pitchFamily="34" charset="-120"/>
                        </a:rPr>
                        <a:t>+1 to +10 calls</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5F8"/>
                    </a:solidFill>
                  </a:tcPr>
                </a:tc>
                <a:tc>
                  <a:txBody>
                    <a:bodyPr/>
                    <a:lstStyle/>
                    <a:p>
                      <a:pPr indent="0" marL="0">
                        <a:buNone/>
                      </a:pPr>
                      <a:r>
                        <a:rPr lang="en-US" sz="1200" dirty="0">
                          <a:solidFill>
                            <a:srgbClr val="1C2230"/>
                          </a:solidFill>
                          <a:latin typeface="+mn-lt" pitchFamily="34" charset="0"/>
                          <a:ea typeface="+mn-lt" pitchFamily="34" charset="-122"/>
                          <a:cs typeface="+mn-lt" pitchFamily="34" charset="-120"/>
                        </a:rPr>
                        <a:t>Stops helping after one round; “fixing” good text makes it worse</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5F8"/>
                    </a:solidFill>
                  </a:tcPr>
                </a:tc>
              </a:tr>
              <a:tr h="603504">
                <a:tc>
                  <a:txBody>
                    <a:bodyPr/>
                    <a:lstStyle/>
                    <a:p>
                      <a:pPr indent="0" marL="0">
                        <a:buNone/>
                      </a:pPr>
                      <a:r>
                        <a:rPr lang="en-US" sz="1200" b="1" dirty="0">
                          <a:solidFill>
                            <a:srgbClr val="C8402F"/>
                          </a:solidFill>
                          <a:latin typeface="+mn-lt" pitchFamily="34" charset="0"/>
                          <a:ea typeface="+mn-lt" pitchFamily="34" charset="-122"/>
                          <a:cs typeface="+mn-lt" pitchFamily="34" charset="-120"/>
                        </a:rPr>
                        <a:t>4 Step by step</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C2230"/>
                          </a:solidFill>
                          <a:latin typeface="+mn-lt" pitchFamily="34" charset="0"/>
                          <a:ea typeface="+mn-lt" pitchFamily="34" charset="-122"/>
                          <a:cs typeface="+mn-lt" pitchFamily="34" charset="-120"/>
                        </a:rPr>
                        <a:t>Better automatic scores in all 9 languages</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C2230"/>
                          </a:solidFill>
                          <a:latin typeface="+mn-lt" pitchFamily="34" charset="0"/>
                          <a:ea typeface="+mn-lt" pitchFamily="34" charset="-122"/>
                          <a:cs typeface="+mn-lt" pitchFamily="34" charset="-120"/>
                        </a:rPr>
                        <a:t>≈ 5 calls</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C2230"/>
                          </a:solidFill>
                          <a:latin typeface="+mn-lt" pitchFamily="34" charset="0"/>
                          <a:ea typeface="+mn-lt" pitchFamily="34" charset="-122"/>
                          <a:cs typeface="+mn-lt" pitchFamily="34" charset="-120"/>
                        </a:rPr>
                        <a:t>Worse than the first draft in professional review (4 of 4 models)</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C8402F"/>
                          </a:solidFill>
                          <a:latin typeface="+mn-lt" pitchFamily="34" charset="0"/>
                          <a:ea typeface="+mn-lt" pitchFamily="34" charset="-122"/>
                          <a:cs typeface="+mn-lt" pitchFamily="34" charset="-120"/>
                        </a:rPr>
                        <a:t>5 Teams of agents</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5F8"/>
                    </a:solidFill>
                  </a:tcPr>
                </a:tc>
                <a:tc>
                  <a:txBody>
                    <a:bodyPr/>
                    <a:lstStyle/>
                    <a:p>
                      <a:pPr indent="0" marL="0">
                        <a:buNone/>
                      </a:pPr>
                      <a:r>
                        <a:rPr lang="en-US" sz="1200" dirty="0">
                          <a:solidFill>
                            <a:srgbClr val="1C2230"/>
                          </a:solidFill>
                          <a:latin typeface="+mn-lt" pitchFamily="34" charset="0"/>
                          <a:ea typeface="+mn-lt" pitchFamily="34" charset="-122"/>
                          <a:cs typeface="+mn-lt" pitchFamily="34" charset="-120"/>
                        </a:rPr>
                        <a:t>Readers preferred it to a professional 52% vs 40%</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5F8"/>
                    </a:solidFill>
                  </a:tcPr>
                </a:tc>
                <a:tc>
                  <a:txBody>
                    <a:bodyPr/>
                    <a:lstStyle/>
                    <a:p>
                      <a:pPr indent="0" marL="0">
                        <a:buNone/>
                      </a:pPr>
                      <a:r>
                        <a:rPr lang="en-US" sz="1200" dirty="0">
                          <a:solidFill>
                            <a:srgbClr val="1C2230"/>
                          </a:solidFill>
                          <a:latin typeface="+mn-lt" pitchFamily="34" charset="0"/>
                          <a:ea typeface="+mn-lt" pitchFamily="34" charset="-122"/>
                          <a:cs typeface="+mn-lt" pitchFamily="34" charset="-120"/>
                        </a:rPr>
                        <a:t>5–15× tokens; $487 vs $42</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5F8"/>
                    </a:solidFill>
                  </a:tcPr>
                </a:tc>
                <a:tc>
                  <a:txBody>
                    <a:bodyPr/>
                    <a:lstStyle/>
                    <a:p>
                      <a:pPr indent="0" marL="0">
                        <a:buNone/>
                      </a:pPr>
                      <a:r>
                        <a:rPr lang="en-US" sz="1200" dirty="0">
                          <a:solidFill>
                            <a:srgbClr val="1C2230"/>
                          </a:solidFill>
                          <a:latin typeface="+mn-lt" pitchFamily="34" charset="0"/>
                          <a:ea typeface="+mn-lt" pitchFamily="34" charset="-122"/>
                          <a:cs typeface="+mn-lt" pitchFamily="34" charset="-120"/>
                        </a:rPr>
                        <a:t>Skipped sentences; no consistent gain over one strong model</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3F5F8"/>
                    </a:solidFill>
                  </a:tcPr>
                </a:tc>
              </a:tr>
              <a:tr h="603504">
                <a:tc>
                  <a:txBody>
                    <a:bodyPr/>
                    <a:lstStyle/>
                    <a:p>
                      <a:pPr indent="0" marL="0">
                        <a:buNone/>
                      </a:pPr>
                      <a:r>
                        <a:rPr lang="en-US" sz="1200" b="1" dirty="0">
                          <a:solidFill>
                            <a:srgbClr val="C8402F"/>
                          </a:solidFill>
                          <a:latin typeface="+mn-lt" pitchFamily="34" charset="0"/>
                          <a:ea typeface="+mn-lt" pitchFamily="34" charset="-122"/>
                          <a:cs typeface="+mn-lt" pitchFamily="34" charset="-120"/>
                        </a:rPr>
                        <a:t>6 Score and select</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C2230"/>
                          </a:solidFill>
                          <a:latin typeface="+mn-lt" pitchFamily="34" charset="0"/>
                          <a:ea typeface="+mn-lt" pitchFamily="34" charset="-122"/>
                          <a:cs typeface="+mn-lt" pitchFamily="34" charset="-120"/>
                        </a:rPr>
                        <a:t>−23% errors; review time per error 71 s → 31 s</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C2230"/>
                          </a:solidFill>
                          <a:latin typeface="+mn-lt" pitchFamily="34" charset="0"/>
                          <a:ea typeface="+mn-lt" pitchFamily="34" charset="-122"/>
                          <a:cs typeface="+mn-lt" pitchFamily="34" charset="-120"/>
                        </a:rPr>
                        <a:t>Many versions</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lstStyle/>
                    <a:p>
                      <a:pPr indent="0" marL="0">
                        <a:buNone/>
                      </a:pPr>
                      <a:r>
                        <a:rPr lang="en-US" sz="1200" dirty="0">
                          <a:solidFill>
                            <a:srgbClr val="1C2230"/>
                          </a:solidFill>
                          <a:latin typeface="+mn-lt" pitchFamily="34" charset="0"/>
                          <a:ea typeface="+mn-lt" pitchFamily="34" charset="-122"/>
                          <a:cs typeface="+mn-lt" pitchFamily="34" charset="-120"/>
                        </a:rPr>
                        <a:t>Score-only picks raised critical errors 49 → 80</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C8402F"/>
                          </a:solidFill>
                          <a:latin typeface="+mn-lt" pitchFamily="34" charset="0"/>
                          <a:ea typeface="+mn-lt" pitchFamily="34" charset="-122"/>
                          <a:cs typeface="+mn-lt" pitchFamily="34" charset="-120"/>
                        </a:rPr>
                        <a:t>7 Ask the human</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BEDEA"/>
                    </a:solidFill>
                  </a:tcPr>
                </a:tc>
                <a:tc>
                  <a:txBody>
                    <a:bodyPr/>
                    <a:lstStyle/>
                    <a:p>
                      <a:pPr indent="0" marL="0">
                        <a:buNone/>
                      </a:pPr>
                      <a:r>
                        <a:rPr lang="en-US" sz="1200" dirty="0">
                          <a:solidFill>
                            <a:srgbClr val="1C2230"/>
                          </a:solidFill>
                          <a:latin typeface="+mn-lt" pitchFamily="34" charset="0"/>
                          <a:ea typeface="+mn-lt" pitchFamily="34" charset="-122"/>
                          <a:cs typeface="+mn-lt" pitchFamily="34" charset="-120"/>
                        </a:rPr>
                        <a:t>Gender right 77% vs 54%; AI draft + edit beat professionals in half the time</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BEDEA"/>
                    </a:solidFill>
                  </a:tcPr>
                </a:tc>
                <a:tc>
                  <a:txBody>
                    <a:bodyPr/>
                    <a:lstStyle/>
                    <a:p>
                      <a:pPr indent="0" marL="0">
                        <a:buNone/>
                      </a:pPr>
                      <a:r>
                        <a:rPr lang="en-US" sz="1200" dirty="0">
                          <a:solidFill>
                            <a:srgbClr val="1C2230"/>
                          </a:solidFill>
                          <a:latin typeface="+mn-lt" pitchFamily="34" charset="0"/>
                          <a:ea typeface="+mn-lt" pitchFamily="34" charset="-122"/>
                          <a:cs typeface="+mn-lt" pitchFamily="34" charset="-120"/>
                        </a:rPr>
                        <a:t>+ a person's minutes</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BEDEA"/>
                    </a:solidFill>
                  </a:tcPr>
                </a:tc>
                <a:tc>
                  <a:txBody>
                    <a:bodyPr/>
                    <a:lstStyle/>
                    <a:p>
                      <a:pPr indent="0" marL="0">
                        <a:buNone/>
                      </a:pPr>
                      <a:r>
                        <a:rPr lang="en-US" sz="1200" dirty="0">
                          <a:solidFill>
                            <a:srgbClr val="1C2230"/>
                          </a:solidFill>
                          <a:latin typeface="+mn-lt" pitchFamily="34" charset="0"/>
                          <a:ea typeface="+mn-lt" pitchFamily="34" charset="-122"/>
                          <a:cs typeface="+mn-lt" pitchFamily="34" charset="-120"/>
                        </a:rPr>
                        <a:t>Depends on the person and the language</a:t>
                      </a:r>
                      <a:endParaRPr lang="en-US" sz="1200" dirty="0">
                        <a:latin typeface="+mn-lt" charset="0"/>
                        <a:ea typeface="+mn-lt" charset="0"/>
                        <a:cs typeface="+mn-lt" charset="0"/>
                      </a:endParaRPr>
                    </a:p>
                  </a:txBody>
                  <a:tcPr marL="73152" marR="73152" marT="73152" marB="73152"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BEDEA"/>
                    </a:solidFill>
                  </a:tcPr>
                </a:tc>
              </a:tr>
            </a:tbl>
          </a:graphicData>
        </a:graphic>
      </p:graphicFrame>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Where reading and translation are heading</a:t>
            </a:r>
            <a:endParaRPr lang="en-US" sz="3200" dirty="0"/>
          </a:p>
        </p:txBody>
      </p:sp>
      <p:sp>
        <p:nvSpPr>
          <p:cNvPr id="3" name="card"/>
          <p:cNvSpPr/>
          <p:nvPr/>
        </p:nvSpPr>
        <p:spPr>
          <a:xfrm>
            <a:off x="548640" y="1371600"/>
            <a:ext cx="5394960" cy="2103120"/>
          </a:xfrm>
          <a:prstGeom prst="roundRect">
            <a:avLst>
              <a:gd name="adj" fmla="val 3478"/>
            </a:avLst>
          </a:prstGeom>
          <a:solidFill>
            <a:schemeClr val="bg2"/>
          </a:solidFill>
          <a:ln/>
        </p:spPr>
      </p:sp>
      <p:sp>
        <p:nvSpPr>
          <p:cNvPr id="4" name="seal"/>
          <p:cNvSpPr/>
          <p:nvPr/>
        </p:nvSpPr>
        <p:spPr>
          <a:xfrm>
            <a:off x="914400" y="1737360"/>
            <a:ext cx="640080" cy="640080"/>
          </a:xfrm>
          <a:prstGeom prst="roundRect">
            <a:avLst>
              <a:gd name="adj" fmla="val 18000"/>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055218" y="1878178"/>
            <a:ext cx="358445" cy="358445"/>
          </a:xfrm>
          <a:prstGeom prst="rect">
            <a:avLst/>
          </a:prstGeom>
        </p:spPr>
      </p:pic>
      <p:sp>
        <p:nvSpPr>
          <p:cNvPr id="6" name="Text 3"/>
          <p:cNvSpPr txBox="1"/>
          <p:nvPr/>
        </p:nvSpPr>
        <p:spPr>
          <a:xfrm>
            <a:off x="1828800" y="1700784"/>
            <a:ext cx="388620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Reading and translating merge</a:t>
            </a:r>
            <a:endParaRPr lang="en-US" sz="1900" dirty="0"/>
          </a:p>
        </p:txBody>
      </p:sp>
      <p:sp>
        <p:nvSpPr>
          <p:cNvPr id="7" name="Text 4"/>
          <p:cNvSpPr txBox="1"/>
          <p:nvPr/>
        </p:nvSpPr>
        <p:spPr>
          <a:xfrm>
            <a:off x="1828800" y="2176272"/>
            <a:ext cx="3886200" cy="914400"/>
          </a:xfrm>
          <a:prstGeom prst="rect">
            <a:avLst/>
          </a:prstGeom>
          <a:noFill/>
          <a:ln/>
        </p:spPr>
        <p:txBody>
          <a:bodyPr wrap="square" lIns="0" tIns="0" rIns="0" bIns="0" rtlCol="0" anchor="t"/>
          <a:lstStyle/>
          <a:p>
            <a:pPr indent="0" marL="0">
              <a:buNone/>
            </a:pPr>
            <a:r>
              <a:rPr lang="en-US" sz="1500" dirty="0">
                <a:solidFill>
                  <a:schemeClr val="tx1"/>
                </a:solidFill>
              </a:rPr>
              <a:t>One vision model reads layout and text. A 2025 model with 0.9 billion parameters claims 109 languages.</a:t>
            </a:r>
            <a:endParaRPr lang="en-US" sz="1500" dirty="0"/>
          </a:p>
        </p:txBody>
      </p:sp>
      <p:sp>
        <p:nvSpPr>
          <p:cNvPr id="8" name="Text 5"/>
          <p:cNvSpPr txBox="1"/>
          <p:nvPr/>
        </p:nvSpPr>
        <p:spPr>
          <a:xfrm>
            <a:off x="1828800" y="3108960"/>
            <a:ext cx="3886200" cy="256032"/>
          </a:xfrm>
          <a:prstGeom prst="rect">
            <a:avLst/>
          </a:prstGeom>
          <a:noFill/>
          <a:ln/>
        </p:spPr>
        <p:txBody>
          <a:bodyPr wrap="square" lIns="0" tIns="0" rIns="0" bIns="0" rtlCol="0" anchor="t"/>
          <a:lstStyle/>
          <a:p>
            <a:pPr indent="0" marL="0">
              <a:buNone/>
            </a:pPr>
            <a:r>
              <a:rPr lang="en-US" sz="1000" dirty="0">
                <a:solidFill>
                  <a:schemeClr val="accent3"/>
                </a:solidFill>
              </a:rPr>
              <a:t>PaddleOCR-VL, Baidu 2025</a:t>
            </a:r>
            <a:endParaRPr lang="en-US" sz="1000" dirty="0"/>
          </a:p>
        </p:txBody>
      </p:sp>
      <p:sp>
        <p:nvSpPr>
          <p:cNvPr id="9" name="card"/>
          <p:cNvSpPr/>
          <p:nvPr/>
        </p:nvSpPr>
        <p:spPr>
          <a:xfrm>
            <a:off x="6217920" y="1371600"/>
            <a:ext cx="5394960" cy="2103120"/>
          </a:xfrm>
          <a:prstGeom prst="roundRect">
            <a:avLst>
              <a:gd name="adj" fmla="val 3478"/>
            </a:avLst>
          </a:prstGeom>
          <a:solidFill>
            <a:schemeClr val="bg2"/>
          </a:solidFill>
          <a:ln/>
        </p:spPr>
      </p:sp>
      <p:sp>
        <p:nvSpPr>
          <p:cNvPr id="10" name="seal"/>
          <p:cNvSpPr/>
          <p:nvPr/>
        </p:nvSpPr>
        <p:spPr>
          <a:xfrm>
            <a:off x="6583680" y="1737360"/>
            <a:ext cx="640080" cy="640080"/>
          </a:xfrm>
          <a:prstGeom prst="roundRect">
            <a:avLst>
              <a:gd name="adj" fmla="val 18000"/>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6724498" y="1878178"/>
            <a:ext cx="358445" cy="358445"/>
          </a:xfrm>
          <a:prstGeom prst="rect">
            <a:avLst/>
          </a:prstGeom>
        </p:spPr>
      </p:pic>
      <p:sp>
        <p:nvSpPr>
          <p:cNvPr id="12" name="Text 8"/>
          <p:cNvSpPr txBox="1"/>
          <p:nvPr/>
        </p:nvSpPr>
        <p:spPr>
          <a:xfrm>
            <a:off x="7498080" y="1700784"/>
            <a:ext cx="388620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Smaller, cheaper, private</a:t>
            </a:r>
            <a:endParaRPr lang="en-US" sz="1900" dirty="0"/>
          </a:p>
        </p:txBody>
      </p:sp>
      <p:sp>
        <p:nvSpPr>
          <p:cNvPr id="13" name="Text 9"/>
          <p:cNvSpPr txBox="1"/>
          <p:nvPr/>
        </p:nvSpPr>
        <p:spPr>
          <a:xfrm>
            <a:off x="7498080" y="2176272"/>
            <a:ext cx="3886200" cy="914400"/>
          </a:xfrm>
          <a:prstGeom prst="rect">
            <a:avLst/>
          </a:prstGeom>
          <a:noFill/>
          <a:ln/>
        </p:spPr>
        <p:txBody>
          <a:bodyPr wrap="square" lIns="0" tIns="0" rIns="0" bIns="0" rtlCol="0" anchor="t"/>
          <a:lstStyle/>
          <a:p>
            <a:pPr indent="0" marL="0">
              <a:buNone/>
            </a:pPr>
            <a:r>
              <a:rPr lang="en-US" sz="1500" dirty="0">
                <a:solidFill>
                  <a:schemeClr val="tx1"/>
                </a:solidFill>
              </a:rPr>
              <a:t>An open 7B reader: a million pages for $176, against $6,240 for GPT-4o at batch prices.</a:t>
            </a:r>
            <a:endParaRPr lang="en-US" sz="1500" dirty="0"/>
          </a:p>
        </p:txBody>
      </p:sp>
      <p:sp>
        <p:nvSpPr>
          <p:cNvPr id="14" name="Text 10"/>
          <p:cNvSpPr txBox="1"/>
          <p:nvPr/>
        </p:nvSpPr>
        <p:spPr>
          <a:xfrm>
            <a:off x="7498080" y="3108960"/>
            <a:ext cx="3886200" cy="256032"/>
          </a:xfrm>
          <a:prstGeom prst="rect">
            <a:avLst/>
          </a:prstGeom>
          <a:noFill/>
          <a:ln/>
        </p:spPr>
        <p:txBody>
          <a:bodyPr wrap="square" lIns="0" tIns="0" rIns="0" bIns="0" rtlCol="0" anchor="t"/>
          <a:lstStyle/>
          <a:p>
            <a:pPr indent="0" marL="0">
              <a:buNone/>
            </a:pPr>
            <a:r>
              <a:rPr lang="en-US" sz="1000" dirty="0">
                <a:solidFill>
                  <a:schemeClr val="accent3"/>
                </a:solidFill>
              </a:rPr>
              <a:t>olmOCR, AllenAI 2025</a:t>
            </a:r>
            <a:endParaRPr lang="en-US" sz="1000" dirty="0"/>
          </a:p>
        </p:txBody>
      </p:sp>
      <p:sp>
        <p:nvSpPr>
          <p:cNvPr id="15" name="card"/>
          <p:cNvSpPr/>
          <p:nvPr/>
        </p:nvSpPr>
        <p:spPr>
          <a:xfrm>
            <a:off x="548640" y="3703320"/>
            <a:ext cx="5394960" cy="2103120"/>
          </a:xfrm>
          <a:prstGeom prst="roundRect">
            <a:avLst>
              <a:gd name="adj" fmla="val 3478"/>
            </a:avLst>
          </a:prstGeom>
          <a:solidFill>
            <a:schemeClr val="bg2"/>
          </a:solidFill>
          <a:ln/>
        </p:spPr>
      </p:sp>
      <p:sp>
        <p:nvSpPr>
          <p:cNvPr id="16" name="seal"/>
          <p:cNvSpPr/>
          <p:nvPr/>
        </p:nvSpPr>
        <p:spPr>
          <a:xfrm>
            <a:off x="914400" y="4069080"/>
            <a:ext cx="640080" cy="640080"/>
          </a:xfrm>
          <a:prstGeom prst="roundRect">
            <a:avLst>
              <a:gd name="adj" fmla="val 18000"/>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1055218" y="4209898"/>
            <a:ext cx="358445" cy="358445"/>
          </a:xfrm>
          <a:prstGeom prst="rect">
            <a:avLst/>
          </a:prstGeom>
        </p:spPr>
      </p:pic>
      <p:sp>
        <p:nvSpPr>
          <p:cNvPr id="18" name="Text 13"/>
          <p:cNvSpPr txBox="1"/>
          <p:nvPr/>
        </p:nvSpPr>
        <p:spPr>
          <a:xfrm>
            <a:off x="1828800" y="4032504"/>
            <a:ext cx="388620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More languages, unevenly</a:t>
            </a:r>
            <a:endParaRPr lang="en-US" sz="1900" dirty="0"/>
          </a:p>
        </p:txBody>
      </p:sp>
      <p:sp>
        <p:nvSpPr>
          <p:cNvPr id="19" name="Text 14"/>
          <p:cNvSpPr txBox="1"/>
          <p:nvPr/>
        </p:nvSpPr>
        <p:spPr>
          <a:xfrm>
            <a:off x="1828800" y="4507992"/>
            <a:ext cx="3886200" cy="914400"/>
          </a:xfrm>
          <a:prstGeom prst="rect">
            <a:avLst/>
          </a:prstGeom>
          <a:noFill/>
          <a:ln/>
        </p:spPr>
        <p:txBody>
          <a:bodyPr wrap="square" lIns="0" tIns="0" rIns="0" bIns="0" rtlCol="0" anchor="t"/>
          <a:lstStyle/>
          <a:p>
            <a:pPr indent="0" marL="0">
              <a:buNone/>
            </a:pPr>
            <a:r>
              <a:rPr lang="en-US" sz="1500" dirty="0">
                <a:solidFill>
                  <a:schemeClr val="tx1"/>
                </a:solidFill>
              </a:rPr>
              <a:t>Meta's 2026 system covers about 1,600 languages; about 130 reach “good” quality.</a:t>
            </a:r>
            <a:endParaRPr lang="en-US" sz="1500" dirty="0"/>
          </a:p>
        </p:txBody>
      </p:sp>
      <p:sp>
        <p:nvSpPr>
          <p:cNvPr id="20" name="Text 15"/>
          <p:cNvSpPr txBox="1"/>
          <p:nvPr/>
        </p:nvSpPr>
        <p:spPr>
          <a:xfrm>
            <a:off x="1828800" y="5440680"/>
            <a:ext cx="3886200" cy="256032"/>
          </a:xfrm>
          <a:prstGeom prst="rect">
            <a:avLst/>
          </a:prstGeom>
          <a:noFill/>
          <a:ln/>
        </p:spPr>
        <p:txBody>
          <a:bodyPr wrap="square" lIns="0" tIns="0" rIns="0" bIns="0" rtlCol="0" anchor="t"/>
          <a:lstStyle/>
          <a:p>
            <a:pPr indent="0" marL="0">
              <a:buNone/>
            </a:pPr>
            <a:r>
              <a:rPr lang="en-US" sz="1000" dirty="0">
                <a:solidFill>
                  <a:schemeClr val="accent3"/>
                </a:solidFill>
              </a:rPr>
              <a:t>Omnilingual MT, Meta 2026</a:t>
            </a:r>
            <a:endParaRPr lang="en-US" sz="1000" dirty="0"/>
          </a:p>
        </p:txBody>
      </p:sp>
      <p:sp>
        <p:nvSpPr>
          <p:cNvPr id="21" name="card"/>
          <p:cNvSpPr/>
          <p:nvPr/>
        </p:nvSpPr>
        <p:spPr>
          <a:xfrm>
            <a:off x="6217920" y="3703320"/>
            <a:ext cx="5394960" cy="2103120"/>
          </a:xfrm>
          <a:prstGeom prst="roundRect">
            <a:avLst>
              <a:gd name="adj" fmla="val 3478"/>
            </a:avLst>
          </a:prstGeom>
          <a:solidFill>
            <a:schemeClr val="bg2"/>
          </a:solidFill>
          <a:ln/>
        </p:spPr>
      </p:sp>
      <p:sp>
        <p:nvSpPr>
          <p:cNvPr id="22" name="seal"/>
          <p:cNvSpPr/>
          <p:nvPr/>
        </p:nvSpPr>
        <p:spPr>
          <a:xfrm>
            <a:off x="6583680" y="4069080"/>
            <a:ext cx="640080" cy="640080"/>
          </a:xfrm>
          <a:prstGeom prst="roundRect">
            <a:avLst>
              <a:gd name="adj" fmla="val 18000"/>
            </a:avLst>
          </a:prstGeom>
          <a:solidFill>
            <a:schemeClr val="accent1"/>
          </a:solidFill>
          <a:ln/>
        </p:spPr>
      </p:sp>
      <p:pic>
        <p:nvPicPr>
          <p:cNvPr id="23" name="Image 3" descr="preencoded.png">    </p:cNvPr>
          <p:cNvPicPr>
            <a:picLocks noChangeAspect="1"/>
          </p:cNvPicPr>
          <p:nvPr/>
        </p:nvPicPr>
        <p:blipFill>
          <a:blip r:embed="rId4"/>
          <a:stretch>
            <a:fillRect/>
          </a:stretch>
        </p:blipFill>
        <p:spPr>
          <a:xfrm>
            <a:off x="6724498" y="4209898"/>
            <a:ext cx="358445" cy="358445"/>
          </a:xfrm>
          <a:prstGeom prst="rect">
            <a:avLst/>
          </a:prstGeom>
        </p:spPr>
      </p:pic>
      <p:sp>
        <p:nvSpPr>
          <p:cNvPr id="24" name="Text 18"/>
          <p:cNvSpPr txBox="1"/>
          <p:nvPr/>
        </p:nvSpPr>
        <p:spPr>
          <a:xfrm>
            <a:off x="7498080" y="4032504"/>
            <a:ext cx="388620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People decide, agents do the work</a:t>
            </a:r>
            <a:endParaRPr lang="en-US" sz="1900" dirty="0"/>
          </a:p>
        </p:txBody>
      </p:sp>
      <p:sp>
        <p:nvSpPr>
          <p:cNvPr id="25" name="Text 19"/>
          <p:cNvSpPr txBox="1"/>
          <p:nvPr/>
        </p:nvSpPr>
        <p:spPr>
          <a:xfrm>
            <a:off x="7498080" y="4507992"/>
            <a:ext cx="3886200" cy="914400"/>
          </a:xfrm>
          <a:prstGeom prst="rect">
            <a:avLst/>
          </a:prstGeom>
          <a:noFill/>
          <a:ln/>
        </p:spPr>
        <p:txBody>
          <a:bodyPr wrap="square" lIns="0" tIns="0" rIns="0" bIns="0" rtlCol="0" anchor="t"/>
          <a:lstStyle/>
          <a:p>
            <a:pPr indent="0" marL="0">
              <a:buNone/>
            </a:pPr>
            <a:r>
              <a:rPr lang="en-US" sz="1500" dirty="0">
                <a:solidFill>
                  <a:schemeClr val="tx1"/>
                </a:solidFill>
              </a:rPr>
              <a:t>AI drafts plus a professional's edit beat both alone, in under half the time.</a:t>
            </a:r>
            <a:endParaRPr lang="en-US" sz="1500" dirty="0"/>
          </a:p>
        </p:txBody>
      </p:sp>
      <p:sp>
        <p:nvSpPr>
          <p:cNvPr id="26" name="Text 20"/>
          <p:cNvSpPr txBox="1"/>
          <p:nvPr/>
        </p:nvSpPr>
        <p:spPr>
          <a:xfrm>
            <a:off x="7498080" y="5440680"/>
            <a:ext cx="3886200" cy="256032"/>
          </a:xfrm>
          <a:prstGeom prst="rect">
            <a:avLst/>
          </a:prstGeom>
          <a:noFill/>
          <a:ln/>
        </p:spPr>
        <p:txBody>
          <a:bodyPr wrap="square" lIns="0" tIns="0" rIns="0" bIns="0" rtlCol="0" anchor="t"/>
          <a:lstStyle/>
          <a:p>
            <a:pPr indent="0" marL="0">
              <a:buNone/>
            </a:pPr>
            <a:r>
              <a:rPr lang="en-US" sz="1000" dirty="0">
                <a:solidFill>
                  <a:schemeClr val="accent3"/>
                </a:solidFill>
              </a:rPr>
              <a:t>Brewster et al. 2025</a:t>
            </a:r>
            <a:endParaRPr lang="en-US" sz="10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731520" y="2788920"/>
            <a:ext cx="10424160" cy="1005840"/>
          </a:xfrm>
          <a:prstGeom prst="rect">
            <a:avLst/>
          </a:prstGeom>
          <a:noFill/>
          <a:ln/>
        </p:spPr>
        <p:txBody>
          <a:bodyPr wrap="square" lIns="0" tIns="0" rIns="0" bIns="0" rtlCol="0" anchor="b"/>
          <a:lstStyle/>
          <a:p>
            <a:pPr algn="l" indent="0" marL="0">
              <a:buNone/>
            </a:pPr>
            <a:r>
              <a:rPr lang="en-US" sz="4400" b="1" dirty="0">
                <a:solidFill>
                  <a:schemeClr val="bg1"/>
                </a:solidFill>
              </a:rPr>
              <a:t>Our approach: Agentic Translator</a:t>
            </a:r>
            <a:endParaRPr lang="en-US" sz="4400" dirty="0"/>
          </a:p>
        </p:txBody>
      </p:sp>
      <p:sp>
        <p:nvSpPr>
          <p:cNvPr id="3" name="Text 0"/>
          <p:cNvSpPr/>
          <p:nvPr>
            <p:ph idx="101" type="body" hasCustomPrompt="1"/>
          </p:nvPr>
        </p:nvSpPr>
        <p:spPr>
          <a:xfrm>
            <a:off x="731520" y="3931920"/>
            <a:ext cx="10058400" cy="731520"/>
          </a:xfrm>
          <a:prstGeom prst="rect">
            <a:avLst/>
          </a:prstGeom>
          <a:noFill/>
          <a:ln/>
        </p:spPr>
        <p:txBody>
          <a:bodyPr wrap="square" lIns="0" tIns="0" rIns="0" bIns="0" rtlCol="0" anchor="t"/>
          <a:lstStyle/>
          <a:p>
            <a:pPr indent="0" marL="0">
              <a:buNone/>
            </a:pPr>
            <a:r>
              <a:rPr lang="en-US" sz="2000" dirty="0">
                <a:solidFill>
                  <a:schemeClr val="accent4"/>
                </a:solidFill>
              </a:rPr>
              <a:t>Built on the evidence: read, check, ask, translate, review, and a person decides</a:t>
            </a:r>
            <a:endParaRPr lang="en-US" sz="2000" dirty="0"/>
          </a:p>
        </p:txBody>
      </p:sp>
      <p:sp>
        <p:nvSpPr>
          <p:cNvPr id="4" name="seal"/>
          <p:cNvSpPr/>
          <p:nvPr/>
        </p:nvSpPr>
        <p:spPr>
          <a:xfrm>
            <a:off x="731520" y="1737360"/>
            <a:ext cx="822960" cy="822960"/>
          </a:xfrm>
          <a:prstGeom prst="roundRect">
            <a:avLst>
              <a:gd name="adj" fmla="val 18000"/>
            </a:avLst>
          </a:prstGeom>
          <a:solidFill>
            <a:schemeClr val="accent1"/>
          </a:solidFill>
          <a:ln/>
        </p:spPr>
      </p:sp>
      <p:sp>
        <p:nvSpPr>
          <p:cNvPr id="5" name="Text 3"/>
          <p:cNvSpPr txBox="1"/>
          <p:nvPr/>
        </p:nvSpPr>
        <p:spPr>
          <a:xfrm>
            <a:off x="731520" y="1737360"/>
            <a:ext cx="822960" cy="822960"/>
          </a:xfrm>
          <a:prstGeom prst="rect">
            <a:avLst/>
          </a:prstGeom>
          <a:noFill/>
          <a:ln/>
        </p:spPr>
        <p:txBody>
          <a:bodyPr wrap="square" lIns="0" tIns="0" rIns="0" bIns="0"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04</a:t>
            </a:r>
            <a:endParaRPr lang="en-US" sz="2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From the evidence to our design</a:t>
            </a:r>
            <a:endParaRPr lang="en-US" sz="3200" dirty="0"/>
          </a:p>
        </p:txBody>
      </p:sp>
      <p:sp>
        <p:nvSpPr>
          <p:cNvPr id="3" name="Text 1"/>
          <p:cNvSpPr txBox="1"/>
          <p:nvPr/>
        </p:nvSpPr>
        <p:spPr>
          <a:xfrm>
            <a:off x="548640" y="1261872"/>
            <a:ext cx="4800600" cy="274320"/>
          </a:xfrm>
          <a:prstGeom prst="rect">
            <a:avLst/>
          </a:prstGeom>
          <a:noFill/>
          <a:ln/>
        </p:spPr>
        <p:txBody>
          <a:bodyPr wrap="square" lIns="0" tIns="0" rIns="0" bIns="0" rtlCol="0" anchor="t"/>
          <a:lstStyle/>
          <a:p>
            <a:pPr indent="0" marL="0">
              <a:buNone/>
            </a:pPr>
            <a:r>
              <a:rPr lang="en-US" sz="1200" b="1" dirty="0">
                <a:solidFill>
                  <a:schemeClr val="accent3"/>
                </a:solidFill>
              </a:rPr>
              <a:t>The evidence</a:t>
            </a:r>
            <a:endParaRPr lang="en-US" sz="1200" dirty="0"/>
          </a:p>
        </p:txBody>
      </p:sp>
      <p:sp>
        <p:nvSpPr>
          <p:cNvPr id="4" name="Text 2"/>
          <p:cNvSpPr txBox="1"/>
          <p:nvPr/>
        </p:nvSpPr>
        <p:spPr>
          <a:xfrm>
            <a:off x="6035040" y="1261872"/>
            <a:ext cx="5608015" cy="274320"/>
          </a:xfrm>
          <a:prstGeom prst="rect">
            <a:avLst/>
          </a:prstGeom>
          <a:noFill/>
          <a:ln/>
        </p:spPr>
        <p:txBody>
          <a:bodyPr wrap="square" lIns="0" tIns="0" rIns="0" bIns="0" rtlCol="0" anchor="t"/>
          <a:lstStyle/>
          <a:p>
            <a:pPr indent="0" marL="0">
              <a:buNone/>
            </a:pPr>
            <a:r>
              <a:rPr lang="en-US" sz="1200" b="1" dirty="0">
                <a:solidFill>
                  <a:schemeClr val="accent1"/>
                </a:solidFill>
              </a:rPr>
              <a:t>What Agentic Translator does</a:t>
            </a:r>
            <a:endParaRPr lang="en-US" sz="1200" dirty="0"/>
          </a:p>
        </p:txBody>
      </p:sp>
      <p:sp>
        <p:nvSpPr>
          <p:cNvPr id="5" name="card"/>
          <p:cNvSpPr/>
          <p:nvPr/>
        </p:nvSpPr>
        <p:spPr>
          <a:xfrm>
            <a:off x="548640" y="1572768"/>
            <a:ext cx="4800600" cy="658368"/>
          </a:xfrm>
          <a:prstGeom prst="roundRect">
            <a:avLst>
              <a:gd name="adj" fmla="val 11111"/>
            </a:avLst>
          </a:prstGeom>
          <a:solidFill>
            <a:schemeClr val="bg2"/>
          </a:solidFill>
          <a:ln/>
        </p:spPr>
      </p:sp>
      <p:sp>
        <p:nvSpPr>
          <p:cNvPr id="6" name="Text 4"/>
          <p:cNvSpPr txBox="1"/>
          <p:nvPr/>
        </p:nvSpPr>
        <p:spPr>
          <a:xfrm>
            <a:off x="731520" y="1572768"/>
            <a:ext cx="4434840" cy="658368"/>
          </a:xfrm>
          <a:prstGeom prst="rect">
            <a:avLst/>
          </a:prstGeom>
          <a:noFill/>
          <a:ln/>
        </p:spPr>
        <p:txBody>
          <a:bodyPr wrap="square" lIns="0" tIns="0" rIns="0" bIns="0" rtlCol="0" anchor="ctr"/>
          <a:lstStyle/>
          <a:p>
            <a:pPr indent="0" marL="0">
              <a:buNone/>
            </a:pPr>
            <a:r>
              <a:rPr lang="en-US" sz="1400" b="1" dirty="0">
                <a:solidFill>
                  <a:schemeClr val="tx1"/>
                </a:solidFill>
              </a:rPr>
              <a:t>AI readers write plausible text they can't see</a:t>
            </a:r>
            <a:endParaRPr lang="en-US" sz="1400" dirty="0"/>
          </a:p>
          <a:p>
            <a:pPr indent="0" marL="0">
              <a:buNone/>
            </a:pPr>
            <a:r>
              <a:rPr lang="en-US" sz="1000" dirty="0">
                <a:solidFill>
                  <a:schemeClr val="accent3"/>
                </a:solidFill>
              </a:rPr>
              <a:t>GlotOCR, SceneFaith 2026</a:t>
            </a:r>
            <a:endParaRPr lang="en-US" sz="1400" dirty="0"/>
          </a:p>
        </p:txBody>
      </p:sp>
      <p:pic>
        <p:nvPicPr>
          <p:cNvPr id="7" name="Image 0" descr="preencoded.png">    </p:cNvPr>
          <p:cNvPicPr>
            <a:picLocks noChangeAspect="1"/>
          </p:cNvPicPr>
          <p:nvPr/>
        </p:nvPicPr>
        <p:blipFill>
          <a:blip r:embed="rId1"/>
          <a:stretch>
            <a:fillRect/>
          </a:stretch>
        </p:blipFill>
        <p:spPr>
          <a:xfrm>
            <a:off x="5532120" y="1755648"/>
            <a:ext cx="292608" cy="292608"/>
          </a:xfrm>
          <a:prstGeom prst="rect">
            <a:avLst/>
          </a:prstGeom>
        </p:spPr>
      </p:pic>
      <p:sp>
        <p:nvSpPr>
          <p:cNvPr id="8" name="card"/>
          <p:cNvSpPr/>
          <p:nvPr/>
        </p:nvSpPr>
        <p:spPr>
          <a:xfrm>
            <a:off x="6035040" y="1572768"/>
            <a:ext cx="5608015" cy="658368"/>
          </a:xfrm>
          <a:prstGeom prst="roundRect">
            <a:avLst>
              <a:gd name="adj" fmla="val 11111"/>
            </a:avLst>
          </a:prstGeom>
          <a:solidFill>
            <a:schemeClr val="tx1"/>
          </a:solidFill>
          <a:ln/>
        </p:spPr>
      </p:sp>
      <p:sp>
        <p:nvSpPr>
          <p:cNvPr id="9" name="Text 6"/>
          <p:cNvSpPr txBox="1"/>
          <p:nvPr/>
        </p:nvSpPr>
        <p:spPr>
          <a:xfrm>
            <a:off x="6217920" y="1572768"/>
            <a:ext cx="5242255" cy="658368"/>
          </a:xfrm>
          <a:prstGeom prst="rect">
            <a:avLst/>
          </a:prstGeom>
          <a:noFill/>
          <a:ln/>
        </p:spPr>
        <p:txBody>
          <a:bodyPr wrap="square" lIns="0" tIns="0" rIns="0" bIns="0" rtlCol="0" anchor="ctr"/>
          <a:lstStyle/>
          <a:p>
            <a:pPr indent="0" marL="0">
              <a:buNone/>
            </a:pPr>
            <a:r>
              <a:rPr lang="en-US" sz="1350" dirty="0">
                <a:solidFill>
                  <a:schemeClr val="bg1"/>
                </a:solidFill>
              </a:rPr>
              <a:t>A source check before translating: you compare page and reading, and new source text must be read off the page</a:t>
            </a:r>
            <a:endParaRPr lang="en-US" sz="1350" dirty="0"/>
          </a:p>
        </p:txBody>
      </p:sp>
      <p:sp>
        <p:nvSpPr>
          <p:cNvPr id="10" name="card"/>
          <p:cNvSpPr/>
          <p:nvPr/>
        </p:nvSpPr>
        <p:spPr>
          <a:xfrm>
            <a:off x="548640" y="2322576"/>
            <a:ext cx="4800600" cy="658368"/>
          </a:xfrm>
          <a:prstGeom prst="roundRect">
            <a:avLst>
              <a:gd name="adj" fmla="val 11111"/>
            </a:avLst>
          </a:prstGeom>
          <a:solidFill>
            <a:schemeClr val="bg2"/>
          </a:solidFill>
          <a:ln/>
        </p:spPr>
      </p:sp>
      <p:sp>
        <p:nvSpPr>
          <p:cNvPr id="11" name="Text 8"/>
          <p:cNvSpPr txBox="1"/>
          <p:nvPr/>
        </p:nvSpPr>
        <p:spPr>
          <a:xfrm>
            <a:off x="731520" y="2322576"/>
            <a:ext cx="4434840" cy="658368"/>
          </a:xfrm>
          <a:prstGeom prst="rect">
            <a:avLst/>
          </a:prstGeom>
          <a:noFill/>
          <a:ln/>
        </p:spPr>
        <p:txBody>
          <a:bodyPr wrap="square" lIns="0" tIns="0" rIns="0" bIns="0" rtlCol="0" anchor="ctr"/>
          <a:lstStyle/>
          <a:p>
            <a:pPr indent="0" marL="0">
              <a:buNone/>
            </a:pPr>
            <a:r>
              <a:rPr lang="en-US" sz="1400" b="1" dirty="0">
                <a:solidFill>
                  <a:schemeClr val="tx1"/>
                </a:solidFill>
              </a:rPr>
              <a:t>Whole documents beat sentences</a:t>
            </a:r>
            <a:endParaRPr lang="en-US" sz="1400" dirty="0"/>
          </a:p>
          <a:p>
            <a:pPr indent="0" marL="0">
              <a:buNone/>
            </a:pPr>
            <a:r>
              <a:rPr lang="en-US" sz="1000" dirty="0">
                <a:solidFill>
                  <a:schemeClr val="accent3"/>
                </a:solidFill>
              </a:rPr>
              <a:t>Läubli 2018; Karpinska &amp; Iyyer 2023</a:t>
            </a:r>
            <a:endParaRPr lang="en-US" sz="1400" dirty="0"/>
          </a:p>
        </p:txBody>
      </p:sp>
      <p:pic>
        <p:nvPicPr>
          <p:cNvPr id="12" name="Image 1" descr="preencoded.png">    </p:cNvPr>
          <p:cNvPicPr>
            <a:picLocks noChangeAspect="1"/>
          </p:cNvPicPr>
          <p:nvPr/>
        </p:nvPicPr>
        <p:blipFill>
          <a:blip r:embed="rId2"/>
          <a:stretch>
            <a:fillRect/>
          </a:stretch>
        </p:blipFill>
        <p:spPr>
          <a:xfrm>
            <a:off x="5532120" y="2505456"/>
            <a:ext cx="292608" cy="292608"/>
          </a:xfrm>
          <a:prstGeom prst="rect">
            <a:avLst/>
          </a:prstGeom>
        </p:spPr>
      </p:pic>
      <p:sp>
        <p:nvSpPr>
          <p:cNvPr id="13" name="card"/>
          <p:cNvSpPr/>
          <p:nvPr/>
        </p:nvSpPr>
        <p:spPr>
          <a:xfrm>
            <a:off x="6035040" y="2322576"/>
            <a:ext cx="5608015" cy="658368"/>
          </a:xfrm>
          <a:prstGeom prst="roundRect">
            <a:avLst>
              <a:gd name="adj" fmla="val 11111"/>
            </a:avLst>
          </a:prstGeom>
          <a:solidFill>
            <a:schemeClr val="tx1"/>
          </a:solidFill>
          <a:ln/>
        </p:spPr>
      </p:sp>
      <p:sp>
        <p:nvSpPr>
          <p:cNvPr id="14" name="Text 10"/>
          <p:cNvSpPr txBox="1"/>
          <p:nvPr/>
        </p:nvSpPr>
        <p:spPr>
          <a:xfrm>
            <a:off x="6217920" y="2322576"/>
            <a:ext cx="5242255" cy="658368"/>
          </a:xfrm>
          <a:prstGeom prst="rect">
            <a:avLst/>
          </a:prstGeom>
          <a:noFill/>
          <a:ln/>
        </p:spPr>
        <p:txBody>
          <a:bodyPr wrap="square" lIns="0" tIns="0" rIns="0" bIns="0" rtlCol="0" anchor="ctr"/>
          <a:lstStyle/>
          <a:p>
            <a:pPr indent="0" marL="0">
              <a:buNone/>
            </a:pPr>
            <a:r>
              <a:rPr lang="en-US" sz="1350" dirty="0">
                <a:solidFill>
                  <a:schemeClr val="bg1"/>
                </a:solidFill>
              </a:rPr>
              <a:t>Analyse the whole document first: a brief and the key terms; each page is translated with the one before</a:t>
            </a:r>
            <a:endParaRPr lang="en-US" sz="1350" dirty="0"/>
          </a:p>
        </p:txBody>
      </p:sp>
      <p:sp>
        <p:nvSpPr>
          <p:cNvPr id="15" name="card"/>
          <p:cNvSpPr/>
          <p:nvPr/>
        </p:nvSpPr>
        <p:spPr>
          <a:xfrm>
            <a:off x="548640" y="3072384"/>
            <a:ext cx="4800600" cy="658368"/>
          </a:xfrm>
          <a:prstGeom prst="roundRect">
            <a:avLst>
              <a:gd name="adj" fmla="val 11111"/>
            </a:avLst>
          </a:prstGeom>
          <a:solidFill>
            <a:schemeClr val="bg2"/>
          </a:solidFill>
          <a:ln/>
        </p:spPr>
      </p:sp>
      <p:sp>
        <p:nvSpPr>
          <p:cNvPr id="16" name="Text 12"/>
          <p:cNvSpPr txBox="1"/>
          <p:nvPr/>
        </p:nvSpPr>
        <p:spPr>
          <a:xfrm>
            <a:off x="731520" y="3072384"/>
            <a:ext cx="4434840" cy="658368"/>
          </a:xfrm>
          <a:prstGeom prst="rect">
            <a:avLst/>
          </a:prstGeom>
          <a:noFill/>
          <a:ln/>
        </p:spPr>
        <p:txBody>
          <a:bodyPr wrap="square" lIns="0" tIns="0" rIns="0" bIns="0" rtlCol="0" anchor="ctr"/>
          <a:lstStyle/>
          <a:p>
            <a:pPr indent="0" marL="0">
              <a:buNone/>
            </a:pPr>
            <a:r>
              <a:rPr lang="en-US" sz="1400" b="1" dirty="0">
                <a:solidFill>
                  <a:schemeClr val="tx1"/>
                </a:solidFill>
              </a:rPr>
              <a:t>Your glossary and past translations lift quality</a:t>
            </a:r>
            <a:endParaRPr lang="en-US" sz="1400" dirty="0"/>
          </a:p>
          <a:p>
            <a:pPr indent="0" marL="0">
              <a:buNone/>
            </a:pPr>
            <a:r>
              <a:rPr lang="en-US" sz="1000" dirty="0">
                <a:solidFill>
                  <a:schemeClr val="accent3"/>
                </a:solidFill>
              </a:rPr>
              <a:t>WMT25 Terminology; Moslem 2023</a:t>
            </a:r>
            <a:endParaRPr lang="en-US" sz="1400" dirty="0"/>
          </a:p>
        </p:txBody>
      </p:sp>
      <p:pic>
        <p:nvPicPr>
          <p:cNvPr id="17" name="Image 2" descr="preencoded.png">    </p:cNvPr>
          <p:cNvPicPr>
            <a:picLocks noChangeAspect="1"/>
          </p:cNvPicPr>
          <p:nvPr/>
        </p:nvPicPr>
        <p:blipFill>
          <a:blip r:embed="rId3"/>
          <a:stretch>
            <a:fillRect/>
          </a:stretch>
        </p:blipFill>
        <p:spPr>
          <a:xfrm>
            <a:off x="5532120" y="3255264"/>
            <a:ext cx="292608" cy="292608"/>
          </a:xfrm>
          <a:prstGeom prst="rect">
            <a:avLst/>
          </a:prstGeom>
        </p:spPr>
      </p:pic>
      <p:sp>
        <p:nvSpPr>
          <p:cNvPr id="18" name="card"/>
          <p:cNvSpPr/>
          <p:nvPr/>
        </p:nvSpPr>
        <p:spPr>
          <a:xfrm>
            <a:off x="6035040" y="3072384"/>
            <a:ext cx="5608015" cy="658368"/>
          </a:xfrm>
          <a:prstGeom prst="roundRect">
            <a:avLst>
              <a:gd name="adj" fmla="val 11111"/>
            </a:avLst>
          </a:prstGeom>
          <a:solidFill>
            <a:schemeClr val="tx1"/>
          </a:solidFill>
          <a:ln/>
        </p:spPr>
      </p:sp>
      <p:sp>
        <p:nvSpPr>
          <p:cNvPr id="19" name="Text 14"/>
          <p:cNvSpPr txBox="1"/>
          <p:nvPr/>
        </p:nvSpPr>
        <p:spPr>
          <a:xfrm>
            <a:off x="6217920" y="3072384"/>
            <a:ext cx="5242255" cy="658368"/>
          </a:xfrm>
          <a:prstGeom prst="rect">
            <a:avLst/>
          </a:prstGeom>
          <a:noFill/>
          <a:ln/>
        </p:spPr>
        <p:txBody>
          <a:bodyPr wrap="square" lIns="0" tIns="0" rIns="0" bIns="0" rtlCol="0" anchor="ctr"/>
          <a:lstStyle/>
          <a:p>
            <a:pPr indent="0" marL="0">
              <a:buNone/>
            </a:pPr>
            <a:r>
              <a:rPr lang="en-US" sz="1350" dirty="0">
                <a:solidFill>
                  <a:schemeClr val="bg1"/>
                </a:solidFill>
              </a:rPr>
              <a:t>The project's termbase and translation memory in every step; exact matches need no model call</a:t>
            </a:r>
            <a:endParaRPr lang="en-US" sz="1350" dirty="0"/>
          </a:p>
        </p:txBody>
      </p:sp>
      <p:sp>
        <p:nvSpPr>
          <p:cNvPr id="20" name="card"/>
          <p:cNvSpPr/>
          <p:nvPr/>
        </p:nvSpPr>
        <p:spPr>
          <a:xfrm>
            <a:off x="548640" y="3822192"/>
            <a:ext cx="4800600" cy="658368"/>
          </a:xfrm>
          <a:prstGeom prst="roundRect">
            <a:avLst>
              <a:gd name="adj" fmla="val 11111"/>
            </a:avLst>
          </a:prstGeom>
          <a:solidFill>
            <a:schemeClr val="bg2"/>
          </a:solidFill>
          <a:ln/>
        </p:spPr>
      </p:sp>
      <p:sp>
        <p:nvSpPr>
          <p:cNvPr id="21" name="Text 16"/>
          <p:cNvSpPr txBox="1"/>
          <p:nvPr/>
        </p:nvSpPr>
        <p:spPr>
          <a:xfrm>
            <a:off x="731520" y="3822192"/>
            <a:ext cx="4434840" cy="658368"/>
          </a:xfrm>
          <a:prstGeom prst="rect">
            <a:avLst/>
          </a:prstGeom>
          <a:noFill/>
          <a:ln/>
        </p:spPr>
        <p:txBody>
          <a:bodyPr wrap="square" lIns="0" tIns="0" rIns="0" bIns="0" rtlCol="0" anchor="ctr"/>
          <a:lstStyle/>
          <a:p>
            <a:pPr indent="0" marL="0">
              <a:buNone/>
            </a:pPr>
            <a:r>
              <a:rPr lang="en-US" sz="1400" b="1" dirty="0">
                <a:solidFill>
                  <a:schemeClr val="tx1"/>
                </a:solidFill>
              </a:rPr>
              <a:t>Asking beats guessing</a:t>
            </a:r>
            <a:endParaRPr lang="en-US" sz="1400" dirty="0"/>
          </a:p>
          <a:p>
            <a:pPr indent="0" marL="0">
              <a:buNone/>
            </a:pPr>
            <a:r>
              <a:rPr lang="en-US" sz="1000" dirty="0">
                <a:solidFill>
                  <a:schemeClr val="accent3"/>
                </a:solidFill>
              </a:rPr>
              <a:t>Pilault 2023; Iyer 2023</a:t>
            </a:r>
            <a:endParaRPr lang="en-US" sz="1400" dirty="0"/>
          </a:p>
        </p:txBody>
      </p:sp>
      <p:pic>
        <p:nvPicPr>
          <p:cNvPr id="22" name="Image 3" descr="preencoded.png">    </p:cNvPr>
          <p:cNvPicPr>
            <a:picLocks noChangeAspect="1"/>
          </p:cNvPicPr>
          <p:nvPr/>
        </p:nvPicPr>
        <p:blipFill>
          <a:blip r:embed="rId4"/>
          <a:stretch>
            <a:fillRect/>
          </a:stretch>
        </p:blipFill>
        <p:spPr>
          <a:xfrm>
            <a:off x="5532120" y="4005072"/>
            <a:ext cx="292608" cy="292608"/>
          </a:xfrm>
          <a:prstGeom prst="rect">
            <a:avLst/>
          </a:prstGeom>
        </p:spPr>
      </p:pic>
      <p:sp>
        <p:nvSpPr>
          <p:cNvPr id="23" name="card"/>
          <p:cNvSpPr/>
          <p:nvPr/>
        </p:nvSpPr>
        <p:spPr>
          <a:xfrm>
            <a:off x="6035040" y="3822192"/>
            <a:ext cx="5608015" cy="658368"/>
          </a:xfrm>
          <a:prstGeom prst="roundRect">
            <a:avLst>
              <a:gd name="adj" fmla="val 11111"/>
            </a:avLst>
          </a:prstGeom>
          <a:solidFill>
            <a:schemeClr val="tx1"/>
          </a:solidFill>
          <a:ln/>
        </p:spPr>
      </p:sp>
      <p:sp>
        <p:nvSpPr>
          <p:cNvPr id="24" name="Text 18"/>
          <p:cNvSpPr txBox="1"/>
          <p:nvPr/>
        </p:nvSpPr>
        <p:spPr>
          <a:xfrm>
            <a:off x="6217920" y="3822192"/>
            <a:ext cx="5242255" cy="658368"/>
          </a:xfrm>
          <a:prstGeom prst="rect">
            <a:avLst/>
          </a:prstGeom>
          <a:noFill/>
          <a:ln/>
        </p:spPr>
        <p:txBody>
          <a:bodyPr wrap="square" lIns="0" tIns="0" rIns="0" bIns="0" rtlCol="0" anchor="ctr"/>
          <a:lstStyle/>
          <a:p>
            <a:pPr indent="0" marL="0">
              <a:buNone/>
            </a:pPr>
            <a:r>
              <a:rPr lang="en-US" sz="1350" dirty="0">
                <a:solidFill>
                  <a:schemeClr val="bg1"/>
                </a:solidFill>
              </a:rPr>
              <a:t>Ambiguous terms become questions in plain English, before anything is translated</a:t>
            </a:r>
            <a:endParaRPr lang="en-US" sz="1350" dirty="0"/>
          </a:p>
        </p:txBody>
      </p:sp>
      <p:sp>
        <p:nvSpPr>
          <p:cNvPr id="25" name="card"/>
          <p:cNvSpPr/>
          <p:nvPr/>
        </p:nvSpPr>
        <p:spPr>
          <a:xfrm>
            <a:off x="548640" y="4572000"/>
            <a:ext cx="4800600" cy="658368"/>
          </a:xfrm>
          <a:prstGeom prst="roundRect">
            <a:avLst>
              <a:gd name="adj" fmla="val 11111"/>
            </a:avLst>
          </a:prstGeom>
          <a:solidFill>
            <a:schemeClr val="bg2"/>
          </a:solidFill>
          <a:ln/>
        </p:spPr>
      </p:sp>
      <p:sp>
        <p:nvSpPr>
          <p:cNvPr id="26" name="Text 20"/>
          <p:cNvSpPr txBox="1"/>
          <p:nvPr/>
        </p:nvSpPr>
        <p:spPr>
          <a:xfrm>
            <a:off x="731520" y="4572000"/>
            <a:ext cx="4434840" cy="658368"/>
          </a:xfrm>
          <a:prstGeom prst="rect">
            <a:avLst/>
          </a:prstGeom>
          <a:noFill/>
          <a:ln/>
        </p:spPr>
        <p:txBody>
          <a:bodyPr wrap="square" lIns="0" tIns="0" rIns="0" bIns="0" rtlCol="0" anchor="ctr"/>
          <a:lstStyle/>
          <a:p>
            <a:pPr indent="0" marL="0">
              <a:buNone/>
            </a:pPr>
            <a:r>
              <a:rPr lang="en-US" sz="1400" b="1" dirty="0">
                <a:solidFill>
                  <a:schemeClr val="tx1"/>
                </a:solidFill>
              </a:rPr>
              <a:t>One focused review helps; endless loops don't</a:t>
            </a:r>
            <a:endParaRPr lang="en-US" sz="1400" dirty="0"/>
          </a:p>
          <a:p>
            <a:pPr indent="0" marL="0">
              <a:buNone/>
            </a:pPr>
            <a:r>
              <a:rPr lang="en-US" sz="1000" dirty="0">
                <a:solidFill>
                  <a:schemeClr val="accent3"/>
                </a:solidFill>
              </a:rPr>
              <a:t>LLMRefine 2024; TEaR; Tan 2026</a:t>
            </a:r>
            <a:endParaRPr lang="en-US" sz="1400" dirty="0"/>
          </a:p>
        </p:txBody>
      </p:sp>
      <p:pic>
        <p:nvPicPr>
          <p:cNvPr id="27" name="Image 4" descr="preencoded.png">    </p:cNvPr>
          <p:cNvPicPr>
            <a:picLocks noChangeAspect="1"/>
          </p:cNvPicPr>
          <p:nvPr/>
        </p:nvPicPr>
        <p:blipFill>
          <a:blip r:embed="rId5"/>
          <a:stretch>
            <a:fillRect/>
          </a:stretch>
        </p:blipFill>
        <p:spPr>
          <a:xfrm>
            <a:off x="5532120" y="4754880"/>
            <a:ext cx="292608" cy="292608"/>
          </a:xfrm>
          <a:prstGeom prst="rect">
            <a:avLst/>
          </a:prstGeom>
        </p:spPr>
      </p:pic>
      <p:sp>
        <p:nvSpPr>
          <p:cNvPr id="28" name="card"/>
          <p:cNvSpPr/>
          <p:nvPr/>
        </p:nvSpPr>
        <p:spPr>
          <a:xfrm>
            <a:off x="6035040" y="4572000"/>
            <a:ext cx="5608015" cy="658368"/>
          </a:xfrm>
          <a:prstGeom prst="roundRect">
            <a:avLst>
              <a:gd name="adj" fmla="val 11111"/>
            </a:avLst>
          </a:prstGeom>
          <a:solidFill>
            <a:schemeClr val="tx1"/>
          </a:solidFill>
          <a:ln/>
        </p:spPr>
      </p:sp>
      <p:sp>
        <p:nvSpPr>
          <p:cNvPr id="29" name="Text 22"/>
          <p:cNvSpPr txBox="1"/>
          <p:nvPr/>
        </p:nvSpPr>
        <p:spPr>
          <a:xfrm>
            <a:off x="6217920" y="4572000"/>
            <a:ext cx="5242255" cy="658368"/>
          </a:xfrm>
          <a:prstGeom prst="rect">
            <a:avLst/>
          </a:prstGeom>
          <a:noFill/>
          <a:ln/>
        </p:spPr>
        <p:txBody>
          <a:bodyPr wrap="square" lIns="0" tIns="0" rIns="0" bIns="0" rtlCol="0" anchor="ctr"/>
          <a:lstStyle/>
          <a:p>
            <a:pPr indent="0" marL="0">
              <a:buNone/>
            </a:pPr>
            <a:r>
              <a:rPr lang="en-US" sz="1350" dirty="0">
                <a:solidFill>
                  <a:schemeClr val="bg1"/>
                </a:solidFill>
              </a:rPr>
              <a:t>A second model reviews with error categories; targeted fixes, at most two rounds</a:t>
            </a:r>
            <a:endParaRPr lang="en-US" sz="1350" dirty="0"/>
          </a:p>
        </p:txBody>
      </p:sp>
      <p:sp>
        <p:nvSpPr>
          <p:cNvPr id="30" name="card"/>
          <p:cNvSpPr/>
          <p:nvPr/>
        </p:nvSpPr>
        <p:spPr>
          <a:xfrm>
            <a:off x="548640" y="5321808"/>
            <a:ext cx="4800600" cy="658368"/>
          </a:xfrm>
          <a:prstGeom prst="roundRect">
            <a:avLst>
              <a:gd name="adj" fmla="val 11111"/>
            </a:avLst>
          </a:prstGeom>
          <a:solidFill>
            <a:schemeClr val="bg2"/>
          </a:solidFill>
          <a:ln/>
        </p:spPr>
      </p:sp>
      <p:sp>
        <p:nvSpPr>
          <p:cNvPr id="31" name="Text 24"/>
          <p:cNvSpPr txBox="1"/>
          <p:nvPr/>
        </p:nvSpPr>
        <p:spPr>
          <a:xfrm>
            <a:off x="731520" y="5321808"/>
            <a:ext cx="4434840" cy="658368"/>
          </a:xfrm>
          <a:prstGeom prst="rect">
            <a:avLst/>
          </a:prstGeom>
          <a:noFill/>
          <a:ln/>
        </p:spPr>
        <p:txBody>
          <a:bodyPr wrap="square" lIns="0" tIns="0" rIns="0" bIns="0" rtlCol="0" anchor="ctr"/>
          <a:lstStyle/>
          <a:p>
            <a:pPr indent="0" marL="0">
              <a:buNone/>
            </a:pPr>
            <a:r>
              <a:rPr lang="en-US" sz="1400" b="1" dirty="0">
                <a:solidFill>
                  <a:schemeClr val="tx1"/>
                </a:solidFill>
              </a:rPr>
              <a:t>Scores should point; people decide</a:t>
            </a:r>
            <a:endParaRPr lang="en-US" sz="1400" dirty="0"/>
          </a:p>
          <a:p>
            <a:pPr indent="0" marL="0">
              <a:buNone/>
            </a:pPr>
            <a:r>
              <a:rPr lang="en-US" sz="1000" dirty="0">
                <a:solidFill>
                  <a:schemeClr val="accent3"/>
                </a:solidFill>
              </a:rPr>
              <a:t>Fernandes 2022; Brewster 2025; CHORUS 2026</a:t>
            </a:r>
            <a:endParaRPr lang="en-US" sz="1400" dirty="0"/>
          </a:p>
        </p:txBody>
      </p:sp>
      <p:pic>
        <p:nvPicPr>
          <p:cNvPr id="32" name="Image 5" descr="preencoded.png">    </p:cNvPr>
          <p:cNvPicPr>
            <a:picLocks noChangeAspect="1"/>
          </p:cNvPicPr>
          <p:nvPr/>
        </p:nvPicPr>
        <p:blipFill>
          <a:blip r:embed="rId6"/>
          <a:stretch>
            <a:fillRect/>
          </a:stretch>
        </p:blipFill>
        <p:spPr>
          <a:xfrm>
            <a:off x="5532120" y="5504688"/>
            <a:ext cx="292608" cy="292608"/>
          </a:xfrm>
          <a:prstGeom prst="rect">
            <a:avLst/>
          </a:prstGeom>
        </p:spPr>
      </p:pic>
      <p:sp>
        <p:nvSpPr>
          <p:cNvPr id="33" name="card"/>
          <p:cNvSpPr/>
          <p:nvPr/>
        </p:nvSpPr>
        <p:spPr>
          <a:xfrm>
            <a:off x="6035040" y="5321808"/>
            <a:ext cx="5608015" cy="658368"/>
          </a:xfrm>
          <a:prstGeom prst="roundRect">
            <a:avLst>
              <a:gd name="adj" fmla="val 11111"/>
            </a:avLst>
          </a:prstGeom>
          <a:solidFill>
            <a:schemeClr val="tx1"/>
          </a:solidFill>
          <a:ln/>
        </p:spPr>
      </p:sp>
      <p:sp>
        <p:nvSpPr>
          <p:cNvPr id="34" name="Text 26"/>
          <p:cNvSpPr txBox="1"/>
          <p:nvPr/>
        </p:nvSpPr>
        <p:spPr>
          <a:xfrm>
            <a:off x="6217920" y="5321808"/>
            <a:ext cx="5242255" cy="658368"/>
          </a:xfrm>
          <a:prstGeom prst="rect">
            <a:avLst/>
          </a:prstGeom>
          <a:noFill/>
          <a:ln/>
        </p:spPr>
        <p:txBody>
          <a:bodyPr wrap="square" lIns="0" tIns="0" rIns="0" bIns="0" rtlCol="0" anchor="ctr"/>
          <a:lstStyle/>
          <a:p>
            <a:pPr indent="0" marL="0">
              <a:buNone/>
            </a:pPr>
            <a:r>
              <a:rPr lang="en-US" sz="1350" dirty="0">
                <a:solidFill>
                  <a:schemeClr val="bg1"/>
                </a:solidFill>
              </a:rPr>
              <a:t>QA and an MQM score build a review queue; every change is a proposal you accept or reject</a:t>
            </a:r>
            <a:endParaRPr lang="en-US" sz="135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The pipeline: six agent steps, two human checkpoints</a:t>
            </a:r>
            <a:endParaRPr lang="en-US" sz="3200" dirty="0"/>
          </a:p>
        </p:txBody>
      </p:sp>
      <p:sp>
        <p:nvSpPr>
          <p:cNvPr id="3" name="step"/>
          <p:cNvSpPr/>
          <p:nvPr/>
        </p:nvSpPr>
        <p:spPr>
          <a:xfrm>
            <a:off x="548640" y="2148840"/>
            <a:ext cx="1382230" cy="868680"/>
          </a:xfrm>
          <a:prstGeom prst="homePlate">
            <a:avLst/>
          </a:prstGeom>
          <a:solidFill>
            <a:schemeClr val="tx2"/>
          </a:solidFill>
          <a:ln/>
        </p:spPr>
      </p:sp>
      <p:sp>
        <p:nvSpPr>
          <p:cNvPr id="4" name="Text 2"/>
          <p:cNvSpPr txBox="1"/>
          <p:nvPr/>
        </p:nvSpPr>
        <p:spPr>
          <a:xfrm>
            <a:off x="640080" y="2148840"/>
            <a:ext cx="970750" cy="868680"/>
          </a:xfrm>
          <a:prstGeom prst="rect">
            <a:avLst/>
          </a:prstGeom>
          <a:noFill/>
          <a:ln/>
        </p:spPr>
        <p:txBody>
          <a:bodyPr wrap="square" lIns="0" tIns="0" rIns="0" bIns="0" rtlCol="0" anchor="ctr"/>
          <a:lstStyle/>
          <a:p>
            <a:pPr algn="ctr" indent="0" marL="0">
              <a:buNone/>
            </a:pPr>
            <a:r>
              <a:rPr lang="en-US" sz="1500" b="1" dirty="0">
                <a:solidFill>
                  <a:schemeClr val="bg1"/>
                </a:solidFill>
              </a:rPr>
              <a:t>Read</a:t>
            </a:r>
            <a:endParaRPr lang="en-US" sz="1500" dirty="0"/>
          </a:p>
        </p:txBody>
      </p:sp>
      <p:sp>
        <p:nvSpPr>
          <p:cNvPr id="5" name="Text 3"/>
          <p:cNvSpPr txBox="1"/>
          <p:nvPr/>
        </p:nvSpPr>
        <p:spPr>
          <a:xfrm>
            <a:off x="594360" y="3200400"/>
            <a:ext cx="1245070" cy="1554480"/>
          </a:xfrm>
          <a:prstGeom prst="rect">
            <a:avLst/>
          </a:prstGeom>
          <a:noFill/>
          <a:ln/>
        </p:spPr>
        <p:txBody>
          <a:bodyPr wrap="square" lIns="0" tIns="0" rIns="0" bIns="0" rtlCol="0" anchor="t"/>
          <a:lstStyle/>
          <a:p>
            <a:pPr indent="0" marL="0">
              <a:buNone/>
            </a:pPr>
            <a:r>
              <a:rPr lang="en-US" sz="1300" dirty="0">
                <a:solidFill>
                  <a:schemeClr val="tx1"/>
                </a:solidFill>
              </a:rPr>
              <a:t>A vision model reads each page; a layout model finds pictures and seals</a:t>
            </a:r>
            <a:endParaRPr lang="en-US" sz="1300" dirty="0"/>
          </a:p>
        </p:txBody>
      </p:sp>
      <p:sp>
        <p:nvSpPr>
          <p:cNvPr id="6" name="step"/>
          <p:cNvSpPr/>
          <p:nvPr/>
        </p:nvSpPr>
        <p:spPr>
          <a:xfrm>
            <a:off x="1949158" y="2148840"/>
            <a:ext cx="1382230" cy="868680"/>
          </a:xfrm>
          <a:prstGeom prst="chevron">
            <a:avLst/>
          </a:prstGeom>
          <a:solidFill>
            <a:schemeClr val="accent1"/>
          </a:solidFill>
          <a:ln/>
        </p:spPr>
      </p:sp>
      <p:sp>
        <p:nvSpPr>
          <p:cNvPr id="7" name="Text 5"/>
          <p:cNvSpPr txBox="1"/>
          <p:nvPr/>
        </p:nvSpPr>
        <p:spPr>
          <a:xfrm>
            <a:off x="2223478" y="2148840"/>
            <a:ext cx="970750" cy="868680"/>
          </a:xfrm>
          <a:prstGeom prst="rect">
            <a:avLst/>
          </a:prstGeom>
          <a:noFill/>
          <a:ln/>
        </p:spPr>
        <p:txBody>
          <a:bodyPr wrap="square" lIns="0" tIns="0" rIns="0" bIns="0" rtlCol="0" anchor="ctr"/>
          <a:lstStyle/>
          <a:p>
            <a:pPr algn="ctr" indent="0" marL="0">
              <a:buNone/>
            </a:pPr>
            <a:r>
              <a:rPr lang="en-US" sz="1500" b="1" dirty="0">
                <a:solidFill>
                  <a:schemeClr val="bg1"/>
                </a:solidFill>
              </a:rPr>
              <a:t>Check</a:t>
            </a:r>
            <a:endParaRPr lang="en-US" sz="1500" dirty="0"/>
          </a:p>
        </p:txBody>
      </p:sp>
      <p:pic>
        <p:nvPicPr>
          <p:cNvPr id="8" name="Image 0" descr="preencoded.png">    </p:cNvPr>
          <p:cNvPicPr>
            <a:picLocks noChangeAspect="1"/>
          </p:cNvPicPr>
          <p:nvPr/>
        </p:nvPicPr>
        <p:blipFill>
          <a:blip r:embed="rId1"/>
          <a:stretch>
            <a:fillRect/>
          </a:stretch>
        </p:blipFill>
        <p:spPr>
          <a:xfrm>
            <a:off x="2429961" y="1737360"/>
            <a:ext cx="329184" cy="329184"/>
          </a:xfrm>
          <a:prstGeom prst="rect">
            <a:avLst/>
          </a:prstGeom>
        </p:spPr>
      </p:pic>
      <p:sp>
        <p:nvSpPr>
          <p:cNvPr id="9" name="Text 6"/>
          <p:cNvSpPr txBox="1"/>
          <p:nvPr/>
        </p:nvSpPr>
        <p:spPr>
          <a:xfrm>
            <a:off x="2137353" y="1417320"/>
            <a:ext cx="914400" cy="274320"/>
          </a:xfrm>
          <a:prstGeom prst="rect">
            <a:avLst/>
          </a:prstGeom>
          <a:noFill/>
          <a:ln/>
        </p:spPr>
        <p:txBody>
          <a:bodyPr wrap="square" lIns="0" tIns="0" rIns="0" bIns="0" rtlCol="0" anchor="t"/>
          <a:lstStyle/>
          <a:p>
            <a:pPr algn="ctr" indent="0" marL="0">
              <a:buNone/>
            </a:pPr>
            <a:r>
              <a:rPr lang="en-US" sz="1200" b="1" dirty="0">
                <a:solidFill>
                  <a:schemeClr val="accent1"/>
                </a:solidFill>
              </a:rPr>
              <a:t>You</a:t>
            </a:r>
            <a:endParaRPr lang="en-US" sz="1200" dirty="0"/>
          </a:p>
        </p:txBody>
      </p:sp>
      <p:sp>
        <p:nvSpPr>
          <p:cNvPr id="10" name="Text 7"/>
          <p:cNvSpPr txBox="1"/>
          <p:nvPr/>
        </p:nvSpPr>
        <p:spPr>
          <a:xfrm>
            <a:off x="1994878" y="3200400"/>
            <a:ext cx="1245070" cy="1554480"/>
          </a:xfrm>
          <a:prstGeom prst="rect">
            <a:avLst/>
          </a:prstGeom>
          <a:noFill/>
          <a:ln/>
        </p:spPr>
        <p:txBody>
          <a:bodyPr wrap="square" lIns="0" tIns="0" rIns="0" bIns="0" rtlCol="0" anchor="t"/>
          <a:lstStyle/>
          <a:p>
            <a:pPr indent="0" marL="0">
              <a:buNone/>
            </a:pPr>
            <a:r>
              <a:rPr lang="en-US" sz="1300" dirty="0">
                <a:solidFill>
                  <a:schemeClr val="accent1"/>
                </a:solidFill>
              </a:rPr>
              <a:t>You compare the reading with the page and fix it by chatting</a:t>
            </a:r>
            <a:endParaRPr lang="en-US" sz="1300" dirty="0"/>
          </a:p>
        </p:txBody>
      </p:sp>
      <p:sp>
        <p:nvSpPr>
          <p:cNvPr id="11" name="step"/>
          <p:cNvSpPr/>
          <p:nvPr/>
        </p:nvSpPr>
        <p:spPr>
          <a:xfrm>
            <a:off x="3349676" y="2148840"/>
            <a:ext cx="1382230" cy="868680"/>
          </a:xfrm>
          <a:prstGeom prst="chevron">
            <a:avLst/>
          </a:prstGeom>
          <a:solidFill>
            <a:schemeClr val="tx2"/>
          </a:solidFill>
          <a:ln/>
        </p:spPr>
      </p:sp>
      <p:sp>
        <p:nvSpPr>
          <p:cNvPr id="12" name="Text 9"/>
          <p:cNvSpPr txBox="1"/>
          <p:nvPr/>
        </p:nvSpPr>
        <p:spPr>
          <a:xfrm>
            <a:off x="3623996" y="2148840"/>
            <a:ext cx="970750" cy="868680"/>
          </a:xfrm>
          <a:prstGeom prst="rect">
            <a:avLst/>
          </a:prstGeom>
          <a:noFill/>
          <a:ln/>
        </p:spPr>
        <p:txBody>
          <a:bodyPr wrap="square" lIns="0" tIns="0" rIns="0" bIns="0" rtlCol="0" anchor="ctr"/>
          <a:lstStyle/>
          <a:p>
            <a:pPr algn="ctr" indent="0" marL="0">
              <a:buNone/>
            </a:pPr>
            <a:r>
              <a:rPr lang="en-US" sz="1500" b="1" dirty="0">
                <a:solidFill>
                  <a:schemeClr val="bg1"/>
                </a:solidFill>
              </a:rPr>
              <a:t>Analyse</a:t>
            </a:r>
            <a:endParaRPr lang="en-US" sz="1500" dirty="0"/>
          </a:p>
        </p:txBody>
      </p:sp>
      <p:sp>
        <p:nvSpPr>
          <p:cNvPr id="13" name="Text 10"/>
          <p:cNvSpPr txBox="1"/>
          <p:nvPr/>
        </p:nvSpPr>
        <p:spPr>
          <a:xfrm>
            <a:off x="3395396" y="3200400"/>
            <a:ext cx="1245070" cy="1554480"/>
          </a:xfrm>
          <a:prstGeom prst="rect">
            <a:avLst/>
          </a:prstGeom>
          <a:noFill/>
          <a:ln/>
        </p:spPr>
        <p:txBody>
          <a:bodyPr wrap="square" lIns="0" tIns="0" rIns="0" bIns="0" rtlCol="0" anchor="t"/>
          <a:lstStyle/>
          <a:p>
            <a:pPr indent="0" marL="0">
              <a:buNone/>
            </a:pPr>
            <a:r>
              <a:rPr lang="en-US" sz="1300" dirty="0">
                <a:solidFill>
                  <a:schemeClr val="tx1"/>
                </a:solidFill>
              </a:rPr>
              <a:t>The whole document: a brief and the key terms</a:t>
            </a:r>
            <a:endParaRPr lang="en-US" sz="1300" dirty="0"/>
          </a:p>
        </p:txBody>
      </p:sp>
      <p:sp>
        <p:nvSpPr>
          <p:cNvPr id="14" name="step"/>
          <p:cNvSpPr/>
          <p:nvPr/>
        </p:nvSpPr>
        <p:spPr>
          <a:xfrm>
            <a:off x="4750194" y="2148840"/>
            <a:ext cx="1382230" cy="868680"/>
          </a:xfrm>
          <a:prstGeom prst="chevron">
            <a:avLst/>
          </a:prstGeom>
          <a:solidFill>
            <a:schemeClr val="accent1"/>
          </a:solidFill>
          <a:ln/>
        </p:spPr>
      </p:sp>
      <p:sp>
        <p:nvSpPr>
          <p:cNvPr id="15" name="Text 12"/>
          <p:cNvSpPr txBox="1"/>
          <p:nvPr/>
        </p:nvSpPr>
        <p:spPr>
          <a:xfrm>
            <a:off x="5024514" y="2148840"/>
            <a:ext cx="970750" cy="868680"/>
          </a:xfrm>
          <a:prstGeom prst="rect">
            <a:avLst/>
          </a:prstGeom>
          <a:noFill/>
          <a:ln/>
        </p:spPr>
        <p:txBody>
          <a:bodyPr wrap="square" lIns="0" tIns="0" rIns="0" bIns="0" rtlCol="0" anchor="ctr"/>
          <a:lstStyle/>
          <a:p>
            <a:pPr algn="ctr" indent="0" marL="0">
              <a:buNone/>
            </a:pPr>
            <a:r>
              <a:rPr lang="en-US" sz="1500" b="1" dirty="0">
                <a:solidFill>
                  <a:schemeClr val="bg1"/>
                </a:solidFill>
              </a:rPr>
              <a:t>Ask</a:t>
            </a:r>
            <a:endParaRPr lang="en-US" sz="1500" dirty="0"/>
          </a:p>
        </p:txBody>
      </p:sp>
      <p:pic>
        <p:nvPicPr>
          <p:cNvPr id="16" name="Image 1" descr="preencoded.png">    </p:cNvPr>
          <p:cNvPicPr>
            <a:picLocks noChangeAspect="1"/>
          </p:cNvPicPr>
          <p:nvPr/>
        </p:nvPicPr>
        <p:blipFill>
          <a:blip r:embed="rId2"/>
          <a:stretch>
            <a:fillRect/>
          </a:stretch>
        </p:blipFill>
        <p:spPr>
          <a:xfrm>
            <a:off x="5230997" y="1737360"/>
            <a:ext cx="329184" cy="329184"/>
          </a:xfrm>
          <a:prstGeom prst="rect">
            <a:avLst/>
          </a:prstGeom>
        </p:spPr>
      </p:pic>
      <p:sp>
        <p:nvSpPr>
          <p:cNvPr id="17" name="Text 13"/>
          <p:cNvSpPr txBox="1"/>
          <p:nvPr/>
        </p:nvSpPr>
        <p:spPr>
          <a:xfrm>
            <a:off x="4938389" y="1417320"/>
            <a:ext cx="914400" cy="274320"/>
          </a:xfrm>
          <a:prstGeom prst="rect">
            <a:avLst/>
          </a:prstGeom>
          <a:noFill/>
          <a:ln/>
        </p:spPr>
        <p:txBody>
          <a:bodyPr wrap="square" lIns="0" tIns="0" rIns="0" bIns="0" rtlCol="0" anchor="t"/>
          <a:lstStyle/>
          <a:p>
            <a:pPr algn="ctr" indent="0" marL="0">
              <a:buNone/>
            </a:pPr>
            <a:r>
              <a:rPr lang="en-US" sz="1200" b="1" dirty="0">
                <a:solidFill>
                  <a:schemeClr val="accent1"/>
                </a:solidFill>
              </a:rPr>
              <a:t>You</a:t>
            </a:r>
            <a:endParaRPr lang="en-US" sz="1200" dirty="0"/>
          </a:p>
        </p:txBody>
      </p:sp>
      <p:sp>
        <p:nvSpPr>
          <p:cNvPr id="18" name="Text 14"/>
          <p:cNvSpPr txBox="1"/>
          <p:nvPr/>
        </p:nvSpPr>
        <p:spPr>
          <a:xfrm>
            <a:off x="4795914" y="3200400"/>
            <a:ext cx="1245070" cy="1554480"/>
          </a:xfrm>
          <a:prstGeom prst="rect">
            <a:avLst/>
          </a:prstGeom>
          <a:noFill/>
          <a:ln/>
        </p:spPr>
        <p:txBody>
          <a:bodyPr wrap="square" lIns="0" tIns="0" rIns="0" bIns="0" rtlCol="0" anchor="t"/>
          <a:lstStyle/>
          <a:p>
            <a:pPr indent="0" marL="0">
              <a:buNone/>
            </a:pPr>
            <a:r>
              <a:rPr lang="en-US" sz="1300" dirty="0">
                <a:solidFill>
                  <a:schemeClr val="accent1"/>
                </a:solidFill>
              </a:rPr>
              <a:t>You decide the ambiguous terms</a:t>
            </a:r>
            <a:endParaRPr lang="en-US" sz="1300" dirty="0"/>
          </a:p>
        </p:txBody>
      </p:sp>
      <p:sp>
        <p:nvSpPr>
          <p:cNvPr id="19" name="step"/>
          <p:cNvSpPr/>
          <p:nvPr/>
        </p:nvSpPr>
        <p:spPr>
          <a:xfrm>
            <a:off x="6150712" y="2148840"/>
            <a:ext cx="1382230" cy="868680"/>
          </a:xfrm>
          <a:prstGeom prst="chevron">
            <a:avLst/>
          </a:prstGeom>
          <a:solidFill>
            <a:schemeClr val="tx2"/>
          </a:solidFill>
          <a:ln/>
        </p:spPr>
      </p:sp>
      <p:sp>
        <p:nvSpPr>
          <p:cNvPr id="20" name="Text 16"/>
          <p:cNvSpPr txBox="1"/>
          <p:nvPr/>
        </p:nvSpPr>
        <p:spPr>
          <a:xfrm>
            <a:off x="6425032" y="2148840"/>
            <a:ext cx="970750" cy="868680"/>
          </a:xfrm>
          <a:prstGeom prst="rect">
            <a:avLst/>
          </a:prstGeom>
          <a:noFill/>
          <a:ln/>
        </p:spPr>
        <p:txBody>
          <a:bodyPr wrap="square" lIns="0" tIns="0" rIns="0" bIns="0" rtlCol="0" anchor="ctr"/>
          <a:lstStyle/>
          <a:p>
            <a:pPr algn="ctr" indent="0" marL="0">
              <a:buNone/>
            </a:pPr>
            <a:r>
              <a:rPr lang="en-US" sz="1500" b="1" dirty="0">
                <a:solidFill>
                  <a:schemeClr val="bg1"/>
                </a:solidFill>
              </a:rPr>
              <a:t>Translate</a:t>
            </a:r>
            <a:endParaRPr lang="en-US" sz="1500" dirty="0"/>
          </a:p>
        </p:txBody>
      </p:sp>
      <p:sp>
        <p:nvSpPr>
          <p:cNvPr id="21" name="Text 17"/>
          <p:cNvSpPr txBox="1"/>
          <p:nvPr/>
        </p:nvSpPr>
        <p:spPr>
          <a:xfrm>
            <a:off x="6196432" y="3200400"/>
            <a:ext cx="1245070" cy="1554480"/>
          </a:xfrm>
          <a:prstGeom prst="rect">
            <a:avLst/>
          </a:prstGeom>
          <a:noFill/>
          <a:ln/>
        </p:spPr>
        <p:txBody>
          <a:bodyPr wrap="square" lIns="0" tIns="0" rIns="0" bIns="0" rtlCol="0" anchor="t"/>
          <a:lstStyle/>
          <a:p>
            <a:pPr indent="0" marL="0">
              <a:buNone/>
            </a:pPr>
            <a:r>
              <a:rPr lang="en-US" sz="1300" dirty="0">
                <a:solidFill>
                  <a:schemeClr val="tx1"/>
                </a:solidFill>
              </a:rPr>
              <a:t>Memory first, then page by page with context</a:t>
            </a:r>
            <a:endParaRPr lang="en-US" sz="1300" dirty="0"/>
          </a:p>
        </p:txBody>
      </p:sp>
      <p:sp>
        <p:nvSpPr>
          <p:cNvPr id="22" name="step"/>
          <p:cNvSpPr/>
          <p:nvPr/>
        </p:nvSpPr>
        <p:spPr>
          <a:xfrm>
            <a:off x="7551230" y="2148840"/>
            <a:ext cx="1382230" cy="868680"/>
          </a:xfrm>
          <a:prstGeom prst="chevron">
            <a:avLst/>
          </a:prstGeom>
          <a:solidFill>
            <a:schemeClr val="tx2"/>
          </a:solidFill>
          <a:ln/>
        </p:spPr>
      </p:sp>
      <p:sp>
        <p:nvSpPr>
          <p:cNvPr id="23" name="Text 19"/>
          <p:cNvSpPr txBox="1"/>
          <p:nvPr/>
        </p:nvSpPr>
        <p:spPr>
          <a:xfrm>
            <a:off x="7825550" y="2148840"/>
            <a:ext cx="970750" cy="868680"/>
          </a:xfrm>
          <a:prstGeom prst="rect">
            <a:avLst/>
          </a:prstGeom>
          <a:noFill/>
          <a:ln/>
        </p:spPr>
        <p:txBody>
          <a:bodyPr wrap="square" lIns="0" tIns="0" rIns="0" bIns="0" rtlCol="0" anchor="ctr"/>
          <a:lstStyle/>
          <a:p>
            <a:pPr algn="ctr" indent="0" marL="0">
              <a:buNone/>
            </a:pPr>
            <a:r>
              <a:rPr lang="en-US" sz="1500" b="1" dirty="0">
                <a:solidFill>
                  <a:schemeClr val="bg1"/>
                </a:solidFill>
              </a:rPr>
              <a:t>Review</a:t>
            </a:r>
            <a:endParaRPr lang="en-US" sz="1500" dirty="0"/>
          </a:p>
        </p:txBody>
      </p:sp>
      <p:sp>
        <p:nvSpPr>
          <p:cNvPr id="24" name="Text 20"/>
          <p:cNvSpPr txBox="1"/>
          <p:nvPr/>
        </p:nvSpPr>
        <p:spPr>
          <a:xfrm>
            <a:off x="7596950" y="3200400"/>
            <a:ext cx="1245070" cy="1554480"/>
          </a:xfrm>
          <a:prstGeom prst="rect">
            <a:avLst/>
          </a:prstGeom>
          <a:noFill/>
          <a:ln/>
        </p:spPr>
        <p:txBody>
          <a:bodyPr wrap="square" lIns="0" tIns="0" rIns="0" bIns="0" rtlCol="0" anchor="t"/>
          <a:lstStyle/>
          <a:p>
            <a:pPr indent="0" marL="0">
              <a:buNone/>
            </a:pPr>
            <a:r>
              <a:rPr lang="en-US" sz="1300" dirty="0">
                <a:solidFill>
                  <a:schemeClr val="tx1"/>
                </a:solidFill>
              </a:rPr>
              <a:t>A second model reviews; a refiner fixes</a:t>
            </a:r>
            <a:endParaRPr lang="en-US" sz="1300" dirty="0"/>
          </a:p>
        </p:txBody>
      </p:sp>
      <p:sp>
        <p:nvSpPr>
          <p:cNvPr id="25" name="step"/>
          <p:cNvSpPr/>
          <p:nvPr/>
        </p:nvSpPr>
        <p:spPr>
          <a:xfrm>
            <a:off x="8951747" y="2148840"/>
            <a:ext cx="1382230" cy="868680"/>
          </a:xfrm>
          <a:prstGeom prst="chevron">
            <a:avLst/>
          </a:prstGeom>
          <a:solidFill>
            <a:schemeClr val="tx2"/>
          </a:solidFill>
          <a:ln/>
        </p:spPr>
      </p:sp>
      <p:sp>
        <p:nvSpPr>
          <p:cNvPr id="26" name="Text 22"/>
          <p:cNvSpPr txBox="1"/>
          <p:nvPr/>
        </p:nvSpPr>
        <p:spPr>
          <a:xfrm>
            <a:off x="9226067" y="2148840"/>
            <a:ext cx="970750" cy="868680"/>
          </a:xfrm>
          <a:prstGeom prst="rect">
            <a:avLst/>
          </a:prstGeom>
          <a:noFill/>
          <a:ln/>
        </p:spPr>
        <p:txBody>
          <a:bodyPr wrap="square" lIns="0" tIns="0" rIns="0" bIns="0" rtlCol="0" anchor="ctr"/>
          <a:lstStyle/>
          <a:p>
            <a:pPr algn="ctr" indent="0" marL="0">
              <a:buNone/>
            </a:pPr>
            <a:r>
              <a:rPr lang="en-US" sz="1500" b="1" dirty="0">
                <a:solidFill>
                  <a:schemeClr val="bg1"/>
                </a:solidFill>
              </a:rPr>
              <a:t>Polish</a:t>
            </a:r>
            <a:endParaRPr lang="en-US" sz="1500" dirty="0"/>
          </a:p>
        </p:txBody>
      </p:sp>
      <p:sp>
        <p:nvSpPr>
          <p:cNvPr id="27" name="Text 23"/>
          <p:cNvSpPr txBox="1"/>
          <p:nvPr/>
        </p:nvSpPr>
        <p:spPr>
          <a:xfrm>
            <a:off x="8997467" y="3200400"/>
            <a:ext cx="1245070" cy="1554480"/>
          </a:xfrm>
          <a:prstGeom prst="rect">
            <a:avLst/>
          </a:prstGeom>
          <a:noFill/>
          <a:ln/>
        </p:spPr>
        <p:txBody>
          <a:bodyPr wrap="square" lIns="0" tIns="0" rIns="0" bIns="0" rtlCol="0" anchor="t"/>
          <a:lstStyle/>
          <a:p>
            <a:pPr indent="0" marL="0">
              <a:buNone/>
            </a:pPr>
            <a:r>
              <a:rPr lang="en-US" sz="1300" dirty="0">
                <a:solidFill>
                  <a:schemeClr val="tx1"/>
                </a:solidFill>
              </a:rPr>
              <a:t>Repeated sentences unified, termbase applied</a:t>
            </a:r>
            <a:endParaRPr lang="en-US" sz="1300" dirty="0"/>
          </a:p>
        </p:txBody>
      </p:sp>
      <p:sp>
        <p:nvSpPr>
          <p:cNvPr id="28" name="step"/>
          <p:cNvSpPr/>
          <p:nvPr/>
        </p:nvSpPr>
        <p:spPr>
          <a:xfrm>
            <a:off x="10352265" y="2148840"/>
            <a:ext cx="1382230" cy="868680"/>
          </a:xfrm>
          <a:prstGeom prst="chevron">
            <a:avLst/>
          </a:prstGeom>
          <a:solidFill>
            <a:schemeClr val="tx2"/>
          </a:solidFill>
          <a:ln/>
        </p:spPr>
      </p:sp>
      <p:sp>
        <p:nvSpPr>
          <p:cNvPr id="29" name="Text 25"/>
          <p:cNvSpPr txBox="1"/>
          <p:nvPr/>
        </p:nvSpPr>
        <p:spPr>
          <a:xfrm>
            <a:off x="10626585" y="2148840"/>
            <a:ext cx="970750" cy="868680"/>
          </a:xfrm>
          <a:prstGeom prst="rect">
            <a:avLst/>
          </a:prstGeom>
          <a:noFill/>
          <a:ln/>
        </p:spPr>
        <p:txBody>
          <a:bodyPr wrap="square" lIns="0" tIns="0" rIns="0" bIns="0" rtlCol="0" anchor="ctr"/>
          <a:lstStyle/>
          <a:p>
            <a:pPr algn="ctr" indent="0" marL="0">
              <a:buNone/>
            </a:pPr>
            <a:r>
              <a:rPr lang="en-US" sz="1500" b="1" dirty="0">
                <a:solidFill>
                  <a:schemeClr val="bg1"/>
                </a:solidFill>
              </a:rPr>
              <a:t>Ready</a:t>
            </a:r>
            <a:endParaRPr lang="en-US" sz="1500" dirty="0"/>
          </a:p>
        </p:txBody>
      </p:sp>
      <p:sp>
        <p:nvSpPr>
          <p:cNvPr id="30" name="Text 26"/>
          <p:cNvSpPr txBox="1"/>
          <p:nvPr/>
        </p:nvSpPr>
        <p:spPr>
          <a:xfrm>
            <a:off x="10397985" y="3200400"/>
            <a:ext cx="1245070" cy="1554480"/>
          </a:xfrm>
          <a:prstGeom prst="rect">
            <a:avLst/>
          </a:prstGeom>
          <a:noFill/>
          <a:ln/>
        </p:spPr>
        <p:txBody>
          <a:bodyPr wrap="square" lIns="0" tIns="0" rIns="0" bIns="0" rtlCol="0" anchor="t"/>
          <a:lstStyle/>
          <a:p>
            <a:pPr indent="0" marL="0">
              <a:buNone/>
            </a:pPr>
            <a:r>
              <a:rPr lang="en-US" sz="1300" dirty="0">
                <a:solidFill>
                  <a:schemeClr val="tx1"/>
                </a:solidFill>
              </a:rPr>
              <a:t>Versions, quality score, next steps</a:t>
            </a:r>
            <a:endParaRPr lang="en-US" sz="1300" dirty="0"/>
          </a:p>
        </p:txBody>
      </p:sp>
      <p:sp>
        <p:nvSpPr>
          <p:cNvPr id="31" name="card"/>
          <p:cNvSpPr/>
          <p:nvPr/>
        </p:nvSpPr>
        <p:spPr>
          <a:xfrm>
            <a:off x="548640" y="4983480"/>
            <a:ext cx="11094415" cy="1097280"/>
          </a:xfrm>
          <a:prstGeom prst="roundRect">
            <a:avLst>
              <a:gd name="adj" fmla="val 6667"/>
            </a:avLst>
          </a:prstGeom>
          <a:solidFill>
            <a:schemeClr val="bg2"/>
          </a:solidFill>
          <a:ln/>
        </p:spPr>
      </p:sp>
      <p:sp>
        <p:nvSpPr>
          <p:cNvPr id="32" name="Text 28"/>
          <p:cNvSpPr txBox="1"/>
          <p:nvPr/>
        </p:nvSpPr>
        <p:spPr>
          <a:xfrm>
            <a:off x="868680" y="5120640"/>
            <a:ext cx="10454335" cy="86868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tx1"/>
                </a:solidFill>
              </a:rPr>
              <a:t>Built on Google ADK workflows, FastAPI and Next.js. Each step can use a different model.</a:t>
            </a:r>
            <a:endParaRPr lang="en-US" sz="1500" dirty="0"/>
          </a:p>
          <a:p>
            <a:pPr marL="228600" indent="-228600">
              <a:spcAft>
                <a:spcPts val="600"/>
              </a:spcAft>
              <a:buSzPct val="100000"/>
              <a:buChar char="•"/>
            </a:pPr>
            <a:r>
              <a:rPr lang="en-US" sz="1500" dirty="0">
                <a:solidFill>
                  <a:schemeClr val="tx1"/>
                </a:solidFill>
              </a:rPr>
              <a:t>Text files skip Read and Check; questions found later appear as cards and don't block the run.</a:t>
            </a:r>
            <a:endParaRPr lang="en-US" sz="15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Reading the page, with a person checking</a:t>
            </a:r>
            <a:endParaRPr lang="en-US" sz="3200" dirty="0"/>
          </a:p>
        </p:txBody>
      </p:sp>
      <p:sp>
        <p:nvSpPr>
          <p:cNvPr id="3" name="Text 1"/>
          <p:cNvSpPr txBox="1"/>
          <p:nvPr/>
        </p:nvSpPr>
        <p:spPr>
          <a:xfrm>
            <a:off x="548640" y="1463040"/>
            <a:ext cx="5120640" cy="4572000"/>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chemeClr val="tx1"/>
                </a:solidFill>
              </a:rPr>
              <a:t>A vision model reads each page into structured text: headings, tables, headers and footers</a:t>
            </a:r>
            <a:endParaRPr lang="en-US" sz="1700" dirty="0"/>
          </a:p>
          <a:p>
            <a:pPr marL="228600" indent="-228600">
              <a:spcAft>
                <a:spcPts val="1200"/>
              </a:spcAft>
              <a:buSzPct val="100000"/>
              <a:buChar char="•"/>
            </a:pPr>
            <a:r>
              <a:rPr lang="en-US" sz="1700" dirty="0">
                <a:solidFill>
                  <a:schemeClr val="tx1"/>
                </a:solidFill>
              </a:rPr>
              <a:t>PP-DocLayoutV3 finds pictures, charts and seals</a:t>
            </a:r>
            <a:endParaRPr lang="en-US" sz="1700" dirty="0"/>
          </a:p>
          <a:p>
            <a:pPr marL="228600" indent="-228600">
              <a:spcAft>
                <a:spcPts val="1200"/>
              </a:spcAft>
              <a:buSzPct val="100000"/>
              <a:buChar char="•"/>
            </a:pPr>
            <a:r>
              <a:rPr lang="en-US" sz="1700" dirty="0">
                <a:solidFill>
                  <a:schemeClr val="tx1"/>
                </a:solidFill>
              </a:rPr>
              <a:t>A guarded check applies small fixes and lists doubtful ones</a:t>
            </a:r>
            <a:endParaRPr lang="en-US" sz="1700" dirty="0"/>
          </a:p>
          <a:p>
            <a:pPr marL="228600" indent="-228600">
              <a:spcAft>
                <a:spcPts val="1200"/>
              </a:spcAft>
              <a:buSzPct val="100000"/>
              <a:buChar char="•"/>
            </a:pPr>
            <a:r>
              <a:rPr lang="en-US" sz="1700" dirty="0">
                <a:solidFill>
                  <a:schemeClr val="tx1"/>
                </a:solidFill>
              </a:rPr>
              <a:t>Every scan pauses: describe a problem in plain English and the chat proposes a page fix, with a list of every word it changes</a:t>
            </a:r>
            <a:endParaRPr lang="en-US" sz="1700" dirty="0"/>
          </a:p>
          <a:p>
            <a:pPr marL="228600" indent="-228600">
              <a:spcAft>
                <a:spcPts val="1200"/>
              </a:spcAft>
              <a:buSzPct val="100000"/>
              <a:buChar char="•"/>
            </a:pPr>
            <a:r>
              <a:rPr lang="en-US" sz="1700" dirty="0">
                <a:solidFill>
                  <a:schemeClr val="tx1"/>
                </a:solidFill>
              </a:rPr>
              <a:t>New source text must be read off the page. The chat can't type it in.</a:t>
            </a:r>
            <a:endParaRPr lang="en-US" sz="1700" dirty="0"/>
          </a:p>
        </p:txBody>
      </p:sp>
      <p:sp>
        <p:nvSpPr>
          <p:cNvPr id="4" name="Shape 2"/>
          <p:cNvSpPr/>
          <p:nvPr/>
        </p:nvSpPr>
        <p:spPr>
          <a:xfrm>
            <a:off x="5971032" y="1490472"/>
            <a:ext cx="5687568" cy="4286895"/>
          </a:xfrm>
          <a:prstGeom prst="rect">
            <a:avLst/>
          </a:prstGeom>
          <a:solidFill>
            <a:schemeClr val="accent4"/>
          </a:solidFill>
          <a:ln/>
          <a:effectLst>
            <a:outerShdw sx="100000" sy="100000" kx="0" ky="0" algn="bl" rotWithShape="0" blurRad="101600" dist="38100" dir="5400000">
              <a:srgbClr val="1C2230">
                <a:alpha val="18000"/>
              </a:srgbClr>
            </a:outerShdw>
          </a:effectLst>
        </p:spPr>
      </p:sp>
      <p:pic>
        <p:nvPicPr>
          <p:cNvPr id="5" name="Image 0" descr="Screenshot of Agentic Translator">    </p:cNvPr>
          <p:cNvPicPr>
            <a:picLocks noChangeAspect="1"/>
          </p:cNvPicPr>
          <p:nvPr/>
        </p:nvPicPr>
        <p:blipFill>
          <a:blip r:embed="rId1"/>
          <a:stretch>
            <a:fillRect/>
          </a:stretch>
        </p:blipFill>
        <p:spPr>
          <a:xfrm>
            <a:off x="5989320" y="1508760"/>
            <a:ext cx="5650992" cy="4250319"/>
          </a:xfrm>
          <a:prstGeom prst="rect">
            <a:avLst/>
          </a:prstGeom>
        </p:spPr>
      </p:pic>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Questions anyone can answer</a:t>
            </a:r>
            <a:endParaRPr lang="en-US" sz="3200" dirty="0"/>
          </a:p>
        </p:txBody>
      </p:sp>
      <p:sp>
        <p:nvSpPr>
          <p:cNvPr id="3" name="Shape 1"/>
          <p:cNvSpPr/>
          <p:nvPr/>
        </p:nvSpPr>
        <p:spPr>
          <a:xfrm>
            <a:off x="530352" y="1353312"/>
            <a:ext cx="3481494" cy="4837176"/>
          </a:xfrm>
          <a:prstGeom prst="rect">
            <a:avLst/>
          </a:prstGeom>
          <a:solidFill>
            <a:schemeClr val="accent4"/>
          </a:solidFill>
          <a:ln/>
          <a:effectLst>
            <a:outerShdw sx="100000" sy="100000" kx="0" ky="0" algn="bl" rotWithShape="0" blurRad="101600" dist="38100" dir="5400000">
              <a:srgbClr val="1C2230">
                <a:alpha val="18000"/>
              </a:srgbClr>
            </a:outerShdw>
          </a:effectLst>
        </p:spPr>
      </p:sp>
      <p:pic>
        <p:nvPicPr>
          <p:cNvPr id="4" name="Image 0" descr="Screenshot of Agentic Translator">    </p:cNvPr>
          <p:cNvPicPr>
            <a:picLocks noChangeAspect="1"/>
          </p:cNvPicPr>
          <p:nvPr/>
        </p:nvPicPr>
        <p:blipFill>
          <a:blip r:embed="rId1"/>
          <a:stretch>
            <a:fillRect/>
          </a:stretch>
        </p:blipFill>
        <p:spPr>
          <a:xfrm>
            <a:off x="548640" y="1371600"/>
            <a:ext cx="3444918" cy="4800600"/>
          </a:xfrm>
          <a:prstGeom prst="rect">
            <a:avLst/>
          </a:prstGeom>
        </p:spPr>
      </p:pic>
      <p:sp>
        <p:nvSpPr>
          <p:cNvPr id="5" name="Text 2"/>
          <p:cNvSpPr txBox="1"/>
          <p:nvPr/>
        </p:nvSpPr>
        <p:spPr>
          <a:xfrm>
            <a:off x="4542198" y="1463040"/>
            <a:ext cx="7100857" cy="2651760"/>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chemeClr val="tx1"/>
                </a:solidFill>
              </a:rPr>
              <a:t>The term explained in plain English, and why it matters</a:t>
            </a:r>
            <a:endParaRPr lang="en-US" sz="1700" dirty="0"/>
          </a:p>
          <a:p>
            <a:pPr marL="228600" indent="-228600">
              <a:spcAft>
                <a:spcPts val="1200"/>
              </a:spcAft>
              <a:buSzPct val="100000"/>
              <a:buChar char="•"/>
            </a:pPr>
            <a:r>
              <a:rPr lang="en-US" sz="1700" dirty="0">
                <a:solidFill>
                  <a:schemeClr val="tx1"/>
                </a:solidFill>
              </a:rPr>
              <a:t>The sentence, with an English gist</a:t>
            </a:r>
            <a:endParaRPr lang="en-US" sz="1700" dirty="0"/>
          </a:p>
          <a:p>
            <a:pPr marL="228600" indent="-228600">
              <a:spcAft>
                <a:spcPts val="1200"/>
              </a:spcAft>
              <a:buSzPct val="100000"/>
              <a:buChar char="•"/>
            </a:pPr>
            <a:r>
              <a:rPr lang="en-US" sz="1700" dirty="0">
                <a:solidFill>
                  <a:schemeClr val="tx1"/>
                </a:solidFill>
              </a:rPr>
              <a:t>2–3 English options with notes, and a recommendation</a:t>
            </a:r>
            <a:endParaRPr lang="en-US" sz="1700" dirty="0"/>
          </a:p>
          <a:p>
            <a:pPr marL="228600" indent="-228600">
              <a:spcAft>
                <a:spcPts val="1200"/>
              </a:spcAft>
              <a:buSzPct val="100000"/>
              <a:buChar char="•"/>
            </a:pPr>
            <a:r>
              <a:rPr lang="en-US" sz="1700" dirty="0">
                <a:solidFill>
                  <a:schemeClr val="tx1"/>
                </a:solidFill>
              </a:rPr>
              <a:t>Your answer becomes a project term, and the first draft already uses it</a:t>
            </a:r>
            <a:endParaRPr lang="en-US" sz="1700" dirty="0"/>
          </a:p>
        </p:txBody>
      </p:sp>
      <p:sp>
        <p:nvSpPr>
          <p:cNvPr id="6" name="card"/>
          <p:cNvSpPr/>
          <p:nvPr/>
        </p:nvSpPr>
        <p:spPr>
          <a:xfrm>
            <a:off x="4542198" y="4251960"/>
            <a:ext cx="7100857" cy="1828800"/>
          </a:xfrm>
          <a:prstGeom prst="roundRect">
            <a:avLst>
              <a:gd name="adj" fmla="val 4000"/>
            </a:avLst>
          </a:prstGeom>
          <a:solidFill>
            <a:schemeClr val="tx1"/>
          </a:solidFill>
          <a:ln/>
        </p:spPr>
      </p:sp>
      <p:sp>
        <p:nvSpPr>
          <p:cNvPr id="7" name="Text 4"/>
          <p:cNvSpPr txBox="1"/>
          <p:nvPr/>
        </p:nvSpPr>
        <p:spPr>
          <a:xfrm>
            <a:off x="4862238" y="4389120"/>
            <a:ext cx="6460777" cy="1600200"/>
          </a:xfrm>
          <a:prstGeom prst="rect">
            <a:avLst/>
          </a:prstGeom>
          <a:noFill/>
          <a:ln/>
        </p:spPr>
        <p:txBody>
          <a:bodyPr wrap="square" lIns="0" tIns="0" rIns="0" bIns="0" rtlCol="0" anchor="t"/>
          <a:lstStyle/>
          <a:p>
            <a:pPr indent="0" marL="0">
              <a:buNone/>
            </a:pPr>
            <a:r>
              <a:rPr lang="en-US" sz="1500" b="1" dirty="0">
                <a:solidFill>
                  <a:srgbClr val="F08A7C"/>
                </a:solidFill>
              </a:rPr>
              <a:t>Why ask first: </a:t>
            </a:r>
            <a:endParaRPr lang="en-US" sz="1500" dirty="0"/>
          </a:p>
          <a:p>
            <a:pPr indent="0" marL="0">
              <a:buNone/>
            </a:pPr>
            <a:r>
              <a:rPr lang="en-US" sz="1500" dirty="0">
                <a:solidFill>
                  <a:schemeClr val="bg1"/>
                </a:solidFill>
              </a:rPr>
              <a:t>a model that asked one clarifying question got gender right 77% of the time, against 54% for Google Translate (Pilault et al. 2023). The agent frames the decision; the expert makes it.</a:t>
            </a:r>
            <a:endParaRPr lang="en-US" sz="15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A full translation workbench underneath</a:t>
            </a:r>
            <a:endParaRPr lang="en-US" sz="3200" dirty="0"/>
          </a:p>
        </p:txBody>
      </p:sp>
      <p:sp>
        <p:nvSpPr>
          <p:cNvPr id="3" name="card"/>
          <p:cNvSpPr/>
          <p:nvPr/>
        </p:nvSpPr>
        <p:spPr>
          <a:xfrm>
            <a:off x="548640" y="1463040"/>
            <a:ext cx="3515258" cy="2057400"/>
          </a:xfrm>
          <a:prstGeom prst="roundRect">
            <a:avLst>
              <a:gd name="adj" fmla="val 3556"/>
            </a:avLst>
          </a:prstGeom>
          <a:solidFill>
            <a:schemeClr val="bg2"/>
          </a:solidFill>
          <a:ln/>
        </p:spPr>
      </p:sp>
      <p:sp>
        <p:nvSpPr>
          <p:cNvPr id="4" name="seal"/>
          <p:cNvSpPr/>
          <p:nvPr/>
        </p:nvSpPr>
        <p:spPr>
          <a:xfrm>
            <a:off x="868680" y="1783080"/>
            <a:ext cx="566928" cy="566928"/>
          </a:xfrm>
          <a:prstGeom prst="roundRect">
            <a:avLst>
              <a:gd name="adj" fmla="val 18000"/>
            </a:avLst>
          </a:prstGeom>
          <a:solidFill>
            <a:schemeClr val="tx2"/>
          </a:solidFill>
          <a:ln/>
        </p:spPr>
      </p:sp>
      <p:pic>
        <p:nvPicPr>
          <p:cNvPr id="5" name="Image 0" descr="preencoded.png">    </p:cNvPr>
          <p:cNvPicPr>
            <a:picLocks noChangeAspect="1"/>
          </p:cNvPicPr>
          <p:nvPr/>
        </p:nvPicPr>
        <p:blipFill>
          <a:blip r:embed="rId1"/>
          <a:stretch>
            <a:fillRect/>
          </a:stretch>
        </p:blipFill>
        <p:spPr>
          <a:xfrm>
            <a:off x="993404" y="1907804"/>
            <a:ext cx="317480" cy="317480"/>
          </a:xfrm>
          <a:prstGeom prst="rect">
            <a:avLst/>
          </a:prstGeom>
        </p:spPr>
      </p:pic>
      <p:sp>
        <p:nvSpPr>
          <p:cNvPr id="6" name="Text 3"/>
          <p:cNvSpPr txBox="1"/>
          <p:nvPr/>
        </p:nvSpPr>
        <p:spPr>
          <a:xfrm>
            <a:off x="1645920" y="1810512"/>
            <a:ext cx="2235098" cy="50292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Projects &amp; style guides</a:t>
            </a:r>
            <a:endParaRPr lang="en-US" sz="1900" dirty="0"/>
          </a:p>
        </p:txBody>
      </p:sp>
      <p:sp>
        <p:nvSpPr>
          <p:cNvPr id="7" name="Text 4"/>
          <p:cNvSpPr txBox="1"/>
          <p:nvPr/>
        </p:nvSpPr>
        <p:spPr>
          <a:xfrm>
            <a:off x="868680" y="2514600"/>
            <a:ext cx="2875178" cy="868680"/>
          </a:xfrm>
          <a:prstGeom prst="rect">
            <a:avLst/>
          </a:prstGeom>
          <a:noFill/>
          <a:ln/>
        </p:spPr>
        <p:txBody>
          <a:bodyPr wrap="square" lIns="0" tIns="0" rIns="0" bIns="0" rtlCol="0" anchor="t"/>
          <a:lstStyle/>
          <a:p>
            <a:pPr indent="0" marL="0">
              <a:buNone/>
            </a:pPr>
            <a:r>
              <a:rPr lang="en-US" sz="1500" dirty="0">
                <a:solidFill>
                  <a:schemeClr val="tx1"/>
                </a:solidFill>
              </a:rPr>
              <a:t>One client, one source language, shared instructions</a:t>
            </a:r>
            <a:endParaRPr lang="en-US" sz="1500" dirty="0"/>
          </a:p>
        </p:txBody>
      </p:sp>
      <p:sp>
        <p:nvSpPr>
          <p:cNvPr id="8" name="card"/>
          <p:cNvSpPr/>
          <p:nvPr/>
        </p:nvSpPr>
        <p:spPr>
          <a:xfrm>
            <a:off x="4338218" y="1463040"/>
            <a:ext cx="3515258" cy="2057400"/>
          </a:xfrm>
          <a:prstGeom prst="roundRect">
            <a:avLst>
              <a:gd name="adj" fmla="val 3556"/>
            </a:avLst>
          </a:prstGeom>
          <a:solidFill>
            <a:schemeClr val="bg2"/>
          </a:solidFill>
          <a:ln/>
        </p:spPr>
      </p:sp>
      <p:sp>
        <p:nvSpPr>
          <p:cNvPr id="9" name="seal"/>
          <p:cNvSpPr/>
          <p:nvPr/>
        </p:nvSpPr>
        <p:spPr>
          <a:xfrm>
            <a:off x="4658258" y="1783080"/>
            <a:ext cx="566928" cy="566928"/>
          </a:xfrm>
          <a:prstGeom prst="roundRect">
            <a:avLst>
              <a:gd name="adj" fmla="val 18000"/>
            </a:avLst>
          </a:prstGeom>
          <a:solidFill>
            <a:schemeClr val="tx2"/>
          </a:solidFill>
          <a:ln/>
        </p:spPr>
      </p:sp>
      <p:pic>
        <p:nvPicPr>
          <p:cNvPr id="10" name="Image 1" descr="preencoded.png">    </p:cNvPr>
          <p:cNvPicPr>
            <a:picLocks noChangeAspect="1"/>
          </p:cNvPicPr>
          <p:nvPr/>
        </p:nvPicPr>
        <p:blipFill>
          <a:blip r:embed="rId2"/>
          <a:stretch>
            <a:fillRect/>
          </a:stretch>
        </p:blipFill>
        <p:spPr>
          <a:xfrm>
            <a:off x="4782983" y="1907804"/>
            <a:ext cx="317480" cy="317480"/>
          </a:xfrm>
          <a:prstGeom prst="rect">
            <a:avLst/>
          </a:prstGeom>
        </p:spPr>
      </p:pic>
      <p:sp>
        <p:nvSpPr>
          <p:cNvPr id="11" name="Text 7"/>
          <p:cNvSpPr txBox="1"/>
          <p:nvPr/>
        </p:nvSpPr>
        <p:spPr>
          <a:xfrm>
            <a:off x="5435498" y="1810512"/>
            <a:ext cx="2235098" cy="50292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Termbase</a:t>
            </a:r>
            <a:endParaRPr lang="en-US" sz="1900" dirty="0"/>
          </a:p>
        </p:txBody>
      </p:sp>
      <p:sp>
        <p:nvSpPr>
          <p:cNvPr id="12" name="Text 8"/>
          <p:cNvSpPr txBox="1"/>
          <p:nvPr/>
        </p:nvSpPr>
        <p:spPr>
          <a:xfrm>
            <a:off x="4658258" y="2514600"/>
            <a:ext cx="2875178" cy="868680"/>
          </a:xfrm>
          <a:prstGeom prst="rect">
            <a:avLst/>
          </a:prstGeom>
          <a:noFill/>
          <a:ln/>
        </p:spPr>
        <p:txBody>
          <a:bodyPr wrap="square" lIns="0" tIns="0" rIns="0" bIns="0" rtlCol="0" anchor="t"/>
          <a:lstStyle/>
          <a:p>
            <a:pPr indent="0" marL="0">
              <a:buNone/>
            </a:pPr>
            <a:r>
              <a:rPr lang="en-US" sz="1500" dirty="0">
                <a:solidFill>
                  <a:schemeClr val="tx1"/>
                </a:solidFill>
              </a:rPr>
              <a:t>Approved terms and “never use” variants, checked automatically</a:t>
            </a:r>
            <a:endParaRPr lang="en-US" sz="1500" dirty="0"/>
          </a:p>
        </p:txBody>
      </p:sp>
      <p:sp>
        <p:nvSpPr>
          <p:cNvPr id="13" name="card"/>
          <p:cNvSpPr/>
          <p:nvPr/>
        </p:nvSpPr>
        <p:spPr>
          <a:xfrm>
            <a:off x="8127797" y="1463040"/>
            <a:ext cx="3515258" cy="2057400"/>
          </a:xfrm>
          <a:prstGeom prst="roundRect">
            <a:avLst>
              <a:gd name="adj" fmla="val 3556"/>
            </a:avLst>
          </a:prstGeom>
          <a:solidFill>
            <a:schemeClr val="bg2"/>
          </a:solidFill>
          <a:ln/>
        </p:spPr>
      </p:sp>
      <p:sp>
        <p:nvSpPr>
          <p:cNvPr id="14" name="seal"/>
          <p:cNvSpPr/>
          <p:nvPr/>
        </p:nvSpPr>
        <p:spPr>
          <a:xfrm>
            <a:off x="8447837" y="1783080"/>
            <a:ext cx="566928" cy="566928"/>
          </a:xfrm>
          <a:prstGeom prst="roundRect">
            <a:avLst>
              <a:gd name="adj" fmla="val 18000"/>
            </a:avLst>
          </a:prstGeom>
          <a:solidFill>
            <a:schemeClr val="tx2"/>
          </a:solidFill>
          <a:ln/>
        </p:spPr>
      </p:sp>
      <p:pic>
        <p:nvPicPr>
          <p:cNvPr id="15" name="Image 2" descr="preencoded.png">    </p:cNvPr>
          <p:cNvPicPr>
            <a:picLocks noChangeAspect="1"/>
          </p:cNvPicPr>
          <p:nvPr/>
        </p:nvPicPr>
        <p:blipFill>
          <a:blip r:embed="rId3"/>
          <a:stretch>
            <a:fillRect/>
          </a:stretch>
        </p:blipFill>
        <p:spPr>
          <a:xfrm>
            <a:off x="8572561" y="1907804"/>
            <a:ext cx="317480" cy="317480"/>
          </a:xfrm>
          <a:prstGeom prst="rect">
            <a:avLst/>
          </a:prstGeom>
        </p:spPr>
      </p:pic>
      <p:sp>
        <p:nvSpPr>
          <p:cNvPr id="16" name="Text 11"/>
          <p:cNvSpPr txBox="1"/>
          <p:nvPr/>
        </p:nvSpPr>
        <p:spPr>
          <a:xfrm>
            <a:off x="9225077" y="1810512"/>
            <a:ext cx="2235098" cy="50292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Translation memory</a:t>
            </a:r>
            <a:endParaRPr lang="en-US" sz="1900" dirty="0"/>
          </a:p>
        </p:txBody>
      </p:sp>
      <p:sp>
        <p:nvSpPr>
          <p:cNvPr id="17" name="Text 12"/>
          <p:cNvSpPr txBox="1"/>
          <p:nvPr/>
        </p:nvSpPr>
        <p:spPr>
          <a:xfrm>
            <a:off x="8447837" y="2514600"/>
            <a:ext cx="2875178" cy="868680"/>
          </a:xfrm>
          <a:prstGeom prst="rect">
            <a:avLst/>
          </a:prstGeom>
          <a:noFill/>
          <a:ln/>
        </p:spPr>
        <p:txBody>
          <a:bodyPr wrap="square" lIns="0" tIns="0" rIns="0" bIns="0" rtlCol="0" anchor="t"/>
          <a:lstStyle/>
          <a:p>
            <a:pPr indent="0" marL="0">
              <a:buNone/>
            </a:pPr>
            <a:r>
              <a:rPr lang="en-US" sz="1500" dirty="0">
                <a:solidFill>
                  <a:schemeClr val="tx1"/>
                </a:solidFill>
              </a:rPr>
              <a:t>101%, 100% and fuzzy matches; exact matches need no model call</a:t>
            </a:r>
            <a:endParaRPr lang="en-US" sz="1500" dirty="0"/>
          </a:p>
        </p:txBody>
      </p:sp>
      <p:sp>
        <p:nvSpPr>
          <p:cNvPr id="18" name="card"/>
          <p:cNvSpPr/>
          <p:nvPr/>
        </p:nvSpPr>
        <p:spPr>
          <a:xfrm>
            <a:off x="548640" y="3794760"/>
            <a:ext cx="3515258" cy="2057400"/>
          </a:xfrm>
          <a:prstGeom prst="roundRect">
            <a:avLst>
              <a:gd name="adj" fmla="val 3556"/>
            </a:avLst>
          </a:prstGeom>
          <a:solidFill>
            <a:schemeClr val="bg2"/>
          </a:solidFill>
          <a:ln/>
        </p:spPr>
      </p:sp>
      <p:sp>
        <p:nvSpPr>
          <p:cNvPr id="19" name="seal"/>
          <p:cNvSpPr/>
          <p:nvPr/>
        </p:nvSpPr>
        <p:spPr>
          <a:xfrm>
            <a:off x="868680" y="4114800"/>
            <a:ext cx="566928" cy="566928"/>
          </a:xfrm>
          <a:prstGeom prst="roundRect">
            <a:avLst>
              <a:gd name="adj" fmla="val 18000"/>
            </a:avLst>
          </a:prstGeom>
          <a:solidFill>
            <a:schemeClr val="tx2"/>
          </a:solidFill>
          <a:ln/>
        </p:spPr>
      </p:sp>
      <p:pic>
        <p:nvPicPr>
          <p:cNvPr id="20" name="Image 3" descr="preencoded.png">    </p:cNvPr>
          <p:cNvPicPr>
            <a:picLocks noChangeAspect="1"/>
          </p:cNvPicPr>
          <p:nvPr/>
        </p:nvPicPr>
        <p:blipFill>
          <a:blip r:embed="rId4"/>
          <a:stretch>
            <a:fillRect/>
          </a:stretch>
        </p:blipFill>
        <p:spPr>
          <a:xfrm>
            <a:off x="993404" y="4239524"/>
            <a:ext cx="317480" cy="317480"/>
          </a:xfrm>
          <a:prstGeom prst="rect">
            <a:avLst/>
          </a:prstGeom>
        </p:spPr>
      </p:pic>
      <p:sp>
        <p:nvSpPr>
          <p:cNvPr id="21" name="Text 15"/>
          <p:cNvSpPr txBox="1"/>
          <p:nvPr/>
        </p:nvSpPr>
        <p:spPr>
          <a:xfrm>
            <a:off x="1645920" y="4142232"/>
            <a:ext cx="2235098" cy="50292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Segment editor</a:t>
            </a:r>
            <a:endParaRPr lang="en-US" sz="1900" dirty="0"/>
          </a:p>
        </p:txBody>
      </p:sp>
      <p:sp>
        <p:nvSpPr>
          <p:cNvPr id="22" name="Text 16"/>
          <p:cNvSpPr txBox="1"/>
          <p:nvPr/>
        </p:nvSpPr>
        <p:spPr>
          <a:xfrm>
            <a:off x="868680" y="4846320"/>
            <a:ext cx="2875178" cy="868680"/>
          </a:xfrm>
          <a:prstGeom prst="rect">
            <a:avLst/>
          </a:prstGeom>
          <a:noFill/>
          <a:ln/>
        </p:spPr>
        <p:txBody>
          <a:bodyPr wrap="square" lIns="0" tIns="0" rIns="0" bIns="0" rtlCol="0" anchor="t"/>
          <a:lstStyle/>
          <a:p>
            <a:pPr indent="0" marL="0">
              <a:buNone/>
            </a:pPr>
            <a:r>
              <a:rPr lang="en-US" sz="1500" dirty="0">
                <a:solidFill>
                  <a:schemeClr val="tx1"/>
                </a:solidFill>
              </a:rPr>
              <a:t>CAT-style grid with statuses, shortcuts, comments and locks</a:t>
            </a:r>
            <a:endParaRPr lang="en-US" sz="1500" dirty="0"/>
          </a:p>
        </p:txBody>
      </p:sp>
      <p:sp>
        <p:nvSpPr>
          <p:cNvPr id="23" name="card"/>
          <p:cNvSpPr/>
          <p:nvPr/>
        </p:nvSpPr>
        <p:spPr>
          <a:xfrm>
            <a:off x="4338218" y="3794760"/>
            <a:ext cx="3515258" cy="2057400"/>
          </a:xfrm>
          <a:prstGeom prst="roundRect">
            <a:avLst>
              <a:gd name="adj" fmla="val 3556"/>
            </a:avLst>
          </a:prstGeom>
          <a:solidFill>
            <a:schemeClr val="bg2"/>
          </a:solidFill>
          <a:ln/>
        </p:spPr>
      </p:sp>
      <p:sp>
        <p:nvSpPr>
          <p:cNvPr id="24" name="seal"/>
          <p:cNvSpPr/>
          <p:nvPr/>
        </p:nvSpPr>
        <p:spPr>
          <a:xfrm>
            <a:off x="4658258" y="4114800"/>
            <a:ext cx="566928" cy="566928"/>
          </a:xfrm>
          <a:prstGeom prst="roundRect">
            <a:avLst>
              <a:gd name="adj" fmla="val 18000"/>
            </a:avLst>
          </a:prstGeom>
          <a:solidFill>
            <a:schemeClr val="tx2"/>
          </a:solidFill>
          <a:ln/>
        </p:spPr>
      </p:sp>
      <p:pic>
        <p:nvPicPr>
          <p:cNvPr id="25" name="Image 4" descr="preencoded.png">    </p:cNvPr>
          <p:cNvPicPr>
            <a:picLocks noChangeAspect="1"/>
          </p:cNvPicPr>
          <p:nvPr/>
        </p:nvPicPr>
        <p:blipFill>
          <a:blip r:embed="rId5"/>
          <a:stretch>
            <a:fillRect/>
          </a:stretch>
        </p:blipFill>
        <p:spPr>
          <a:xfrm>
            <a:off x="4782983" y="4239524"/>
            <a:ext cx="317480" cy="317480"/>
          </a:xfrm>
          <a:prstGeom prst="rect">
            <a:avLst/>
          </a:prstGeom>
        </p:spPr>
      </p:pic>
      <p:sp>
        <p:nvSpPr>
          <p:cNvPr id="26" name="Text 19"/>
          <p:cNvSpPr txBox="1"/>
          <p:nvPr/>
        </p:nvSpPr>
        <p:spPr>
          <a:xfrm>
            <a:off x="5435498" y="4142232"/>
            <a:ext cx="2235098" cy="50292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Quality</a:t>
            </a:r>
            <a:endParaRPr lang="en-US" sz="1900" dirty="0"/>
          </a:p>
        </p:txBody>
      </p:sp>
      <p:sp>
        <p:nvSpPr>
          <p:cNvPr id="27" name="Text 20"/>
          <p:cNvSpPr txBox="1"/>
          <p:nvPr/>
        </p:nvSpPr>
        <p:spPr>
          <a:xfrm>
            <a:off x="4658258" y="4846320"/>
            <a:ext cx="2875178" cy="868680"/>
          </a:xfrm>
          <a:prstGeom prst="rect">
            <a:avLst/>
          </a:prstGeom>
          <a:noFill/>
          <a:ln/>
        </p:spPr>
        <p:txBody>
          <a:bodyPr wrap="square" lIns="0" tIns="0" rIns="0" bIns="0" rtlCol="0" anchor="t"/>
          <a:lstStyle/>
          <a:p>
            <a:pPr indent="0" marL="0">
              <a:buNone/>
            </a:pPr>
            <a:r>
              <a:rPr lang="en-US" sz="1500" dirty="0">
                <a:solidFill>
                  <a:schemeClr val="tx1"/>
                </a:solidFill>
              </a:rPr>
              <a:t>Automatic QA checks and an MQM quality score, with a review queue</a:t>
            </a:r>
            <a:endParaRPr lang="en-US" sz="1500" dirty="0"/>
          </a:p>
        </p:txBody>
      </p:sp>
      <p:sp>
        <p:nvSpPr>
          <p:cNvPr id="28" name="card"/>
          <p:cNvSpPr/>
          <p:nvPr/>
        </p:nvSpPr>
        <p:spPr>
          <a:xfrm>
            <a:off x="8127797" y="3794760"/>
            <a:ext cx="3515258" cy="2057400"/>
          </a:xfrm>
          <a:prstGeom prst="roundRect">
            <a:avLst>
              <a:gd name="adj" fmla="val 3556"/>
            </a:avLst>
          </a:prstGeom>
          <a:solidFill>
            <a:schemeClr val="bg2"/>
          </a:solidFill>
          <a:ln/>
        </p:spPr>
      </p:sp>
      <p:sp>
        <p:nvSpPr>
          <p:cNvPr id="29" name="seal"/>
          <p:cNvSpPr/>
          <p:nvPr/>
        </p:nvSpPr>
        <p:spPr>
          <a:xfrm>
            <a:off x="8447837" y="4114800"/>
            <a:ext cx="566928" cy="566928"/>
          </a:xfrm>
          <a:prstGeom prst="roundRect">
            <a:avLst>
              <a:gd name="adj" fmla="val 18000"/>
            </a:avLst>
          </a:prstGeom>
          <a:solidFill>
            <a:schemeClr val="tx2"/>
          </a:solidFill>
          <a:ln/>
        </p:spPr>
      </p:sp>
      <p:pic>
        <p:nvPicPr>
          <p:cNvPr id="30" name="Image 5" descr="preencoded.png">    </p:cNvPr>
          <p:cNvPicPr>
            <a:picLocks noChangeAspect="1"/>
          </p:cNvPicPr>
          <p:nvPr/>
        </p:nvPicPr>
        <p:blipFill>
          <a:blip r:embed="rId6"/>
          <a:stretch>
            <a:fillRect/>
          </a:stretch>
        </p:blipFill>
        <p:spPr>
          <a:xfrm>
            <a:off x="8572561" y="4239524"/>
            <a:ext cx="317480" cy="317480"/>
          </a:xfrm>
          <a:prstGeom prst="rect">
            <a:avLst/>
          </a:prstGeom>
        </p:spPr>
      </p:pic>
      <p:sp>
        <p:nvSpPr>
          <p:cNvPr id="31" name="Text 23"/>
          <p:cNvSpPr txBox="1"/>
          <p:nvPr/>
        </p:nvSpPr>
        <p:spPr>
          <a:xfrm>
            <a:off x="9225077" y="4142232"/>
            <a:ext cx="2235098" cy="502920"/>
          </a:xfrm>
          <a:prstGeom prst="rect">
            <a:avLst/>
          </a:prstGeom>
          <a:noFill/>
          <a:ln/>
        </p:spPr>
        <p:txBody>
          <a:bodyPr wrap="square" lIns="0" tIns="0" rIns="0" bIns="0" rtlCol="0" anchor="ctr"/>
          <a:lstStyle/>
          <a:p>
            <a:pPr indent="0" marL="0">
              <a:buNone/>
            </a:pPr>
            <a:r>
              <a:rPr lang="en-US" sz="1900" b="1" dirty="0">
                <a:solidFill>
                  <a:schemeClr val="tx1"/>
                </a:solidFill>
                <a:latin typeface="Cambria" pitchFamily="34" charset="0"/>
                <a:ea typeface="Cambria" pitchFamily="34" charset="-122"/>
                <a:cs typeface="Cambria" pitchFamily="34" charset="-120"/>
              </a:rPr>
              <a:t>Versions &amp; downloads</a:t>
            </a:r>
            <a:endParaRPr lang="en-US" sz="1900" dirty="0"/>
          </a:p>
        </p:txBody>
      </p:sp>
      <p:sp>
        <p:nvSpPr>
          <p:cNvPr id="32" name="Text 24"/>
          <p:cNvSpPr txBox="1"/>
          <p:nvPr/>
        </p:nvSpPr>
        <p:spPr>
          <a:xfrm>
            <a:off x="8447837" y="4846320"/>
            <a:ext cx="2875178" cy="868680"/>
          </a:xfrm>
          <a:prstGeom prst="rect">
            <a:avLst/>
          </a:prstGeom>
          <a:noFill/>
          <a:ln/>
        </p:spPr>
        <p:txBody>
          <a:bodyPr wrap="square" lIns="0" tIns="0" rIns="0" bIns="0" rtlCol="0" anchor="t"/>
          <a:lstStyle/>
          <a:p>
            <a:pPr indent="0" marL="0">
              <a:buNone/>
            </a:pPr>
            <a:r>
              <a:rPr lang="en-US" sz="1500" dirty="0">
                <a:solidFill>
                  <a:schemeClr val="tx1"/>
                </a:solidFill>
              </a:rPr>
              <a:t>Every change diffable; Word and Markdown output</a:t>
            </a:r>
            <a:endParaRPr lang="en-US" sz="15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731520" y="2788920"/>
            <a:ext cx="10424160" cy="1005840"/>
          </a:xfrm>
          <a:prstGeom prst="rect">
            <a:avLst/>
          </a:prstGeom>
          <a:noFill/>
          <a:ln/>
        </p:spPr>
        <p:txBody>
          <a:bodyPr wrap="square" lIns="0" tIns="0" rIns="0" bIns="0" rtlCol="0" anchor="b"/>
          <a:lstStyle/>
          <a:p>
            <a:pPr algn="l" indent="0" marL="0">
              <a:buNone/>
            </a:pPr>
            <a:r>
              <a:rPr lang="en-US" sz="4400" b="1" dirty="0">
                <a:solidFill>
                  <a:schemeClr val="bg1"/>
                </a:solidFill>
              </a:rPr>
              <a:t>Live demo</a:t>
            </a:r>
            <a:endParaRPr lang="en-US" sz="4400" dirty="0"/>
          </a:p>
        </p:txBody>
      </p:sp>
      <p:sp>
        <p:nvSpPr>
          <p:cNvPr id="3" name="Text 0"/>
          <p:cNvSpPr/>
          <p:nvPr>
            <p:ph idx="101" type="body" hasCustomPrompt="1"/>
          </p:nvPr>
        </p:nvSpPr>
        <p:spPr>
          <a:xfrm>
            <a:off x="731520" y="3931920"/>
            <a:ext cx="10058400" cy="731520"/>
          </a:xfrm>
          <a:prstGeom prst="rect">
            <a:avLst/>
          </a:prstGeom>
          <a:noFill/>
          <a:ln/>
        </p:spPr>
        <p:txBody>
          <a:bodyPr wrap="square" lIns="0" tIns="0" rIns="0" bIns="0" rtlCol="0" anchor="t"/>
          <a:lstStyle/>
          <a:p>
            <a:pPr indent="0" marL="0">
              <a:buNone/>
            </a:pPr>
            <a:r>
              <a:rPr lang="en-US" sz="2000" dirty="0">
                <a:solidFill>
                  <a:schemeClr val="accent4"/>
                </a:solidFill>
              </a:rPr>
              <a:t>A Chinese scan and a German contract, into English</a:t>
            </a:r>
            <a:endParaRPr lang="en-US" sz="2000" dirty="0"/>
          </a:p>
        </p:txBody>
      </p:sp>
      <p:sp>
        <p:nvSpPr>
          <p:cNvPr id="4" name="seal"/>
          <p:cNvSpPr/>
          <p:nvPr/>
        </p:nvSpPr>
        <p:spPr>
          <a:xfrm>
            <a:off x="731520" y="1737360"/>
            <a:ext cx="822960" cy="822960"/>
          </a:xfrm>
          <a:prstGeom prst="roundRect">
            <a:avLst>
              <a:gd name="adj" fmla="val 18000"/>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12571" y="1918411"/>
            <a:ext cx="460858" cy="460858"/>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Demo run sheet</a:t>
            </a:r>
            <a:endParaRPr lang="en-US" sz="3200" dirty="0"/>
          </a:p>
        </p:txBody>
      </p:sp>
      <p:sp>
        <p:nvSpPr>
          <p:cNvPr id="3" name="card"/>
          <p:cNvSpPr/>
          <p:nvPr/>
        </p:nvSpPr>
        <p:spPr>
          <a:xfrm>
            <a:off x="548640" y="1417320"/>
            <a:ext cx="5394960" cy="1371600"/>
          </a:xfrm>
          <a:prstGeom prst="roundRect">
            <a:avLst>
              <a:gd name="adj" fmla="val 5333"/>
            </a:avLst>
          </a:prstGeom>
          <a:solidFill>
            <a:schemeClr val="bg2"/>
          </a:solidFill>
          <a:ln/>
        </p:spPr>
      </p:sp>
      <p:sp>
        <p:nvSpPr>
          <p:cNvPr id="4" name="seal"/>
          <p:cNvSpPr/>
          <p:nvPr/>
        </p:nvSpPr>
        <p:spPr>
          <a:xfrm>
            <a:off x="822960" y="1719072"/>
            <a:ext cx="731520" cy="731520"/>
          </a:xfrm>
          <a:prstGeom prst="roundRect">
            <a:avLst>
              <a:gd name="adj" fmla="val 18000"/>
            </a:avLst>
          </a:prstGeom>
          <a:solidFill>
            <a:schemeClr val="accent1"/>
          </a:solidFill>
          <a:ln/>
        </p:spPr>
      </p:sp>
      <p:sp>
        <p:nvSpPr>
          <p:cNvPr id="5" name="Text 3"/>
          <p:cNvSpPr txBox="1"/>
          <p:nvPr/>
        </p:nvSpPr>
        <p:spPr>
          <a:xfrm>
            <a:off x="822960" y="1719072"/>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1783080" y="1618488"/>
            <a:ext cx="3977640" cy="411480"/>
          </a:xfrm>
          <a:prstGeom prst="rect">
            <a:avLst/>
          </a:prstGeom>
          <a:noFill/>
          <a:ln/>
        </p:spPr>
        <p:txBody>
          <a:bodyPr wrap="square" lIns="0" tIns="0" rIns="0" bIns="0" rtlCol="0" anchor="t"/>
          <a:lstStyle/>
          <a:p>
            <a:pPr indent="0" marL="0">
              <a:buNone/>
            </a:pPr>
            <a:r>
              <a:rPr lang="en-US" sz="1800" b="1" dirty="0">
                <a:solidFill>
                  <a:schemeClr val="tx1"/>
                </a:solidFill>
              </a:rPr>
              <a:t>The project</a:t>
            </a:r>
            <a:endParaRPr lang="en-US" sz="1800" dirty="0"/>
          </a:p>
        </p:txBody>
      </p:sp>
      <p:sp>
        <p:nvSpPr>
          <p:cNvPr id="7" name="Text 5"/>
          <p:cNvSpPr txBox="1"/>
          <p:nvPr/>
        </p:nvSpPr>
        <p:spPr>
          <a:xfrm>
            <a:off x="1783080" y="2029968"/>
            <a:ext cx="3977640" cy="685800"/>
          </a:xfrm>
          <a:prstGeom prst="rect">
            <a:avLst/>
          </a:prstGeom>
          <a:noFill/>
          <a:ln/>
        </p:spPr>
        <p:txBody>
          <a:bodyPr wrap="square" lIns="0" tIns="0" rIns="0" bIns="0" rtlCol="0" anchor="t"/>
          <a:lstStyle/>
          <a:p>
            <a:pPr indent="0" marL="0">
              <a:buNone/>
            </a:pPr>
            <a:r>
              <a:rPr lang="en-US" sz="1400" dirty="0">
                <a:solidFill>
                  <a:schemeClr val="accent3"/>
                </a:solidFill>
              </a:rPr>
              <a:t>Style guide, termbase with “never use” variants, translation memory</a:t>
            </a:r>
            <a:endParaRPr lang="en-US" sz="1400" dirty="0"/>
          </a:p>
        </p:txBody>
      </p:sp>
      <p:sp>
        <p:nvSpPr>
          <p:cNvPr id="8" name="card"/>
          <p:cNvSpPr/>
          <p:nvPr/>
        </p:nvSpPr>
        <p:spPr>
          <a:xfrm>
            <a:off x="6217920" y="1417320"/>
            <a:ext cx="5394960" cy="1371600"/>
          </a:xfrm>
          <a:prstGeom prst="roundRect">
            <a:avLst>
              <a:gd name="adj" fmla="val 5333"/>
            </a:avLst>
          </a:prstGeom>
          <a:solidFill>
            <a:schemeClr val="bg2"/>
          </a:solidFill>
          <a:ln/>
        </p:spPr>
      </p:sp>
      <p:sp>
        <p:nvSpPr>
          <p:cNvPr id="9" name="seal"/>
          <p:cNvSpPr/>
          <p:nvPr/>
        </p:nvSpPr>
        <p:spPr>
          <a:xfrm>
            <a:off x="6492240" y="1719072"/>
            <a:ext cx="731520" cy="731520"/>
          </a:xfrm>
          <a:prstGeom prst="roundRect">
            <a:avLst>
              <a:gd name="adj" fmla="val 18000"/>
            </a:avLst>
          </a:prstGeom>
          <a:solidFill>
            <a:schemeClr val="accent1"/>
          </a:solidFill>
          <a:ln/>
        </p:spPr>
      </p:sp>
      <p:sp>
        <p:nvSpPr>
          <p:cNvPr id="10" name="Text 8"/>
          <p:cNvSpPr txBox="1"/>
          <p:nvPr/>
        </p:nvSpPr>
        <p:spPr>
          <a:xfrm>
            <a:off x="6492240" y="1719072"/>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7452360" y="1618488"/>
            <a:ext cx="3977640" cy="411480"/>
          </a:xfrm>
          <a:prstGeom prst="rect">
            <a:avLst/>
          </a:prstGeom>
          <a:noFill/>
          <a:ln/>
        </p:spPr>
        <p:txBody>
          <a:bodyPr wrap="square" lIns="0" tIns="0" rIns="0" bIns="0" rtlCol="0" anchor="t"/>
          <a:lstStyle/>
          <a:p>
            <a:pPr indent="0" marL="0">
              <a:buNone/>
            </a:pPr>
            <a:r>
              <a:rPr lang="en-US" sz="1800" b="1" dirty="0">
                <a:solidFill>
                  <a:schemeClr val="tx1"/>
                </a:solidFill>
              </a:rPr>
              <a:t>Upload a Chinese scan</a:t>
            </a:r>
            <a:endParaRPr lang="en-US" sz="1800" dirty="0"/>
          </a:p>
        </p:txBody>
      </p:sp>
      <p:sp>
        <p:nvSpPr>
          <p:cNvPr id="12" name="Text 10"/>
          <p:cNvSpPr txBox="1"/>
          <p:nvPr/>
        </p:nvSpPr>
        <p:spPr>
          <a:xfrm>
            <a:off x="7452360" y="2029968"/>
            <a:ext cx="3977640" cy="685800"/>
          </a:xfrm>
          <a:prstGeom prst="rect">
            <a:avLst/>
          </a:prstGeom>
          <a:noFill/>
          <a:ln/>
        </p:spPr>
        <p:txBody>
          <a:bodyPr wrap="square" lIns="0" tIns="0" rIns="0" bIns="0" rtlCol="0" anchor="t"/>
          <a:lstStyle/>
          <a:p>
            <a:pPr indent="0" marL="0">
              <a:buNone/>
            </a:pPr>
            <a:r>
              <a:rPr lang="en-US" sz="1400" dirty="0">
                <a:solidFill>
                  <a:schemeClr val="accent3"/>
                </a:solidFill>
              </a:rPr>
              <a:t>jianli-tongzhi-shuanglan-scanned.pdf: two columns and a red seal; watch it read</a:t>
            </a:r>
            <a:endParaRPr lang="en-US" sz="1400" dirty="0"/>
          </a:p>
        </p:txBody>
      </p:sp>
      <p:sp>
        <p:nvSpPr>
          <p:cNvPr id="13" name="card"/>
          <p:cNvSpPr/>
          <p:nvPr/>
        </p:nvSpPr>
        <p:spPr>
          <a:xfrm>
            <a:off x="548640" y="2990088"/>
            <a:ext cx="5394960" cy="1371600"/>
          </a:xfrm>
          <a:prstGeom prst="roundRect">
            <a:avLst>
              <a:gd name="adj" fmla="val 5333"/>
            </a:avLst>
          </a:prstGeom>
          <a:solidFill>
            <a:schemeClr val="bg2"/>
          </a:solidFill>
          <a:ln/>
        </p:spPr>
      </p:sp>
      <p:sp>
        <p:nvSpPr>
          <p:cNvPr id="14" name="seal"/>
          <p:cNvSpPr/>
          <p:nvPr/>
        </p:nvSpPr>
        <p:spPr>
          <a:xfrm>
            <a:off x="822960" y="3291840"/>
            <a:ext cx="731520" cy="731520"/>
          </a:xfrm>
          <a:prstGeom prst="roundRect">
            <a:avLst>
              <a:gd name="adj" fmla="val 18000"/>
            </a:avLst>
          </a:prstGeom>
          <a:solidFill>
            <a:schemeClr val="accent1"/>
          </a:solidFill>
          <a:ln/>
        </p:spPr>
      </p:sp>
      <p:sp>
        <p:nvSpPr>
          <p:cNvPr id="15" name="Text 13"/>
          <p:cNvSpPr txBox="1"/>
          <p:nvPr/>
        </p:nvSpPr>
        <p:spPr>
          <a:xfrm>
            <a:off x="822960" y="329184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3</a:t>
            </a:r>
            <a:endParaRPr lang="en-US" sz="2200" dirty="0"/>
          </a:p>
        </p:txBody>
      </p:sp>
      <p:sp>
        <p:nvSpPr>
          <p:cNvPr id="16" name="Text 14"/>
          <p:cNvSpPr txBox="1"/>
          <p:nvPr/>
        </p:nvSpPr>
        <p:spPr>
          <a:xfrm>
            <a:off x="1783080" y="3191256"/>
            <a:ext cx="3977640" cy="411480"/>
          </a:xfrm>
          <a:prstGeom prst="rect">
            <a:avLst/>
          </a:prstGeom>
          <a:noFill/>
          <a:ln/>
        </p:spPr>
        <p:txBody>
          <a:bodyPr wrap="square" lIns="0" tIns="0" rIns="0" bIns="0" rtlCol="0" anchor="t"/>
          <a:lstStyle/>
          <a:p>
            <a:pPr indent="0" marL="0">
              <a:buNone/>
            </a:pPr>
            <a:r>
              <a:rPr lang="en-US" sz="1800" b="1" dirty="0">
                <a:solidFill>
                  <a:schemeClr val="tx1"/>
                </a:solidFill>
              </a:rPr>
              <a:t>Fix the reading by chatting</a:t>
            </a:r>
            <a:endParaRPr lang="en-US" sz="1800" dirty="0"/>
          </a:p>
        </p:txBody>
      </p:sp>
      <p:sp>
        <p:nvSpPr>
          <p:cNvPr id="17" name="Text 15"/>
          <p:cNvSpPr txBox="1"/>
          <p:nvPr/>
        </p:nvSpPr>
        <p:spPr>
          <a:xfrm>
            <a:off x="1783080" y="3602736"/>
            <a:ext cx="3977640" cy="685800"/>
          </a:xfrm>
          <a:prstGeom prst="rect">
            <a:avLst/>
          </a:prstGeom>
          <a:noFill/>
          <a:ln/>
        </p:spPr>
        <p:txBody>
          <a:bodyPr wrap="square" lIns="0" tIns="0" rIns="0" bIns="0" rtlCol="0" anchor="t"/>
          <a:lstStyle/>
          <a:p>
            <a:pPr indent="0" marL="0">
              <a:buNone/>
            </a:pPr>
            <a:r>
              <a:rPr lang="en-US" sz="1400" dirty="0">
                <a:solidFill>
                  <a:schemeClr val="accent3"/>
                </a:solidFill>
              </a:rPr>
              <a:t>Compare page and reading; ask for a re-read; check the word list; accept</a:t>
            </a:r>
            <a:endParaRPr lang="en-US" sz="1400" dirty="0"/>
          </a:p>
        </p:txBody>
      </p:sp>
      <p:sp>
        <p:nvSpPr>
          <p:cNvPr id="18" name="card"/>
          <p:cNvSpPr/>
          <p:nvPr/>
        </p:nvSpPr>
        <p:spPr>
          <a:xfrm>
            <a:off x="6217920" y="2990088"/>
            <a:ext cx="5394960" cy="1371600"/>
          </a:xfrm>
          <a:prstGeom prst="roundRect">
            <a:avLst>
              <a:gd name="adj" fmla="val 5333"/>
            </a:avLst>
          </a:prstGeom>
          <a:solidFill>
            <a:schemeClr val="bg2"/>
          </a:solidFill>
          <a:ln/>
        </p:spPr>
      </p:sp>
      <p:sp>
        <p:nvSpPr>
          <p:cNvPr id="19" name="seal"/>
          <p:cNvSpPr/>
          <p:nvPr/>
        </p:nvSpPr>
        <p:spPr>
          <a:xfrm>
            <a:off x="6492240" y="3291840"/>
            <a:ext cx="731520" cy="731520"/>
          </a:xfrm>
          <a:prstGeom prst="roundRect">
            <a:avLst>
              <a:gd name="adj" fmla="val 18000"/>
            </a:avLst>
          </a:prstGeom>
          <a:solidFill>
            <a:schemeClr val="accent1"/>
          </a:solidFill>
          <a:ln/>
        </p:spPr>
      </p:sp>
      <p:sp>
        <p:nvSpPr>
          <p:cNvPr id="20" name="Text 18"/>
          <p:cNvSpPr txBox="1"/>
          <p:nvPr/>
        </p:nvSpPr>
        <p:spPr>
          <a:xfrm>
            <a:off x="6492240" y="3291840"/>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4</a:t>
            </a:r>
            <a:endParaRPr lang="en-US" sz="2200" dirty="0"/>
          </a:p>
        </p:txBody>
      </p:sp>
      <p:sp>
        <p:nvSpPr>
          <p:cNvPr id="21" name="Text 19"/>
          <p:cNvSpPr txBox="1"/>
          <p:nvPr/>
        </p:nvSpPr>
        <p:spPr>
          <a:xfrm>
            <a:off x="7452360" y="3191256"/>
            <a:ext cx="3977640" cy="411480"/>
          </a:xfrm>
          <a:prstGeom prst="rect">
            <a:avLst/>
          </a:prstGeom>
          <a:noFill/>
          <a:ln/>
        </p:spPr>
        <p:txBody>
          <a:bodyPr wrap="square" lIns="0" tIns="0" rIns="0" bIns="0" rtlCol="0" anchor="t"/>
          <a:lstStyle/>
          <a:p>
            <a:pPr indent="0" marL="0">
              <a:buNone/>
            </a:pPr>
            <a:r>
              <a:rPr lang="en-US" sz="1800" b="1" dirty="0">
                <a:solidFill>
                  <a:schemeClr val="tx1"/>
                </a:solidFill>
              </a:rPr>
              <a:t>Answer a question</a:t>
            </a:r>
            <a:endParaRPr lang="en-US" sz="1800" dirty="0"/>
          </a:p>
        </p:txBody>
      </p:sp>
      <p:sp>
        <p:nvSpPr>
          <p:cNvPr id="22" name="Text 20"/>
          <p:cNvSpPr txBox="1"/>
          <p:nvPr/>
        </p:nvSpPr>
        <p:spPr>
          <a:xfrm>
            <a:off x="7452360" y="3602736"/>
            <a:ext cx="3977640" cy="685800"/>
          </a:xfrm>
          <a:prstGeom prst="rect">
            <a:avLst/>
          </a:prstGeom>
          <a:noFill/>
          <a:ln/>
        </p:spPr>
        <p:txBody>
          <a:bodyPr wrap="square" lIns="0" tIns="0" rIns="0" bIns="0" rtlCol="0" anchor="t"/>
          <a:lstStyle/>
          <a:p>
            <a:pPr indent="0" marL="0">
              <a:buNone/>
            </a:pPr>
            <a:r>
              <a:rPr lang="en-US" sz="1400" dirty="0">
                <a:solidFill>
                  <a:schemeClr val="accent3"/>
                </a:solidFill>
              </a:rPr>
              <a:t>German contract: a legal term explained in English; choose or type your own</a:t>
            </a:r>
            <a:endParaRPr lang="en-US" sz="1400" dirty="0"/>
          </a:p>
        </p:txBody>
      </p:sp>
      <p:sp>
        <p:nvSpPr>
          <p:cNvPr id="23" name="card"/>
          <p:cNvSpPr/>
          <p:nvPr/>
        </p:nvSpPr>
        <p:spPr>
          <a:xfrm>
            <a:off x="548640" y="4562856"/>
            <a:ext cx="5394960" cy="1371600"/>
          </a:xfrm>
          <a:prstGeom prst="roundRect">
            <a:avLst>
              <a:gd name="adj" fmla="val 5333"/>
            </a:avLst>
          </a:prstGeom>
          <a:solidFill>
            <a:schemeClr val="bg2"/>
          </a:solidFill>
          <a:ln/>
        </p:spPr>
      </p:sp>
      <p:sp>
        <p:nvSpPr>
          <p:cNvPr id="24" name="seal"/>
          <p:cNvSpPr/>
          <p:nvPr/>
        </p:nvSpPr>
        <p:spPr>
          <a:xfrm>
            <a:off x="822960" y="4864608"/>
            <a:ext cx="731520" cy="731520"/>
          </a:xfrm>
          <a:prstGeom prst="roundRect">
            <a:avLst>
              <a:gd name="adj" fmla="val 18000"/>
            </a:avLst>
          </a:prstGeom>
          <a:solidFill>
            <a:schemeClr val="accent1"/>
          </a:solidFill>
          <a:ln/>
        </p:spPr>
      </p:sp>
      <p:sp>
        <p:nvSpPr>
          <p:cNvPr id="25" name="Text 23"/>
          <p:cNvSpPr txBox="1"/>
          <p:nvPr/>
        </p:nvSpPr>
        <p:spPr>
          <a:xfrm>
            <a:off x="822960" y="4864608"/>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5</a:t>
            </a:r>
            <a:endParaRPr lang="en-US" sz="2200" dirty="0"/>
          </a:p>
        </p:txBody>
      </p:sp>
      <p:sp>
        <p:nvSpPr>
          <p:cNvPr id="26" name="Text 24"/>
          <p:cNvSpPr txBox="1"/>
          <p:nvPr/>
        </p:nvSpPr>
        <p:spPr>
          <a:xfrm>
            <a:off x="1783080" y="4764024"/>
            <a:ext cx="3977640" cy="411480"/>
          </a:xfrm>
          <a:prstGeom prst="rect">
            <a:avLst/>
          </a:prstGeom>
          <a:noFill/>
          <a:ln/>
        </p:spPr>
        <p:txBody>
          <a:bodyPr wrap="square" lIns="0" tIns="0" rIns="0" bIns="0" rtlCol="0" anchor="t"/>
          <a:lstStyle/>
          <a:p>
            <a:pPr indent="0" marL="0">
              <a:buNone/>
            </a:pPr>
            <a:r>
              <a:rPr lang="en-US" sz="1800" b="1" dirty="0">
                <a:solidFill>
                  <a:schemeClr val="tx1"/>
                </a:solidFill>
              </a:rPr>
              <a:t>The finished translation</a:t>
            </a:r>
            <a:endParaRPr lang="en-US" sz="1800" dirty="0"/>
          </a:p>
        </p:txBody>
      </p:sp>
      <p:sp>
        <p:nvSpPr>
          <p:cNvPr id="27" name="Text 25"/>
          <p:cNvSpPr txBox="1"/>
          <p:nvPr/>
        </p:nvSpPr>
        <p:spPr>
          <a:xfrm>
            <a:off x="1783080" y="5175504"/>
            <a:ext cx="3977640" cy="685800"/>
          </a:xfrm>
          <a:prstGeom prst="rect">
            <a:avLst/>
          </a:prstGeom>
          <a:noFill/>
          <a:ln/>
        </p:spPr>
        <p:txBody>
          <a:bodyPr wrap="square" lIns="0" tIns="0" rIns="0" bIns="0" rtlCol="0" anchor="t"/>
          <a:lstStyle/>
          <a:p>
            <a:pPr indent="0" marL="0">
              <a:buNone/>
            </a:pPr>
            <a:r>
              <a:rPr lang="en-US" sz="1400" dirty="0">
                <a:solidFill>
                  <a:schemeClr val="accent3"/>
                </a:solidFill>
              </a:rPr>
              <a:t>Memory reuse, the reviewer's fixes, segment editor, side by side</a:t>
            </a:r>
            <a:endParaRPr lang="en-US" sz="1400" dirty="0"/>
          </a:p>
        </p:txBody>
      </p:sp>
      <p:sp>
        <p:nvSpPr>
          <p:cNvPr id="28" name="card"/>
          <p:cNvSpPr/>
          <p:nvPr/>
        </p:nvSpPr>
        <p:spPr>
          <a:xfrm>
            <a:off x="6217920" y="4562856"/>
            <a:ext cx="5394960" cy="1371600"/>
          </a:xfrm>
          <a:prstGeom prst="roundRect">
            <a:avLst>
              <a:gd name="adj" fmla="val 5333"/>
            </a:avLst>
          </a:prstGeom>
          <a:solidFill>
            <a:schemeClr val="bg2"/>
          </a:solidFill>
          <a:ln/>
        </p:spPr>
      </p:sp>
      <p:sp>
        <p:nvSpPr>
          <p:cNvPr id="29" name="seal"/>
          <p:cNvSpPr/>
          <p:nvPr/>
        </p:nvSpPr>
        <p:spPr>
          <a:xfrm>
            <a:off x="6492240" y="4864608"/>
            <a:ext cx="731520" cy="731520"/>
          </a:xfrm>
          <a:prstGeom prst="roundRect">
            <a:avLst>
              <a:gd name="adj" fmla="val 18000"/>
            </a:avLst>
          </a:prstGeom>
          <a:solidFill>
            <a:schemeClr val="accent1"/>
          </a:solidFill>
          <a:ln/>
        </p:spPr>
      </p:sp>
      <p:sp>
        <p:nvSpPr>
          <p:cNvPr id="30" name="Text 28"/>
          <p:cNvSpPr txBox="1"/>
          <p:nvPr/>
        </p:nvSpPr>
        <p:spPr>
          <a:xfrm>
            <a:off x="6492240" y="4864608"/>
            <a:ext cx="731520" cy="73152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6</a:t>
            </a:r>
            <a:endParaRPr lang="en-US" sz="2200" dirty="0"/>
          </a:p>
        </p:txBody>
      </p:sp>
      <p:sp>
        <p:nvSpPr>
          <p:cNvPr id="31" name="Text 29"/>
          <p:cNvSpPr txBox="1"/>
          <p:nvPr/>
        </p:nvSpPr>
        <p:spPr>
          <a:xfrm>
            <a:off x="7452360" y="4764024"/>
            <a:ext cx="3977640" cy="411480"/>
          </a:xfrm>
          <a:prstGeom prst="rect">
            <a:avLst/>
          </a:prstGeom>
          <a:noFill/>
          <a:ln/>
        </p:spPr>
        <p:txBody>
          <a:bodyPr wrap="square" lIns="0" tIns="0" rIns="0" bIns="0" rtlCol="0" anchor="t"/>
          <a:lstStyle/>
          <a:p>
            <a:pPr indent="0" marL="0">
              <a:buNone/>
            </a:pPr>
            <a:r>
              <a:rPr lang="en-US" sz="1800" b="1" dirty="0">
                <a:solidFill>
                  <a:schemeClr val="tx1"/>
                </a:solidFill>
              </a:rPr>
              <a:t>Edit, check, download</a:t>
            </a:r>
            <a:endParaRPr lang="en-US" sz="1800" dirty="0"/>
          </a:p>
        </p:txBody>
      </p:sp>
      <p:sp>
        <p:nvSpPr>
          <p:cNvPr id="32" name="Text 30"/>
          <p:cNvSpPr txBox="1"/>
          <p:nvPr/>
        </p:nvSpPr>
        <p:spPr>
          <a:xfrm>
            <a:off x="7452360" y="5175504"/>
            <a:ext cx="3977640" cy="685800"/>
          </a:xfrm>
          <a:prstGeom prst="rect">
            <a:avLst/>
          </a:prstGeom>
          <a:noFill/>
          <a:ln/>
        </p:spPr>
        <p:txBody>
          <a:bodyPr wrap="square" lIns="0" tIns="0" rIns="0" bIns="0" rtlCol="0" anchor="t"/>
          <a:lstStyle/>
          <a:p>
            <a:pPr indent="0" marL="0">
              <a:buNone/>
            </a:pPr>
            <a:r>
              <a:rPr lang="en-US" sz="1400" dirty="0">
                <a:solidFill>
                  <a:schemeClr val="accent3"/>
                </a:solidFill>
              </a:rPr>
              <a:t>Ask for a change in the chat, accept the diff, run LQA, download Word</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Next steps for us</a:t>
            </a:r>
            <a:endParaRPr lang="en-US" sz="3200" dirty="0"/>
          </a:p>
        </p:txBody>
      </p:sp>
      <p:sp>
        <p:nvSpPr>
          <p:cNvPr id="3" name="card"/>
          <p:cNvSpPr/>
          <p:nvPr/>
        </p:nvSpPr>
        <p:spPr>
          <a:xfrm>
            <a:off x="548640" y="1508760"/>
            <a:ext cx="3484778" cy="4206240"/>
          </a:xfrm>
          <a:prstGeom prst="roundRect">
            <a:avLst>
              <a:gd name="adj" fmla="val 2099"/>
            </a:avLst>
          </a:prstGeom>
          <a:solidFill>
            <a:schemeClr val="bg2"/>
          </a:solidFill>
          <a:ln/>
        </p:spPr>
      </p:sp>
      <p:sp>
        <p:nvSpPr>
          <p:cNvPr id="4" name="seal"/>
          <p:cNvSpPr/>
          <p:nvPr/>
        </p:nvSpPr>
        <p:spPr>
          <a:xfrm>
            <a:off x="914400" y="1828800"/>
            <a:ext cx="685800" cy="685800"/>
          </a:xfrm>
          <a:prstGeom prst="roundRect">
            <a:avLst>
              <a:gd name="adj" fmla="val 18000"/>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1065276" y="1979676"/>
            <a:ext cx="384048" cy="384048"/>
          </a:xfrm>
          <a:prstGeom prst="rect">
            <a:avLst/>
          </a:prstGeom>
        </p:spPr>
      </p:pic>
      <p:sp>
        <p:nvSpPr>
          <p:cNvPr id="6" name="Text 3"/>
          <p:cNvSpPr txBox="1"/>
          <p:nvPr/>
        </p:nvSpPr>
        <p:spPr>
          <a:xfrm>
            <a:off x="1783080" y="1901952"/>
            <a:ext cx="2021738" cy="54864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Models</a:t>
            </a:r>
            <a:endParaRPr lang="en-US" sz="2200" dirty="0"/>
          </a:p>
        </p:txBody>
      </p:sp>
      <p:sp>
        <p:nvSpPr>
          <p:cNvPr id="7" name="Text 4"/>
          <p:cNvSpPr txBox="1"/>
          <p:nvPr/>
        </p:nvSpPr>
        <p:spPr>
          <a:xfrm>
            <a:off x="914400" y="2834640"/>
            <a:ext cx="2753258" cy="265176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chemeClr val="tx1"/>
                </a:solidFill>
              </a:rPr>
              <a:t>Move reading and review onto our own GPUs (vLLM)</a:t>
            </a:r>
            <a:endParaRPr lang="en-US" sz="1700" dirty="0"/>
          </a:p>
          <a:p>
            <a:pPr marL="228600" indent="-228600">
              <a:spcAft>
                <a:spcPts val="1400"/>
              </a:spcAft>
              <a:buSzPct val="100000"/>
              <a:buChar char="•"/>
            </a:pPr>
            <a:r>
              <a:rPr lang="en-US" sz="1700" dirty="0">
                <a:solidFill>
                  <a:schemeClr val="tx1"/>
                </a:solidFill>
              </a:rPr>
              <a:t>Test models per step on real client documents</a:t>
            </a:r>
            <a:endParaRPr lang="en-US" sz="1700" dirty="0"/>
          </a:p>
        </p:txBody>
      </p:sp>
      <p:sp>
        <p:nvSpPr>
          <p:cNvPr id="8" name="card"/>
          <p:cNvSpPr/>
          <p:nvPr/>
        </p:nvSpPr>
        <p:spPr>
          <a:xfrm>
            <a:off x="4353458" y="1508760"/>
            <a:ext cx="3484778" cy="4206240"/>
          </a:xfrm>
          <a:prstGeom prst="roundRect">
            <a:avLst>
              <a:gd name="adj" fmla="val 2099"/>
            </a:avLst>
          </a:prstGeom>
          <a:solidFill>
            <a:schemeClr val="bg2"/>
          </a:solidFill>
          <a:ln/>
        </p:spPr>
      </p:sp>
      <p:sp>
        <p:nvSpPr>
          <p:cNvPr id="9" name="seal"/>
          <p:cNvSpPr/>
          <p:nvPr/>
        </p:nvSpPr>
        <p:spPr>
          <a:xfrm>
            <a:off x="4719218" y="1828800"/>
            <a:ext cx="685800" cy="685800"/>
          </a:xfrm>
          <a:prstGeom prst="roundRect">
            <a:avLst>
              <a:gd name="adj" fmla="val 18000"/>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4870094" y="1979676"/>
            <a:ext cx="384048" cy="384048"/>
          </a:xfrm>
          <a:prstGeom prst="rect">
            <a:avLst/>
          </a:prstGeom>
        </p:spPr>
      </p:pic>
      <p:sp>
        <p:nvSpPr>
          <p:cNvPr id="11" name="Text 7"/>
          <p:cNvSpPr txBox="1"/>
          <p:nvPr/>
        </p:nvSpPr>
        <p:spPr>
          <a:xfrm>
            <a:off x="5587898" y="1901952"/>
            <a:ext cx="2021738" cy="54864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Integrations</a:t>
            </a:r>
            <a:endParaRPr lang="en-US" sz="2200" dirty="0"/>
          </a:p>
        </p:txBody>
      </p:sp>
      <p:sp>
        <p:nvSpPr>
          <p:cNvPr id="12" name="Text 8"/>
          <p:cNvSpPr txBox="1"/>
          <p:nvPr/>
        </p:nvSpPr>
        <p:spPr>
          <a:xfrm>
            <a:off x="4719218" y="2834640"/>
            <a:ext cx="2753258" cy="265176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chemeClr val="tx1"/>
                </a:solidFill>
              </a:rPr>
              <a:t>Connect client systems through request headers</a:t>
            </a:r>
            <a:endParaRPr lang="en-US" sz="1700" dirty="0"/>
          </a:p>
          <a:p>
            <a:pPr marL="228600" indent="-228600">
              <a:spcAft>
                <a:spcPts val="1400"/>
              </a:spcAft>
              <a:buSzPct val="100000"/>
              <a:buChar char="•"/>
            </a:pPr>
            <a:r>
              <a:rPr lang="en-US" sz="1700" dirty="0">
                <a:solidFill>
                  <a:schemeClr val="tx1"/>
                </a:solidFill>
              </a:rPr>
              <a:t>Exchange with the CAT tools agencies already use</a:t>
            </a:r>
            <a:endParaRPr lang="en-US" sz="1700" dirty="0"/>
          </a:p>
        </p:txBody>
      </p:sp>
      <p:sp>
        <p:nvSpPr>
          <p:cNvPr id="13" name="card"/>
          <p:cNvSpPr/>
          <p:nvPr/>
        </p:nvSpPr>
        <p:spPr>
          <a:xfrm>
            <a:off x="8158277" y="1508760"/>
            <a:ext cx="3484778" cy="4206240"/>
          </a:xfrm>
          <a:prstGeom prst="roundRect">
            <a:avLst>
              <a:gd name="adj" fmla="val 2099"/>
            </a:avLst>
          </a:prstGeom>
          <a:solidFill>
            <a:schemeClr val="bg2"/>
          </a:solidFill>
          <a:ln/>
        </p:spPr>
      </p:sp>
      <p:sp>
        <p:nvSpPr>
          <p:cNvPr id="14" name="seal"/>
          <p:cNvSpPr/>
          <p:nvPr/>
        </p:nvSpPr>
        <p:spPr>
          <a:xfrm>
            <a:off x="8524037" y="1828800"/>
            <a:ext cx="685800" cy="685800"/>
          </a:xfrm>
          <a:prstGeom prst="roundRect">
            <a:avLst>
              <a:gd name="adj" fmla="val 18000"/>
            </a:avLst>
          </a:prstGeom>
          <a:solidFill>
            <a:schemeClr val="accent1"/>
          </a:solidFill>
          <a:ln/>
        </p:spPr>
      </p:sp>
      <p:pic>
        <p:nvPicPr>
          <p:cNvPr id="15" name="Image 2" descr="preencoded.png">    </p:cNvPr>
          <p:cNvPicPr>
            <a:picLocks noChangeAspect="1"/>
          </p:cNvPicPr>
          <p:nvPr/>
        </p:nvPicPr>
        <p:blipFill>
          <a:blip r:embed="rId3"/>
          <a:stretch>
            <a:fillRect/>
          </a:stretch>
        </p:blipFill>
        <p:spPr>
          <a:xfrm>
            <a:off x="8674913" y="1979676"/>
            <a:ext cx="384048" cy="384048"/>
          </a:xfrm>
          <a:prstGeom prst="rect">
            <a:avLst/>
          </a:prstGeom>
        </p:spPr>
      </p:pic>
      <p:sp>
        <p:nvSpPr>
          <p:cNvPr id="16" name="Text 11"/>
          <p:cNvSpPr txBox="1"/>
          <p:nvPr/>
        </p:nvSpPr>
        <p:spPr>
          <a:xfrm>
            <a:off x="9392717" y="1901952"/>
            <a:ext cx="2021738" cy="54864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Product</a:t>
            </a:r>
            <a:endParaRPr lang="en-US" sz="2200" dirty="0"/>
          </a:p>
        </p:txBody>
      </p:sp>
      <p:sp>
        <p:nvSpPr>
          <p:cNvPr id="17" name="Text 12"/>
          <p:cNvSpPr txBox="1"/>
          <p:nvPr/>
        </p:nvSpPr>
        <p:spPr>
          <a:xfrm>
            <a:off x="8524037" y="2834640"/>
            <a:ext cx="2753258" cy="265176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chemeClr val="tx1"/>
                </a:solidFill>
              </a:rPr>
              <a:t>Keep the original page layout in downloads</a:t>
            </a:r>
            <a:endParaRPr lang="en-US" sz="1700" dirty="0"/>
          </a:p>
          <a:p>
            <a:pPr marL="228600" indent="-228600">
              <a:spcAft>
                <a:spcPts val="1400"/>
              </a:spcAft>
              <a:buSzPct val="100000"/>
              <a:buChar char="•"/>
            </a:pPr>
            <a:r>
              <a:rPr lang="en-US" sz="1700" dirty="0">
                <a:solidFill>
                  <a:schemeClr val="tx1"/>
                </a:solidFill>
              </a:rPr>
              <a:t>Users and sign-in; more target languages</a:t>
            </a:r>
            <a:endParaRPr lang="en-US" sz="17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424160" cy="1737360"/>
          </a:xfrm>
          <a:prstGeom prst="rect">
            <a:avLst/>
          </a:prstGeom>
          <a:noFill/>
          <a:ln/>
        </p:spPr>
        <p:txBody>
          <a:bodyPr wrap="square" lIns="0" tIns="0" rIns="0" bIns="0" rtlCol="0" anchor="b"/>
          <a:lstStyle/>
          <a:p>
            <a:pPr algn="l" indent="0" marL="0">
              <a:buNone/>
            </a:pPr>
            <a:r>
              <a:rPr lang="en-US" sz="4600" b="1" dirty="0">
                <a:solidFill>
                  <a:schemeClr val="bg1"/>
                </a:solidFill>
              </a:rPr>
              <a:t>Agents read, ask and check. People decide.</a:t>
            </a:r>
            <a:endParaRPr lang="en-US" sz="4600" dirty="0"/>
          </a:p>
        </p:txBody>
      </p:sp>
      <p:sp>
        <p:nvSpPr>
          <p:cNvPr id="3" name="Text 0"/>
          <p:cNvSpPr/>
          <p:nvPr>
            <p:ph idx="101" type="body" hasCustomPrompt="1"/>
          </p:nvPr>
        </p:nvSpPr>
        <p:spPr>
          <a:xfrm>
            <a:off x="731520" y="3977640"/>
            <a:ext cx="9509760" cy="1097280"/>
          </a:xfrm>
          <a:prstGeom prst="rect">
            <a:avLst/>
          </a:prstGeom>
          <a:noFill/>
          <a:ln/>
        </p:spPr>
        <p:txBody>
          <a:bodyPr wrap="square" lIns="0" tIns="0" rIns="0" bIns="0" rtlCol="0" anchor="t"/>
          <a:lstStyle/>
          <a:p>
            <a:pPr indent="0" marL="0">
              <a:buNone/>
            </a:pPr>
            <a:r>
              <a:rPr lang="en-US" sz="2000" dirty="0">
                <a:solidFill>
                  <a:schemeClr val="accent4"/>
                </a:solidFill>
              </a:rPr>
              <a:t>Questions?</a:t>
            </a:r>
            <a:endParaRPr lang="en-US" sz="2000" dirty="0"/>
          </a:p>
        </p:txBody>
      </p:sp>
      <p:sp>
        <p:nvSpPr>
          <p:cNvPr id="4" name="seal"/>
          <p:cNvSpPr/>
          <p:nvPr/>
        </p:nvSpPr>
        <p:spPr>
          <a:xfrm>
            <a:off x="731520" y="1051560"/>
            <a:ext cx="777240" cy="777240"/>
          </a:xfrm>
          <a:prstGeom prst="roundRect">
            <a:avLst>
              <a:gd name="adj" fmla="val 18000"/>
            </a:avLst>
          </a:prstGeom>
          <a:solidFill>
            <a:schemeClr val="accent1"/>
          </a:solidFill>
          <a:ln/>
        </p:spPr>
      </p:sp>
      <p:pic>
        <p:nvPicPr>
          <p:cNvPr id="5" name="Image 0" descr="preencoded.png">    </p:cNvPr>
          <p:cNvPicPr>
            <a:picLocks noChangeAspect="1"/>
          </p:cNvPicPr>
          <p:nvPr/>
        </p:nvPicPr>
        <p:blipFill>
          <a:blip r:embed="rId1"/>
          <a:stretch>
            <a:fillRect/>
          </a:stretch>
        </p:blipFill>
        <p:spPr>
          <a:xfrm>
            <a:off x="902513" y="1222553"/>
            <a:ext cx="435254" cy="435254"/>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731520" y="2788920"/>
            <a:ext cx="10424160" cy="1005840"/>
          </a:xfrm>
          <a:prstGeom prst="rect">
            <a:avLst/>
          </a:prstGeom>
          <a:noFill/>
          <a:ln/>
        </p:spPr>
        <p:txBody>
          <a:bodyPr wrap="square" lIns="0" tIns="0" rIns="0" bIns="0" rtlCol="0" anchor="b"/>
          <a:lstStyle/>
          <a:p>
            <a:pPr algn="l" indent="0" marL="0">
              <a:buNone/>
            </a:pPr>
            <a:r>
              <a:rPr lang="en-US" sz="4400" b="1" dirty="0">
                <a:solidFill>
                  <a:schemeClr val="bg1"/>
                </a:solidFill>
              </a:rPr>
              <a:t>Backup: demo screenshots</a:t>
            </a:r>
            <a:endParaRPr lang="en-US" sz="4400" dirty="0"/>
          </a:p>
        </p:txBody>
      </p:sp>
      <p:sp>
        <p:nvSpPr>
          <p:cNvPr id="3" name="Text 0"/>
          <p:cNvSpPr/>
          <p:nvPr>
            <p:ph idx="101" type="body" hasCustomPrompt="1"/>
          </p:nvPr>
        </p:nvSpPr>
        <p:spPr>
          <a:xfrm>
            <a:off x="731520" y="3931920"/>
            <a:ext cx="10058400" cy="731520"/>
          </a:xfrm>
          <a:prstGeom prst="rect">
            <a:avLst/>
          </a:prstGeom>
          <a:noFill/>
          <a:ln/>
        </p:spPr>
        <p:txBody>
          <a:bodyPr wrap="square" lIns="0" tIns="0" rIns="0" bIns="0" rtlCol="0" anchor="t"/>
          <a:lstStyle/>
          <a:p>
            <a:pPr indent="0" marL="0">
              <a:buNone/>
            </a:pPr>
            <a:r>
              <a:rPr lang="en-US" sz="2000" dirty="0">
                <a:solidFill>
                  <a:schemeClr val="accent4"/>
                </a:solidFill>
              </a:rPr>
              <a:t>From a rehearsal run, in demo order. Use these if the live demo misbehaves.</a:t>
            </a:r>
            <a:endParaRPr lang="en-US" sz="2000" dirty="0"/>
          </a:p>
        </p:txBody>
      </p:sp>
      <p:sp>
        <p:nvSpPr>
          <p:cNvPr id="4" name="seal"/>
          <p:cNvSpPr/>
          <p:nvPr/>
        </p:nvSpPr>
        <p:spPr>
          <a:xfrm>
            <a:off x="731520" y="1737360"/>
            <a:ext cx="822960" cy="822960"/>
          </a:xfrm>
          <a:prstGeom prst="roundRect">
            <a:avLst>
              <a:gd name="adj" fmla="val 18000"/>
            </a:avLst>
          </a:prstGeom>
          <a:solidFill>
            <a:schemeClr val="accent1"/>
          </a:solidFill>
          <a:ln/>
        </p:spPr>
      </p:sp>
      <p:sp>
        <p:nvSpPr>
          <p:cNvPr id="5" name="Text 3"/>
          <p:cNvSpPr txBox="1"/>
          <p:nvPr/>
        </p:nvSpPr>
        <p:spPr>
          <a:xfrm>
            <a:off x="731520" y="173736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B</a:t>
            </a:r>
            <a:endParaRPr lang="en-US" sz="2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000" b="1" dirty="0">
                <a:solidFill>
                  <a:schemeClr val="tx1"/>
                </a:solidFill>
              </a:rPr>
              <a:t>1 · The project: style guide, termbase, memory</a:t>
            </a:r>
            <a:endParaRPr lang="en-US" sz="3000" dirty="0"/>
          </a:p>
        </p:txBody>
      </p:sp>
      <p:sp>
        <p:nvSpPr>
          <p:cNvPr id="3" name="Shape 1"/>
          <p:cNvSpPr/>
          <p:nvPr/>
        </p:nvSpPr>
        <p:spPr>
          <a:xfrm>
            <a:off x="530352" y="1307592"/>
            <a:ext cx="8586216" cy="4845749"/>
          </a:xfrm>
          <a:prstGeom prst="rect">
            <a:avLst/>
          </a:prstGeom>
          <a:solidFill>
            <a:schemeClr val="accent4"/>
          </a:solidFill>
          <a:ln/>
          <a:effectLst>
            <a:outerShdw sx="100000" sy="100000" kx="0" ky="0" algn="bl" rotWithShape="0" blurRad="101600" dist="38100" dir="5400000">
              <a:srgbClr val="1C2230">
                <a:alpha val="18000"/>
              </a:srgbClr>
            </a:outerShdw>
          </a:effectLst>
        </p:spPr>
      </p:sp>
      <p:pic>
        <p:nvPicPr>
          <p:cNvPr id="4" name="Image 0" descr="Screenshot of Agentic Translator">    </p:cNvPr>
          <p:cNvPicPr>
            <a:picLocks noChangeAspect="1"/>
          </p:cNvPicPr>
          <p:nvPr/>
        </p:nvPicPr>
        <p:blipFill>
          <a:blip r:embed="rId1"/>
          <a:stretch>
            <a:fillRect/>
          </a:stretch>
        </p:blipFill>
        <p:spPr>
          <a:xfrm>
            <a:off x="548640" y="1325880"/>
            <a:ext cx="8549640" cy="4809173"/>
          </a:xfrm>
          <a:prstGeom prst="rect">
            <a:avLst/>
          </a:prstGeom>
        </p:spPr>
      </p:pic>
      <p:sp>
        <p:nvSpPr>
          <p:cNvPr id="5" name="seal"/>
          <p:cNvSpPr/>
          <p:nvPr/>
        </p:nvSpPr>
        <p:spPr>
          <a:xfrm>
            <a:off x="9418320" y="1371600"/>
            <a:ext cx="411480" cy="411480"/>
          </a:xfrm>
          <a:prstGeom prst="roundRect">
            <a:avLst>
              <a:gd name="adj" fmla="val 18000"/>
            </a:avLst>
          </a:prstGeom>
          <a:solidFill>
            <a:schemeClr val="accent1"/>
          </a:solidFill>
          <a:ln/>
        </p:spPr>
      </p:sp>
      <p:sp>
        <p:nvSpPr>
          <p:cNvPr id="6" name="Text 3"/>
          <p:cNvSpPr txBox="1"/>
          <p:nvPr/>
        </p:nvSpPr>
        <p:spPr>
          <a:xfrm>
            <a:off x="9418320" y="13716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1</a:t>
            </a:r>
            <a:endParaRPr lang="en-US" sz="1400" dirty="0"/>
          </a:p>
        </p:txBody>
      </p:sp>
      <p:sp>
        <p:nvSpPr>
          <p:cNvPr id="7" name="Text 4"/>
          <p:cNvSpPr txBox="1"/>
          <p:nvPr/>
        </p:nvSpPr>
        <p:spPr>
          <a:xfrm>
            <a:off x="9418320" y="1920240"/>
            <a:ext cx="2224735" cy="960120"/>
          </a:xfrm>
          <a:prstGeom prst="rect">
            <a:avLst/>
          </a:prstGeom>
          <a:noFill/>
          <a:ln/>
        </p:spPr>
        <p:txBody>
          <a:bodyPr wrap="square" lIns="0" tIns="0" rIns="0" bIns="0" rtlCol="0" anchor="t"/>
          <a:lstStyle/>
          <a:p>
            <a:pPr indent="0" marL="0">
              <a:buNone/>
            </a:pPr>
            <a:r>
              <a:rPr lang="en-US" sz="1400" dirty="0">
                <a:solidFill>
                  <a:schemeClr val="tx1"/>
                </a:solidFill>
              </a:rPr>
              <a:t>15 approved terms for this client</a:t>
            </a:r>
            <a:endParaRPr lang="en-US" sz="1400" dirty="0"/>
          </a:p>
        </p:txBody>
      </p:sp>
      <p:sp>
        <p:nvSpPr>
          <p:cNvPr id="8" name="seal"/>
          <p:cNvSpPr/>
          <p:nvPr/>
        </p:nvSpPr>
        <p:spPr>
          <a:xfrm>
            <a:off x="9418320" y="2971800"/>
            <a:ext cx="411480" cy="411480"/>
          </a:xfrm>
          <a:prstGeom prst="roundRect">
            <a:avLst>
              <a:gd name="adj" fmla="val 18000"/>
            </a:avLst>
          </a:prstGeom>
          <a:solidFill>
            <a:schemeClr val="accent1"/>
          </a:solidFill>
          <a:ln/>
        </p:spPr>
      </p:sp>
      <p:sp>
        <p:nvSpPr>
          <p:cNvPr id="9" name="Text 6"/>
          <p:cNvSpPr txBox="1"/>
          <p:nvPr/>
        </p:nvSpPr>
        <p:spPr>
          <a:xfrm>
            <a:off x="9418320" y="2971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2</a:t>
            </a:r>
            <a:endParaRPr lang="en-US" sz="1400" dirty="0"/>
          </a:p>
        </p:txBody>
      </p:sp>
      <p:sp>
        <p:nvSpPr>
          <p:cNvPr id="10" name="Text 7"/>
          <p:cNvSpPr txBox="1"/>
          <p:nvPr/>
        </p:nvSpPr>
        <p:spPr>
          <a:xfrm>
            <a:off x="9418320" y="3520440"/>
            <a:ext cx="2224735" cy="960120"/>
          </a:xfrm>
          <a:prstGeom prst="rect">
            <a:avLst/>
          </a:prstGeom>
          <a:noFill/>
          <a:ln/>
        </p:spPr>
        <p:txBody>
          <a:bodyPr wrap="square" lIns="0" tIns="0" rIns="0" bIns="0" rtlCol="0" anchor="t"/>
          <a:lstStyle/>
          <a:p>
            <a:pPr indent="0" marL="0">
              <a:buNone/>
            </a:pPr>
            <a:r>
              <a:rPr lang="en-US" sz="1400" dirty="0">
                <a:solidFill>
                  <a:schemeClr val="tx1"/>
                </a:solidFill>
              </a:rPr>
              <a:t>“Never use” variants in red, checked by QA</a:t>
            </a:r>
            <a:endParaRPr lang="en-US" sz="1400" dirty="0"/>
          </a:p>
        </p:txBody>
      </p:sp>
      <p:sp>
        <p:nvSpPr>
          <p:cNvPr id="11" name="seal"/>
          <p:cNvSpPr/>
          <p:nvPr/>
        </p:nvSpPr>
        <p:spPr>
          <a:xfrm>
            <a:off x="9418320" y="4572000"/>
            <a:ext cx="411480" cy="411480"/>
          </a:xfrm>
          <a:prstGeom prst="roundRect">
            <a:avLst>
              <a:gd name="adj" fmla="val 18000"/>
            </a:avLst>
          </a:prstGeom>
          <a:solidFill>
            <a:schemeClr val="accent1"/>
          </a:solidFill>
          <a:ln/>
        </p:spPr>
      </p:sp>
      <p:sp>
        <p:nvSpPr>
          <p:cNvPr id="12" name="Text 9"/>
          <p:cNvSpPr txBox="1"/>
          <p:nvPr/>
        </p:nvSpPr>
        <p:spPr>
          <a:xfrm>
            <a:off x="9418320" y="4572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3</a:t>
            </a:r>
            <a:endParaRPr lang="en-US" sz="1400" dirty="0"/>
          </a:p>
        </p:txBody>
      </p:sp>
      <p:sp>
        <p:nvSpPr>
          <p:cNvPr id="13" name="Text 10"/>
          <p:cNvSpPr txBox="1"/>
          <p:nvPr/>
        </p:nvSpPr>
        <p:spPr>
          <a:xfrm>
            <a:off x="9418320" y="5120640"/>
            <a:ext cx="2224735" cy="960120"/>
          </a:xfrm>
          <a:prstGeom prst="rect">
            <a:avLst/>
          </a:prstGeom>
          <a:noFill/>
          <a:ln/>
        </p:spPr>
        <p:txBody>
          <a:bodyPr wrap="square" lIns="0" tIns="0" rIns="0" bIns="0" rtlCol="0" anchor="t"/>
          <a:lstStyle/>
          <a:p>
            <a:pPr indent="0" marL="0">
              <a:buNone/>
            </a:pPr>
            <a:r>
              <a:rPr lang="en-US" sz="1400" dirty="0">
                <a:solidFill>
                  <a:schemeClr val="tx1"/>
                </a:solidFill>
              </a:rPr>
              <a:t>Notes explain usage</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000" b="1" dirty="0">
                <a:solidFill>
                  <a:schemeClr val="tx1"/>
                </a:solidFill>
              </a:rPr>
              <a:t>2 · Upload a scan: the pages are read</a:t>
            </a:r>
            <a:endParaRPr lang="en-US" sz="3000" dirty="0"/>
          </a:p>
        </p:txBody>
      </p:sp>
      <p:sp>
        <p:nvSpPr>
          <p:cNvPr id="3" name="Shape 1"/>
          <p:cNvSpPr/>
          <p:nvPr/>
        </p:nvSpPr>
        <p:spPr>
          <a:xfrm>
            <a:off x="530352" y="1307592"/>
            <a:ext cx="8586216" cy="4845749"/>
          </a:xfrm>
          <a:prstGeom prst="rect">
            <a:avLst/>
          </a:prstGeom>
          <a:solidFill>
            <a:schemeClr val="accent4"/>
          </a:solidFill>
          <a:ln/>
          <a:effectLst>
            <a:outerShdw sx="100000" sy="100000" kx="0" ky="0" algn="bl" rotWithShape="0" blurRad="101600" dist="38100" dir="5400000">
              <a:srgbClr val="1C2230">
                <a:alpha val="18000"/>
              </a:srgbClr>
            </a:outerShdw>
          </a:effectLst>
        </p:spPr>
      </p:sp>
      <p:pic>
        <p:nvPicPr>
          <p:cNvPr id="4" name="Image 0" descr="Screenshot of Agentic Translator">    </p:cNvPr>
          <p:cNvPicPr>
            <a:picLocks noChangeAspect="1"/>
          </p:cNvPicPr>
          <p:nvPr/>
        </p:nvPicPr>
        <p:blipFill>
          <a:blip r:embed="rId1"/>
          <a:stretch>
            <a:fillRect/>
          </a:stretch>
        </p:blipFill>
        <p:spPr>
          <a:xfrm>
            <a:off x="548640" y="1325880"/>
            <a:ext cx="8549640" cy="4809173"/>
          </a:xfrm>
          <a:prstGeom prst="rect">
            <a:avLst/>
          </a:prstGeom>
        </p:spPr>
      </p:pic>
      <p:sp>
        <p:nvSpPr>
          <p:cNvPr id="5" name="seal"/>
          <p:cNvSpPr/>
          <p:nvPr/>
        </p:nvSpPr>
        <p:spPr>
          <a:xfrm>
            <a:off x="9418320" y="1371600"/>
            <a:ext cx="411480" cy="411480"/>
          </a:xfrm>
          <a:prstGeom prst="roundRect">
            <a:avLst>
              <a:gd name="adj" fmla="val 18000"/>
            </a:avLst>
          </a:prstGeom>
          <a:solidFill>
            <a:schemeClr val="accent1"/>
          </a:solidFill>
          <a:ln/>
        </p:spPr>
      </p:sp>
      <p:sp>
        <p:nvSpPr>
          <p:cNvPr id="6" name="Text 3"/>
          <p:cNvSpPr txBox="1"/>
          <p:nvPr/>
        </p:nvSpPr>
        <p:spPr>
          <a:xfrm>
            <a:off x="9418320" y="13716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1</a:t>
            </a:r>
            <a:endParaRPr lang="en-US" sz="1400" dirty="0"/>
          </a:p>
        </p:txBody>
      </p:sp>
      <p:sp>
        <p:nvSpPr>
          <p:cNvPr id="7" name="Text 4"/>
          <p:cNvSpPr txBox="1"/>
          <p:nvPr/>
        </p:nvSpPr>
        <p:spPr>
          <a:xfrm>
            <a:off x="9418320" y="1920240"/>
            <a:ext cx="2224735" cy="960120"/>
          </a:xfrm>
          <a:prstGeom prst="rect">
            <a:avLst/>
          </a:prstGeom>
          <a:noFill/>
          <a:ln/>
        </p:spPr>
        <p:txBody>
          <a:bodyPr wrap="square" lIns="0" tIns="0" rIns="0" bIns="0" rtlCol="0" anchor="t"/>
          <a:lstStyle/>
          <a:p>
            <a:pPr indent="0" marL="0">
              <a:buNone/>
            </a:pPr>
            <a:r>
              <a:rPr lang="en-US" sz="1400" dirty="0">
                <a:solidFill>
                  <a:schemeClr val="tx1"/>
                </a:solidFill>
              </a:rPr>
              <a:t>The step bar: Read, Check, Analyse, Translate, Review, Ready</a:t>
            </a:r>
            <a:endParaRPr lang="en-US" sz="1400" dirty="0"/>
          </a:p>
        </p:txBody>
      </p:sp>
      <p:sp>
        <p:nvSpPr>
          <p:cNvPr id="8" name="seal"/>
          <p:cNvSpPr/>
          <p:nvPr/>
        </p:nvSpPr>
        <p:spPr>
          <a:xfrm>
            <a:off x="9418320" y="2971800"/>
            <a:ext cx="411480" cy="411480"/>
          </a:xfrm>
          <a:prstGeom prst="roundRect">
            <a:avLst>
              <a:gd name="adj" fmla="val 18000"/>
            </a:avLst>
          </a:prstGeom>
          <a:solidFill>
            <a:schemeClr val="accent1"/>
          </a:solidFill>
          <a:ln/>
        </p:spPr>
      </p:sp>
      <p:sp>
        <p:nvSpPr>
          <p:cNvPr id="9" name="Text 6"/>
          <p:cNvSpPr txBox="1"/>
          <p:nvPr/>
        </p:nvSpPr>
        <p:spPr>
          <a:xfrm>
            <a:off x="9418320" y="2971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2</a:t>
            </a:r>
            <a:endParaRPr lang="en-US" sz="1400" dirty="0"/>
          </a:p>
        </p:txBody>
      </p:sp>
      <p:sp>
        <p:nvSpPr>
          <p:cNvPr id="10" name="Text 7"/>
          <p:cNvSpPr txBox="1"/>
          <p:nvPr/>
        </p:nvSpPr>
        <p:spPr>
          <a:xfrm>
            <a:off x="9418320" y="3520440"/>
            <a:ext cx="2224735" cy="960120"/>
          </a:xfrm>
          <a:prstGeom prst="rect">
            <a:avLst/>
          </a:prstGeom>
          <a:noFill/>
          <a:ln/>
        </p:spPr>
        <p:txBody>
          <a:bodyPr wrap="square" lIns="0" tIns="0" rIns="0" bIns="0" rtlCol="0" anchor="t"/>
          <a:lstStyle/>
          <a:p>
            <a:pPr indent="0" marL="0">
              <a:buNone/>
            </a:pPr>
            <a:r>
              <a:rPr lang="en-US" sz="1400" dirty="0">
                <a:solidFill>
                  <a:schemeClr val="tx1"/>
                </a:solidFill>
              </a:rPr>
              <a:t>A vision model reads each page, then checks the reading</a:t>
            </a:r>
            <a:endParaRPr lang="en-US" sz="1400" dirty="0"/>
          </a:p>
        </p:txBody>
      </p:sp>
      <p:sp>
        <p:nvSpPr>
          <p:cNvPr id="11" name="seal"/>
          <p:cNvSpPr/>
          <p:nvPr/>
        </p:nvSpPr>
        <p:spPr>
          <a:xfrm>
            <a:off x="9418320" y="4572000"/>
            <a:ext cx="411480" cy="411480"/>
          </a:xfrm>
          <a:prstGeom prst="roundRect">
            <a:avLst>
              <a:gd name="adj" fmla="val 18000"/>
            </a:avLst>
          </a:prstGeom>
          <a:solidFill>
            <a:schemeClr val="accent1"/>
          </a:solidFill>
          <a:ln/>
        </p:spPr>
      </p:sp>
      <p:sp>
        <p:nvSpPr>
          <p:cNvPr id="12" name="Text 9"/>
          <p:cNvSpPr txBox="1"/>
          <p:nvPr/>
        </p:nvSpPr>
        <p:spPr>
          <a:xfrm>
            <a:off x="9418320" y="4572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3</a:t>
            </a:r>
            <a:endParaRPr lang="en-US" sz="1400" dirty="0"/>
          </a:p>
        </p:txBody>
      </p:sp>
      <p:sp>
        <p:nvSpPr>
          <p:cNvPr id="13" name="Text 10"/>
          <p:cNvSpPr txBox="1"/>
          <p:nvPr/>
        </p:nvSpPr>
        <p:spPr>
          <a:xfrm>
            <a:off x="9418320" y="5120640"/>
            <a:ext cx="2224735" cy="960120"/>
          </a:xfrm>
          <a:prstGeom prst="rect">
            <a:avLst/>
          </a:prstGeom>
          <a:noFill/>
          <a:ln/>
        </p:spPr>
        <p:txBody>
          <a:bodyPr wrap="square" lIns="0" tIns="0" rIns="0" bIns="0" rtlCol="0" anchor="t"/>
          <a:lstStyle/>
          <a:p>
            <a:pPr indent="0" marL="0">
              <a:buNone/>
            </a:pPr>
            <a:r>
              <a:rPr lang="en-US" sz="1400" dirty="0">
                <a:solidFill>
                  <a:schemeClr val="tx1"/>
                </a:solidFill>
              </a:rPr>
              <a:t>About a minute for two pages</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000" b="1" dirty="0">
                <a:solidFill>
                  <a:schemeClr val="tx1"/>
                </a:solidFill>
              </a:rPr>
              <a:t>3 · The source check: before anything is translated</a:t>
            </a:r>
            <a:endParaRPr lang="en-US" sz="3000" dirty="0"/>
          </a:p>
        </p:txBody>
      </p:sp>
      <p:sp>
        <p:nvSpPr>
          <p:cNvPr id="3" name="Shape 1"/>
          <p:cNvSpPr/>
          <p:nvPr/>
        </p:nvSpPr>
        <p:spPr>
          <a:xfrm>
            <a:off x="530352" y="1307592"/>
            <a:ext cx="8586216" cy="4845749"/>
          </a:xfrm>
          <a:prstGeom prst="rect">
            <a:avLst/>
          </a:prstGeom>
          <a:solidFill>
            <a:schemeClr val="accent4"/>
          </a:solidFill>
          <a:ln/>
          <a:effectLst>
            <a:outerShdw sx="100000" sy="100000" kx="0" ky="0" algn="bl" rotWithShape="0" blurRad="101600" dist="38100" dir="5400000">
              <a:srgbClr val="1C2230">
                <a:alpha val="18000"/>
              </a:srgbClr>
            </a:outerShdw>
          </a:effectLst>
        </p:spPr>
      </p:sp>
      <p:pic>
        <p:nvPicPr>
          <p:cNvPr id="4" name="Image 0" descr="Screenshot of Agentic Translator">    </p:cNvPr>
          <p:cNvPicPr>
            <a:picLocks noChangeAspect="1"/>
          </p:cNvPicPr>
          <p:nvPr/>
        </p:nvPicPr>
        <p:blipFill>
          <a:blip r:embed="rId1"/>
          <a:stretch>
            <a:fillRect/>
          </a:stretch>
        </p:blipFill>
        <p:spPr>
          <a:xfrm>
            <a:off x="548640" y="1325880"/>
            <a:ext cx="8549640" cy="4809173"/>
          </a:xfrm>
          <a:prstGeom prst="rect">
            <a:avLst/>
          </a:prstGeom>
        </p:spPr>
      </p:pic>
      <p:sp>
        <p:nvSpPr>
          <p:cNvPr id="5" name="seal"/>
          <p:cNvSpPr/>
          <p:nvPr/>
        </p:nvSpPr>
        <p:spPr>
          <a:xfrm>
            <a:off x="9418320" y="1371600"/>
            <a:ext cx="411480" cy="411480"/>
          </a:xfrm>
          <a:prstGeom prst="roundRect">
            <a:avLst>
              <a:gd name="adj" fmla="val 18000"/>
            </a:avLst>
          </a:prstGeom>
          <a:solidFill>
            <a:schemeClr val="accent1"/>
          </a:solidFill>
          <a:ln/>
        </p:spPr>
      </p:sp>
      <p:sp>
        <p:nvSpPr>
          <p:cNvPr id="6" name="Text 3"/>
          <p:cNvSpPr txBox="1"/>
          <p:nvPr/>
        </p:nvSpPr>
        <p:spPr>
          <a:xfrm>
            <a:off x="9418320" y="13716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1</a:t>
            </a:r>
            <a:endParaRPr lang="en-US" sz="1400" dirty="0"/>
          </a:p>
        </p:txBody>
      </p:sp>
      <p:sp>
        <p:nvSpPr>
          <p:cNvPr id="7" name="Text 4"/>
          <p:cNvSpPr txBox="1"/>
          <p:nvPr/>
        </p:nvSpPr>
        <p:spPr>
          <a:xfrm>
            <a:off x="9418320" y="1920240"/>
            <a:ext cx="2224735" cy="960120"/>
          </a:xfrm>
          <a:prstGeom prst="rect">
            <a:avLst/>
          </a:prstGeom>
          <a:noFill/>
          <a:ln/>
        </p:spPr>
        <p:txBody>
          <a:bodyPr wrap="square" lIns="0" tIns="0" rIns="0" bIns="0" rtlCol="0" anchor="t"/>
          <a:lstStyle/>
          <a:p>
            <a:pPr indent="0" marL="0">
              <a:buNone/>
            </a:pPr>
            <a:r>
              <a:rPr lang="en-US" sz="1400" dirty="0">
                <a:solidFill>
                  <a:schemeClr val="tx1"/>
                </a:solidFill>
              </a:rPr>
              <a:t>The page image next to the reading</a:t>
            </a:r>
            <a:endParaRPr lang="en-US" sz="1400" dirty="0"/>
          </a:p>
        </p:txBody>
      </p:sp>
      <p:sp>
        <p:nvSpPr>
          <p:cNvPr id="8" name="seal"/>
          <p:cNvSpPr/>
          <p:nvPr/>
        </p:nvSpPr>
        <p:spPr>
          <a:xfrm>
            <a:off x="9418320" y="2971800"/>
            <a:ext cx="411480" cy="411480"/>
          </a:xfrm>
          <a:prstGeom prst="roundRect">
            <a:avLst>
              <a:gd name="adj" fmla="val 18000"/>
            </a:avLst>
          </a:prstGeom>
          <a:solidFill>
            <a:schemeClr val="accent1"/>
          </a:solidFill>
          <a:ln/>
        </p:spPr>
      </p:sp>
      <p:sp>
        <p:nvSpPr>
          <p:cNvPr id="9" name="Text 6"/>
          <p:cNvSpPr txBox="1"/>
          <p:nvPr/>
        </p:nvSpPr>
        <p:spPr>
          <a:xfrm>
            <a:off x="9418320" y="2971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2</a:t>
            </a:r>
            <a:endParaRPr lang="en-US" sz="1400" dirty="0"/>
          </a:p>
        </p:txBody>
      </p:sp>
      <p:sp>
        <p:nvSpPr>
          <p:cNvPr id="10" name="Text 7"/>
          <p:cNvSpPr txBox="1"/>
          <p:nvPr/>
        </p:nvSpPr>
        <p:spPr>
          <a:xfrm>
            <a:off x="9418320" y="3520440"/>
            <a:ext cx="2224735" cy="960120"/>
          </a:xfrm>
          <a:prstGeom prst="rect">
            <a:avLst/>
          </a:prstGeom>
          <a:noFill/>
          <a:ln/>
        </p:spPr>
        <p:txBody>
          <a:bodyPr wrap="square" lIns="0" tIns="0" rIns="0" bIns="0" rtlCol="0" anchor="t"/>
          <a:lstStyle/>
          <a:p>
            <a:pPr indent="0" marL="0">
              <a:buNone/>
            </a:pPr>
            <a:r>
              <a:rPr lang="en-US" sz="1400" dirty="0">
                <a:solidFill>
                  <a:schemeClr val="tx1"/>
                </a:solidFill>
              </a:rPr>
              <a:t>“Where to look first” per page</a:t>
            </a:r>
            <a:endParaRPr lang="en-US" sz="1400" dirty="0"/>
          </a:p>
        </p:txBody>
      </p:sp>
      <p:sp>
        <p:nvSpPr>
          <p:cNvPr id="11" name="seal"/>
          <p:cNvSpPr/>
          <p:nvPr/>
        </p:nvSpPr>
        <p:spPr>
          <a:xfrm>
            <a:off x="9418320" y="4572000"/>
            <a:ext cx="411480" cy="411480"/>
          </a:xfrm>
          <a:prstGeom prst="roundRect">
            <a:avLst>
              <a:gd name="adj" fmla="val 18000"/>
            </a:avLst>
          </a:prstGeom>
          <a:solidFill>
            <a:schemeClr val="accent1"/>
          </a:solidFill>
          <a:ln/>
        </p:spPr>
      </p:sp>
      <p:sp>
        <p:nvSpPr>
          <p:cNvPr id="12" name="Text 9"/>
          <p:cNvSpPr txBox="1"/>
          <p:nvPr/>
        </p:nvSpPr>
        <p:spPr>
          <a:xfrm>
            <a:off x="9418320" y="4572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3</a:t>
            </a:r>
            <a:endParaRPr lang="en-US" sz="1400" dirty="0"/>
          </a:p>
        </p:txBody>
      </p:sp>
      <p:sp>
        <p:nvSpPr>
          <p:cNvPr id="13" name="Text 10"/>
          <p:cNvSpPr txBox="1"/>
          <p:nvPr/>
        </p:nvSpPr>
        <p:spPr>
          <a:xfrm>
            <a:off x="9418320" y="5120640"/>
            <a:ext cx="2224735" cy="960120"/>
          </a:xfrm>
          <a:prstGeom prst="rect">
            <a:avLst/>
          </a:prstGeom>
          <a:noFill/>
          <a:ln/>
        </p:spPr>
        <p:txBody>
          <a:bodyPr wrap="square" lIns="0" tIns="0" rIns="0" bIns="0" rtlCol="0" anchor="t"/>
          <a:lstStyle/>
          <a:p>
            <a:pPr indent="0" marL="0">
              <a:buNone/>
            </a:pPr>
            <a:r>
              <a:rPr lang="en-US" sz="1400" dirty="0">
                <a:solidFill>
                  <a:schemeClr val="tx1"/>
                </a:solidFill>
              </a:rPr>
              <a:t>Fix it by chatting, or press Check the pages for me</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000" b="1" dirty="0">
                <a:solidFill>
                  <a:schemeClr val="tx1"/>
                </a:solidFill>
              </a:rPr>
              <a:t>4 · A page fix: read again, with a word list</a:t>
            </a:r>
            <a:endParaRPr lang="en-US" sz="3000" dirty="0"/>
          </a:p>
        </p:txBody>
      </p:sp>
      <p:sp>
        <p:nvSpPr>
          <p:cNvPr id="3" name="Shape 1"/>
          <p:cNvSpPr/>
          <p:nvPr/>
        </p:nvSpPr>
        <p:spPr>
          <a:xfrm>
            <a:off x="530352" y="1307592"/>
            <a:ext cx="8586216" cy="4845749"/>
          </a:xfrm>
          <a:prstGeom prst="rect">
            <a:avLst/>
          </a:prstGeom>
          <a:solidFill>
            <a:schemeClr val="accent4"/>
          </a:solidFill>
          <a:ln/>
          <a:effectLst>
            <a:outerShdw sx="100000" sy="100000" kx="0" ky="0" algn="bl" rotWithShape="0" blurRad="101600" dist="38100" dir="5400000">
              <a:srgbClr val="1C2230">
                <a:alpha val="18000"/>
              </a:srgbClr>
            </a:outerShdw>
          </a:effectLst>
        </p:spPr>
      </p:sp>
      <p:pic>
        <p:nvPicPr>
          <p:cNvPr id="4" name="Image 0" descr="Screenshot of Agentic Translator">    </p:cNvPr>
          <p:cNvPicPr>
            <a:picLocks noChangeAspect="1"/>
          </p:cNvPicPr>
          <p:nvPr/>
        </p:nvPicPr>
        <p:blipFill>
          <a:blip r:embed="rId1"/>
          <a:stretch>
            <a:fillRect/>
          </a:stretch>
        </p:blipFill>
        <p:spPr>
          <a:xfrm>
            <a:off x="548640" y="1325880"/>
            <a:ext cx="8549640" cy="4809173"/>
          </a:xfrm>
          <a:prstGeom prst="rect">
            <a:avLst/>
          </a:prstGeom>
        </p:spPr>
      </p:pic>
      <p:sp>
        <p:nvSpPr>
          <p:cNvPr id="5" name="seal"/>
          <p:cNvSpPr/>
          <p:nvPr/>
        </p:nvSpPr>
        <p:spPr>
          <a:xfrm>
            <a:off x="9418320" y="1371600"/>
            <a:ext cx="411480" cy="411480"/>
          </a:xfrm>
          <a:prstGeom prst="roundRect">
            <a:avLst>
              <a:gd name="adj" fmla="val 18000"/>
            </a:avLst>
          </a:prstGeom>
          <a:solidFill>
            <a:schemeClr val="accent1"/>
          </a:solidFill>
          <a:ln/>
        </p:spPr>
      </p:sp>
      <p:sp>
        <p:nvSpPr>
          <p:cNvPr id="6" name="Text 3"/>
          <p:cNvSpPr txBox="1"/>
          <p:nvPr/>
        </p:nvSpPr>
        <p:spPr>
          <a:xfrm>
            <a:off x="9418320" y="13716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1</a:t>
            </a:r>
            <a:endParaRPr lang="en-US" sz="1400" dirty="0"/>
          </a:p>
        </p:txBody>
      </p:sp>
      <p:sp>
        <p:nvSpPr>
          <p:cNvPr id="7" name="Text 4"/>
          <p:cNvSpPr txBox="1"/>
          <p:nvPr/>
        </p:nvSpPr>
        <p:spPr>
          <a:xfrm>
            <a:off x="9418320" y="1920240"/>
            <a:ext cx="2224735" cy="960120"/>
          </a:xfrm>
          <a:prstGeom prst="rect">
            <a:avLst/>
          </a:prstGeom>
          <a:noFill/>
          <a:ln/>
        </p:spPr>
        <p:txBody>
          <a:bodyPr wrap="square" lIns="0" tIns="0" rIns="0" bIns="0" rtlCol="0" anchor="t"/>
          <a:lstStyle/>
          <a:p>
            <a:pPr indent="0" marL="0">
              <a:buNone/>
            </a:pPr>
            <a:r>
              <a:rPr lang="en-US" sz="1400" dirty="0">
                <a:solidFill>
                  <a:schemeClr val="tx1"/>
                </a:solidFill>
              </a:rPr>
              <a:t>The OCR model read page 1 again, with your instruction</a:t>
            </a:r>
            <a:endParaRPr lang="en-US" sz="1400" dirty="0"/>
          </a:p>
        </p:txBody>
      </p:sp>
      <p:sp>
        <p:nvSpPr>
          <p:cNvPr id="8" name="seal"/>
          <p:cNvSpPr/>
          <p:nvPr/>
        </p:nvSpPr>
        <p:spPr>
          <a:xfrm>
            <a:off x="9418320" y="2971800"/>
            <a:ext cx="411480" cy="411480"/>
          </a:xfrm>
          <a:prstGeom prst="roundRect">
            <a:avLst>
              <a:gd name="adj" fmla="val 18000"/>
            </a:avLst>
          </a:prstGeom>
          <a:solidFill>
            <a:schemeClr val="accent1"/>
          </a:solidFill>
          <a:ln/>
        </p:spPr>
      </p:sp>
      <p:sp>
        <p:nvSpPr>
          <p:cNvPr id="9" name="Text 6"/>
          <p:cNvSpPr txBox="1"/>
          <p:nvPr/>
        </p:nvSpPr>
        <p:spPr>
          <a:xfrm>
            <a:off x="9418320" y="2971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2</a:t>
            </a:r>
            <a:endParaRPr lang="en-US" sz="1400" dirty="0"/>
          </a:p>
        </p:txBody>
      </p:sp>
      <p:sp>
        <p:nvSpPr>
          <p:cNvPr id="10" name="Text 7"/>
          <p:cNvSpPr txBox="1"/>
          <p:nvPr/>
        </p:nvSpPr>
        <p:spPr>
          <a:xfrm>
            <a:off x="9418320" y="3520440"/>
            <a:ext cx="2224735" cy="960120"/>
          </a:xfrm>
          <a:prstGeom prst="rect">
            <a:avLst/>
          </a:prstGeom>
          <a:noFill/>
          <a:ln/>
        </p:spPr>
        <p:txBody>
          <a:bodyPr wrap="square" lIns="0" tIns="0" rIns="0" bIns="0" rtlCol="0" anchor="t"/>
          <a:lstStyle/>
          <a:p>
            <a:pPr indent="0" marL="0">
              <a:buNone/>
            </a:pPr>
            <a:r>
              <a:rPr lang="en-US" sz="1400" dirty="0">
                <a:solidFill>
                  <a:schemeClr val="tx1"/>
                </a:solidFill>
              </a:rPr>
              <a:t>Every added or removed word is listed</a:t>
            </a:r>
            <a:endParaRPr lang="en-US" sz="1400" dirty="0"/>
          </a:p>
        </p:txBody>
      </p:sp>
      <p:sp>
        <p:nvSpPr>
          <p:cNvPr id="11" name="seal"/>
          <p:cNvSpPr/>
          <p:nvPr/>
        </p:nvSpPr>
        <p:spPr>
          <a:xfrm>
            <a:off x="9418320" y="4572000"/>
            <a:ext cx="411480" cy="411480"/>
          </a:xfrm>
          <a:prstGeom prst="roundRect">
            <a:avLst>
              <a:gd name="adj" fmla="val 18000"/>
            </a:avLst>
          </a:prstGeom>
          <a:solidFill>
            <a:schemeClr val="accent1"/>
          </a:solidFill>
          <a:ln/>
        </p:spPr>
      </p:sp>
      <p:sp>
        <p:nvSpPr>
          <p:cNvPr id="12" name="Text 9"/>
          <p:cNvSpPr txBox="1"/>
          <p:nvPr/>
        </p:nvSpPr>
        <p:spPr>
          <a:xfrm>
            <a:off x="9418320" y="4572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3</a:t>
            </a:r>
            <a:endParaRPr lang="en-US" sz="1400" dirty="0"/>
          </a:p>
        </p:txBody>
      </p:sp>
      <p:sp>
        <p:nvSpPr>
          <p:cNvPr id="13" name="Text 10"/>
          <p:cNvSpPr txBox="1"/>
          <p:nvPr/>
        </p:nvSpPr>
        <p:spPr>
          <a:xfrm>
            <a:off x="9418320" y="5120640"/>
            <a:ext cx="2224735" cy="960120"/>
          </a:xfrm>
          <a:prstGeom prst="rect">
            <a:avLst/>
          </a:prstGeom>
          <a:noFill/>
          <a:ln/>
        </p:spPr>
        <p:txBody>
          <a:bodyPr wrap="square" lIns="0" tIns="0" rIns="0" bIns="0" rtlCol="0" anchor="t"/>
          <a:lstStyle/>
          <a:p>
            <a:pPr indent="0" marL="0">
              <a:buNone/>
            </a:pPr>
            <a:r>
              <a:rPr lang="en-US" sz="1400" dirty="0">
                <a:solidFill>
                  <a:schemeClr val="tx1"/>
                </a:solidFill>
              </a:rPr>
              <a:t>Accept or reject; nothing changes until you do</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000" b="1" dirty="0">
                <a:solidFill>
                  <a:schemeClr val="tx1"/>
                </a:solidFill>
              </a:rPr>
              <a:t>5 · A question before translating</a:t>
            </a:r>
            <a:endParaRPr lang="en-US" sz="3000" dirty="0"/>
          </a:p>
        </p:txBody>
      </p:sp>
      <p:sp>
        <p:nvSpPr>
          <p:cNvPr id="3" name="Shape 1"/>
          <p:cNvSpPr/>
          <p:nvPr/>
        </p:nvSpPr>
        <p:spPr>
          <a:xfrm>
            <a:off x="530352" y="1307592"/>
            <a:ext cx="8586216" cy="4845749"/>
          </a:xfrm>
          <a:prstGeom prst="rect">
            <a:avLst/>
          </a:prstGeom>
          <a:solidFill>
            <a:schemeClr val="accent4"/>
          </a:solidFill>
          <a:ln/>
          <a:effectLst>
            <a:outerShdw sx="100000" sy="100000" kx="0" ky="0" algn="bl" rotWithShape="0" blurRad="101600" dist="38100" dir="5400000">
              <a:srgbClr val="1C2230">
                <a:alpha val="18000"/>
              </a:srgbClr>
            </a:outerShdw>
          </a:effectLst>
        </p:spPr>
      </p:sp>
      <p:pic>
        <p:nvPicPr>
          <p:cNvPr id="4" name="Image 0" descr="Screenshot of Agentic Translator">    </p:cNvPr>
          <p:cNvPicPr>
            <a:picLocks noChangeAspect="1"/>
          </p:cNvPicPr>
          <p:nvPr/>
        </p:nvPicPr>
        <p:blipFill>
          <a:blip r:embed="rId1"/>
          <a:stretch>
            <a:fillRect/>
          </a:stretch>
        </p:blipFill>
        <p:spPr>
          <a:xfrm>
            <a:off x="548640" y="1325880"/>
            <a:ext cx="8549640" cy="4809173"/>
          </a:xfrm>
          <a:prstGeom prst="rect">
            <a:avLst/>
          </a:prstGeom>
        </p:spPr>
      </p:pic>
      <p:sp>
        <p:nvSpPr>
          <p:cNvPr id="5" name="seal"/>
          <p:cNvSpPr/>
          <p:nvPr/>
        </p:nvSpPr>
        <p:spPr>
          <a:xfrm>
            <a:off x="9418320" y="1371600"/>
            <a:ext cx="411480" cy="411480"/>
          </a:xfrm>
          <a:prstGeom prst="roundRect">
            <a:avLst>
              <a:gd name="adj" fmla="val 18000"/>
            </a:avLst>
          </a:prstGeom>
          <a:solidFill>
            <a:schemeClr val="accent1"/>
          </a:solidFill>
          <a:ln/>
        </p:spPr>
      </p:sp>
      <p:sp>
        <p:nvSpPr>
          <p:cNvPr id="6" name="Text 3"/>
          <p:cNvSpPr txBox="1"/>
          <p:nvPr/>
        </p:nvSpPr>
        <p:spPr>
          <a:xfrm>
            <a:off x="9418320" y="13716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1</a:t>
            </a:r>
            <a:endParaRPr lang="en-US" sz="1400" dirty="0"/>
          </a:p>
        </p:txBody>
      </p:sp>
      <p:sp>
        <p:nvSpPr>
          <p:cNvPr id="7" name="Text 4"/>
          <p:cNvSpPr txBox="1"/>
          <p:nvPr/>
        </p:nvSpPr>
        <p:spPr>
          <a:xfrm>
            <a:off x="9418320" y="1920240"/>
            <a:ext cx="2224735" cy="960120"/>
          </a:xfrm>
          <a:prstGeom prst="rect">
            <a:avLst/>
          </a:prstGeom>
          <a:noFill/>
          <a:ln/>
        </p:spPr>
        <p:txBody>
          <a:bodyPr wrap="square" lIns="0" tIns="0" rIns="0" bIns="0" rtlCol="0" anchor="t"/>
          <a:lstStyle/>
          <a:p>
            <a:pPr indent="0" marL="0">
              <a:buNone/>
            </a:pPr>
            <a:r>
              <a:rPr lang="en-US" sz="1400" dirty="0">
                <a:solidFill>
                  <a:schemeClr val="tx1"/>
                </a:solidFill>
              </a:rPr>
              <a:t>The term in plain English, and why it matters</a:t>
            </a:r>
            <a:endParaRPr lang="en-US" sz="1400" dirty="0"/>
          </a:p>
        </p:txBody>
      </p:sp>
      <p:sp>
        <p:nvSpPr>
          <p:cNvPr id="8" name="seal"/>
          <p:cNvSpPr/>
          <p:nvPr/>
        </p:nvSpPr>
        <p:spPr>
          <a:xfrm>
            <a:off x="9418320" y="2971800"/>
            <a:ext cx="411480" cy="411480"/>
          </a:xfrm>
          <a:prstGeom prst="roundRect">
            <a:avLst>
              <a:gd name="adj" fmla="val 18000"/>
            </a:avLst>
          </a:prstGeom>
          <a:solidFill>
            <a:schemeClr val="accent1"/>
          </a:solidFill>
          <a:ln/>
        </p:spPr>
      </p:sp>
      <p:sp>
        <p:nvSpPr>
          <p:cNvPr id="9" name="Text 6"/>
          <p:cNvSpPr txBox="1"/>
          <p:nvPr/>
        </p:nvSpPr>
        <p:spPr>
          <a:xfrm>
            <a:off x="9418320" y="2971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2</a:t>
            </a:r>
            <a:endParaRPr lang="en-US" sz="1400" dirty="0"/>
          </a:p>
        </p:txBody>
      </p:sp>
      <p:sp>
        <p:nvSpPr>
          <p:cNvPr id="10" name="Text 7"/>
          <p:cNvSpPr txBox="1"/>
          <p:nvPr/>
        </p:nvSpPr>
        <p:spPr>
          <a:xfrm>
            <a:off x="9418320" y="3520440"/>
            <a:ext cx="2224735" cy="960120"/>
          </a:xfrm>
          <a:prstGeom prst="rect">
            <a:avLst/>
          </a:prstGeom>
          <a:noFill/>
          <a:ln/>
        </p:spPr>
        <p:txBody>
          <a:bodyPr wrap="square" lIns="0" tIns="0" rIns="0" bIns="0" rtlCol="0" anchor="t"/>
          <a:lstStyle/>
          <a:p>
            <a:pPr indent="0" marL="0">
              <a:buNone/>
            </a:pPr>
            <a:r>
              <a:rPr lang="en-US" sz="1400" dirty="0">
                <a:solidFill>
                  <a:schemeClr val="tx1"/>
                </a:solidFill>
              </a:rPr>
              <a:t>The sentence with an English gist</a:t>
            </a:r>
            <a:endParaRPr lang="en-US" sz="1400" dirty="0"/>
          </a:p>
        </p:txBody>
      </p:sp>
      <p:sp>
        <p:nvSpPr>
          <p:cNvPr id="11" name="seal"/>
          <p:cNvSpPr/>
          <p:nvPr/>
        </p:nvSpPr>
        <p:spPr>
          <a:xfrm>
            <a:off x="9418320" y="4572000"/>
            <a:ext cx="411480" cy="411480"/>
          </a:xfrm>
          <a:prstGeom prst="roundRect">
            <a:avLst>
              <a:gd name="adj" fmla="val 18000"/>
            </a:avLst>
          </a:prstGeom>
          <a:solidFill>
            <a:schemeClr val="accent1"/>
          </a:solidFill>
          <a:ln/>
        </p:spPr>
      </p:sp>
      <p:sp>
        <p:nvSpPr>
          <p:cNvPr id="12" name="Text 9"/>
          <p:cNvSpPr txBox="1"/>
          <p:nvPr/>
        </p:nvSpPr>
        <p:spPr>
          <a:xfrm>
            <a:off x="9418320" y="4572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3</a:t>
            </a:r>
            <a:endParaRPr lang="en-US" sz="1400" dirty="0"/>
          </a:p>
        </p:txBody>
      </p:sp>
      <p:sp>
        <p:nvSpPr>
          <p:cNvPr id="13" name="Text 10"/>
          <p:cNvSpPr txBox="1"/>
          <p:nvPr/>
        </p:nvSpPr>
        <p:spPr>
          <a:xfrm>
            <a:off x="9418320" y="5120640"/>
            <a:ext cx="2224735" cy="960120"/>
          </a:xfrm>
          <a:prstGeom prst="rect">
            <a:avLst/>
          </a:prstGeom>
          <a:noFill/>
          <a:ln/>
        </p:spPr>
        <p:txBody>
          <a:bodyPr wrap="square" lIns="0" tIns="0" rIns="0" bIns="0" rtlCol="0" anchor="t"/>
          <a:lstStyle/>
          <a:p>
            <a:pPr indent="0" marL="0">
              <a:buNone/>
            </a:pPr>
            <a:r>
              <a:rPr lang="en-US" sz="1400" dirty="0">
                <a:solidFill>
                  <a:schemeClr val="tx1"/>
                </a:solidFill>
              </a:rPr>
              <a:t>We overrode the recommendation with our own term</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000" b="1" dirty="0">
                <a:solidFill>
                  <a:schemeClr val="tx1"/>
                </a:solidFill>
              </a:rPr>
              <a:t>6 · Translating page by page</a:t>
            </a:r>
            <a:endParaRPr lang="en-US" sz="3000" dirty="0"/>
          </a:p>
        </p:txBody>
      </p:sp>
      <p:sp>
        <p:nvSpPr>
          <p:cNvPr id="3" name="Shape 1"/>
          <p:cNvSpPr/>
          <p:nvPr/>
        </p:nvSpPr>
        <p:spPr>
          <a:xfrm>
            <a:off x="530352" y="1307592"/>
            <a:ext cx="8586216" cy="4845749"/>
          </a:xfrm>
          <a:prstGeom prst="rect">
            <a:avLst/>
          </a:prstGeom>
          <a:solidFill>
            <a:schemeClr val="accent4"/>
          </a:solidFill>
          <a:ln/>
          <a:effectLst>
            <a:outerShdw sx="100000" sy="100000" kx="0" ky="0" algn="bl" rotWithShape="0" blurRad="101600" dist="38100" dir="5400000">
              <a:srgbClr val="1C2230">
                <a:alpha val="18000"/>
              </a:srgbClr>
            </a:outerShdw>
          </a:effectLst>
        </p:spPr>
      </p:sp>
      <p:pic>
        <p:nvPicPr>
          <p:cNvPr id="4" name="Image 0" descr="Screenshot of Agentic Translator">    </p:cNvPr>
          <p:cNvPicPr>
            <a:picLocks noChangeAspect="1"/>
          </p:cNvPicPr>
          <p:nvPr/>
        </p:nvPicPr>
        <p:blipFill>
          <a:blip r:embed="rId1"/>
          <a:stretch>
            <a:fillRect/>
          </a:stretch>
        </p:blipFill>
        <p:spPr>
          <a:xfrm>
            <a:off x="548640" y="1325880"/>
            <a:ext cx="8549640" cy="4809173"/>
          </a:xfrm>
          <a:prstGeom prst="rect">
            <a:avLst/>
          </a:prstGeom>
        </p:spPr>
      </p:pic>
      <p:sp>
        <p:nvSpPr>
          <p:cNvPr id="5" name="seal"/>
          <p:cNvSpPr/>
          <p:nvPr/>
        </p:nvSpPr>
        <p:spPr>
          <a:xfrm>
            <a:off x="9418320" y="1371600"/>
            <a:ext cx="411480" cy="411480"/>
          </a:xfrm>
          <a:prstGeom prst="roundRect">
            <a:avLst>
              <a:gd name="adj" fmla="val 18000"/>
            </a:avLst>
          </a:prstGeom>
          <a:solidFill>
            <a:schemeClr val="accent1"/>
          </a:solidFill>
          <a:ln/>
        </p:spPr>
      </p:sp>
      <p:sp>
        <p:nvSpPr>
          <p:cNvPr id="6" name="Text 3"/>
          <p:cNvSpPr txBox="1"/>
          <p:nvPr/>
        </p:nvSpPr>
        <p:spPr>
          <a:xfrm>
            <a:off x="9418320" y="13716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1</a:t>
            </a:r>
            <a:endParaRPr lang="en-US" sz="1400" dirty="0"/>
          </a:p>
        </p:txBody>
      </p:sp>
      <p:sp>
        <p:nvSpPr>
          <p:cNvPr id="7" name="Text 4"/>
          <p:cNvSpPr txBox="1"/>
          <p:nvPr/>
        </p:nvSpPr>
        <p:spPr>
          <a:xfrm>
            <a:off x="9418320" y="1920240"/>
            <a:ext cx="2224735" cy="960120"/>
          </a:xfrm>
          <a:prstGeom prst="rect">
            <a:avLst/>
          </a:prstGeom>
          <a:noFill/>
          <a:ln/>
        </p:spPr>
        <p:txBody>
          <a:bodyPr wrap="square" lIns="0" tIns="0" rIns="0" bIns="0" rtlCol="0" anchor="t"/>
          <a:lstStyle/>
          <a:p>
            <a:pPr indent="0" marL="0">
              <a:buNone/>
            </a:pPr>
            <a:r>
              <a:rPr lang="en-US" sz="1400" dirty="0">
                <a:solidFill>
                  <a:schemeClr val="tx1"/>
                </a:solidFill>
              </a:rPr>
              <a:t>Questions answered, translation running</a:t>
            </a:r>
            <a:endParaRPr lang="en-US" sz="1400" dirty="0"/>
          </a:p>
        </p:txBody>
      </p:sp>
      <p:sp>
        <p:nvSpPr>
          <p:cNvPr id="8" name="seal"/>
          <p:cNvSpPr/>
          <p:nvPr/>
        </p:nvSpPr>
        <p:spPr>
          <a:xfrm>
            <a:off x="9418320" y="2971800"/>
            <a:ext cx="411480" cy="411480"/>
          </a:xfrm>
          <a:prstGeom prst="roundRect">
            <a:avLst>
              <a:gd name="adj" fmla="val 18000"/>
            </a:avLst>
          </a:prstGeom>
          <a:solidFill>
            <a:schemeClr val="accent1"/>
          </a:solidFill>
          <a:ln/>
        </p:spPr>
      </p:sp>
      <p:sp>
        <p:nvSpPr>
          <p:cNvPr id="9" name="Text 6"/>
          <p:cNvSpPr txBox="1"/>
          <p:nvPr/>
        </p:nvSpPr>
        <p:spPr>
          <a:xfrm>
            <a:off x="9418320" y="2971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2</a:t>
            </a:r>
            <a:endParaRPr lang="en-US" sz="1400" dirty="0"/>
          </a:p>
        </p:txBody>
      </p:sp>
      <p:sp>
        <p:nvSpPr>
          <p:cNvPr id="10" name="Text 7"/>
          <p:cNvSpPr txBox="1"/>
          <p:nvPr/>
        </p:nvSpPr>
        <p:spPr>
          <a:xfrm>
            <a:off x="9418320" y="3520440"/>
            <a:ext cx="2224735" cy="960120"/>
          </a:xfrm>
          <a:prstGeom prst="rect">
            <a:avLst/>
          </a:prstGeom>
          <a:noFill/>
          <a:ln/>
        </p:spPr>
        <p:txBody>
          <a:bodyPr wrap="square" lIns="0" tIns="0" rIns="0" bIns="0" rtlCol="0" anchor="t"/>
          <a:lstStyle/>
          <a:p>
            <a:pPr indent="0" marL="0">
              <a:buNone/>
            </a:pPr>
            <a:r>
              <a:rPr lang="en-US" sz="1400" dirty="0">
                <a:solidFill>
                  <a:schemeClr val="tx1"/>
                </a:solidFill>
              </a:rPr>
              <a:t>Each page carries the brief, the previous page and the agreed terms</a:t>
            </a:r>
            <a:endParaRPr lang="en-US" sz="1400" dirty="0"/>
          </a:p>
        </p:txBody>
      </p:sp>
      <p:sp>
        <p:nvSpPr>
          <p:cNvPr id="11" name="seal"/>
          <p:cNvSpPr/>
          <p:nvPr/>
        </p:nvSpPr>
        <p:spPr>
          <a:xfrm>
            <a:off x="9418320" y="4572000"/>
            <a:ext cx="411480" cy="411480"/>
          </a:xfrm>
          <a:prstGeom prst="roundRect">
            <a:avLst>
              <a:gd name="adj" fmla="val 18000"/>
            </a:avLst>
          </a:prstGeom>
          <a:solidFill>
            <a:schemeClr val="accent1"/>
          </a:solidFill>
          <a:ln/>
        </p:spPr>
      </p:sp>
      <p:sp>
        <p:nvSpPr>
          <p:cNvPr id="12" name="Text 9"/>
          <p:cNvSpPr txBox="1"/>
          <p:nvPr/>
        </p:nvSpPr>
        <p:spPr>
          <a:xfrm>
            <a:off x="9418320" y="4572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3</a:t>
            </a:r>
            <a:endParaRPr lang="en-US" sz="1400" dirty="0"/>
          </a:p>
        </p:txBody>
      </p:sp>
      <p:sp>
        <p:nvSpPr>
          <p:cNvPr id="13" name="Text 10"/>
          <p:cNvSpPr txBox="1"/>
          <p:nvPr/>
        </p:nvSpPr>
        <p:spPr>
          <a:xfrm>
            <a:off x="9418320" y="5120640"/>
            <a:ext cx="2224735" cy="960120"/>
          </a:xfrm>
          <a:prstGeom prst="rect">
            <a:avLst/>
          </a:prstGeom>
          <a:noFill/>
          <a:ln/>
        </p:spPr>
        <p:txBody>
          <a:bodyPr wrap="square" lIns="0" tIns="0" rIns="0" bIns="0" rtlCol="0" anchor="t"/>
          <a:lstStyle/>
          <a:p>
            <a:pPr indent="0" marL="0">
              <a:buNone/>
            </a:pPr>
            <a:r>
              <a:rPr lang="en-US" sz="1400" dirty="0">
                <a:solidFill>
                  <a:schemeClr val="tx1"/>
                </a:solidFill>
              </a:rPr>
              <a:t>Placeholders fill in as pages finish</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000" b="1" dirty="0">
                <a:solidFill>
                  <a:schemeClr val="tx1"/>
                </a:solidFill>
              </a:rPr>
              <a:t>7 · Ready: memory reuse, review, next steps</a:t>
            </a:r>
            <a:endParaRPr lang="en-US" sz="3000" dirty="0"/>
          </a:p>
        </p:txBody>
      </p:sp>
      <p:sp>
        <p:nvSpPr>
          <p:cNvPr id="3" name="Shape 1"/>
          <p:cNvSpPr/>
          <p:nvPr/>
        </p:nvSpPr>
        <p:spPr>
          <a:xfrm>
            <a:off x="530352" y="1307592"/>
            <a:ext cx="8586216" cy="4845749"/>
          </a:xfrm>
          <a:prstGeom prst="rect">
            <a:avLst/>
          </a:prstGeom>
          <a:solidFill>
            <a:schemeClr val="accent4"/>
          </a:solidFill>
          <a:ln/>
          <a:effectLst>
            <a:outerShdw sx="100000" sy="100000" kx="0" ky="0" algn="bl" rotWithShape="0" blurRad="101600" dist="38100" dir="5400000">
              <a:srgbClr val="1C2230">
                <a:alpha val="18000"/>
              </a:srgbClr>
            </a:outerShdw>
          </a:effectLst>
        </p:spPr>
      </p:sp>
      <p:pic>
        <p:nvPicPr>
          <p:cNvPr id="4" name="Image 0" descr="Screenshot of Agentic Translator">    </p:cNvPr>
          <p:cNvPicPr>
            <a:picLocks noChangeAspect="1"/>
          </p:cNvPicPr>
          <p:nvPr/>
        </p:nvPicPr>
        <p:blipFill>
          <a:blip r:embed="rId1"/>
          <a:stretch>
            <a:fillRect/>
          </a:stretch>
        </p:blipFill>
        <p:spPr>
          <a:xfrm>
            <a:off x="548640" y="1325880"/>
            <a:ext cx="8549640" cy="4809173"/>
          </a:xfrm>
          <a:prstGeom prst="rect">
            <a:avLst/>
          </a:prstGeom>
        </p:spPr>
      </p:pic>
      <p:sp>
        <p:nvSpPr>
          <p:cNvPr id="5" name="seal"/>
          <p:cNvSpPr/>
          <p:nvPr/>
        </p:nvSpPr>
        <p:spPr>
          <a:xfrm>
            <a:off x="9418320" y="1371600"/>
            <a:ext cx="411480" cy="411480"/>
          </a:xfrm>
          <a:prstGeom prst="roundRect">
            <a:avLst>
              <a:gd name="adj" fmla="val 18000"/>
            </a:avLst>
          </a:prstGeom>
          <a:solidFill>
            <a:schemeClr val="accent1"/>
          </a:solidFill>
          <a:ln/>
        </p:spPr>
      </p:sp>
      <p:sp>
        <p:nvSpPr>
          <p:cNvPr id="6" name="Text 3"/>
          <p:cNvSpPr txBox="1"/>
          <p:nvPr/>
        </p:nvSpPr>
        <p:spPr>
          <a:xfrm>
            <a:off x="9418320" y="13716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1</a:t>
            </a:r>
            <a:endParaRPr lang="en-US" sz="1400" dirty="0"/>
          </a:p>
        </p:txBody>
      </p:sp>
      <p:sp>
        <p:nvSpPr>
          <p:cNvPr id="7" name="Text 4"/>
          <p:cNvSpPr txBox="1"/>
          <p:nvPr/>
        </p:nvSpPr>
        <p:spPr>
          <a:xfrm>
            <a:off x="9418320" y="1920240"/>
            <a:ext cx="2224735" cy="960120"/>
          </a:xfrm>
          <a:prstGeom prst="rect">
            <a:avLst/>
          </a:prstGeom>
          <a:noFill/>
          <a:ln/>
        </p:spPr>
        <p:txBody>
          <a:bodyPr wrap="square" lIns="0" tIns="0" rIns="0" bIns="0" rtlCol="0" anchor="t"/>
          <a:lstStyle/>
          <a:p>
            <a:pPr indent="0" marL="0">
              <a:buNone/>
            </a:pPr>
            <a:r>
              <a:rPr lang="en-US" sz="1400" dirty="0">
                <a:solidFill>
                  <a:schemeClr val="tx1"/>
                </a:solidFill>
              </a:rPr>
              <a:t>5 segments reused from memory, no model call</a:t>
            </a:r>
            <a:endParaRPr lang="en-US" sz="1400" dirty="0"/>
          </a:p>
        </p:txBody>
      </p:sp>
      <p:sp>
        <p:nvSpPr>
          <p:cNvPr id="8" name="seal"/>
          <p:cNvSpPr/>
          <p:nvPr/>
        </p:nvSpPr>
        <p:spPr>
          <a:xfrm>
            <a:off x="9418320" y="2971800"/>
            <a:ext cx="411480" cy="411480"/>
          </a:xfrm>
          <a:prstGeom prst="roundRect">
            <a:avLst>
              <a:gd name="adj" fmla="val 18000"/>
            </a:avLst>
          </a:prstGeom>
          <a:solidFill>
            <a:schemeClr val="accent1"/>
          </a:solidFill>
          <a:ln/>
        </p:spPr>
      </p:sp>
      <p:sp>
        <p:nvSpPr>
          <p:cNvPr id="9" name="Text 6"/>
          <p:cNvSpPr txBox="1"/>
          <p:nvPr/>
        </p:nvSpPr>
        <p:spPr>
          <a:xfrm>
            <a:off x="9418320" y="2971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2</a:t>
            </a:r>
            <a:endParaRPr lang="en-US" sz="1400" dirty="0"/>
          </a:p>
        </p:txBody>
      </p:sp>
      <p:sp>
        <p:nvSpPr>
          <p:cNvPr id="10" name="Text 7"/>
          <p:cNvSpPr txBox="1"/>
          <p:nvPr/>
        </p:nvSpPr>
        <p:spPr>
          <a:xfrm>
            <a:off x="9418320" y="3520440"/>
            <a:ext cx="2224735" cy="960120"/>
          </a:xfrm>
          <a:prstGeom prst="rect">
            <a:avLst/>
          </a:prstGeom>
          <a:noFill/>
          <a:ln/>
        </p:spPr>
        <p:txBody>
          <a:bodyPr wrap="square" lIns="0" tIns="0" rIns="0" bIns="0" rtlCol="0" anchor="t"/>
          <a:lstStyle/>
          <a:p>
            <a:pPr indent="0" marL="0">
              <a:buNone/>
            </a:pPr>
            <a:r>
              <a:rPr lang="en-US" sz="1400" dirty="0">
                <a:solidFill>
                  <a:schemeClr val="tx1"/>
                </a:solidFill>
              </a:rPr>
              <a:t>The reviewer's fixes saved as version 2</a:t>
            </a:r>
            <a:endParaRPr lang="en-US" sz="1400" dirty="0"/>
          </a:p>
        </p:txBody>
      </p:sp>
      <p:sp>
        <p:nvSpPr>
          <p:cNvPr id="11" name="seal"/>
          <p:cNvSpPr/>
          <p:nvPr/>
        </p:nvSpPr>
        <p:spPr>
          <a:xfrm>
            <a:off x="9418320" y="4572000"/>
            <a:ext cx="411480" cy="411480"/>
          </a:xfrm>
          <a:prstGeom prst="roundRect">
            <a:avLst>
              <a:gd name="adj" fmla="val 18000"/>
            </a:avLst>
          </a:prstGeom>
          <a:solidFill>
            <a:schemeClr val="accent1"/>
          </a:solidFill>
          <a:ln/>
        </p:spPr>
      </p:sp>
      <p:sp>
        <p:nvSpPr>
          <p:cNvPr id="12" name="Text 9"/>
          <p:cNvSpPr txBox="1"/>
          <p:nvPr/>
        </p:nvSpPr>
        <p:spPr>
          <a:xfrm>
            <a:off x="9418320" y="4572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3</a:t>
            </a:r>
            <a:endParaRPr lang="en-US" sz="1400" dirty="0"/>
          </a:p>
        </p:txBody>
      </p:sp>
      <p:sp>
        <p:nvSpPr>
          <p:cNvPr id="13" name="Text 10"/>
          <p:cNvSpPr txBox="1"/>
          <p:nvPr/>
        </p:nvSpPr>
        <p:spPr>
          <a:xfrm>
            <a:off x="9418320" y="5120640"/>
            <a:ext cx="2224735" cy="960120"/>
          </a:xfrm>
          <a:prstGeom prst="rect">
            <a:avLst/>
          </a:prstGeom>
          <a:noFill/>
          <a:ln/>
        </p:spPr>
        <p:txBody>
          <a:bodyPr wrap="square" lIns="0" tIns="0" rIns="0" bIns="0" rtlCol="0" anchor="t"/>
          <a:lstStyle/>
          <a:p>
            <a:pPr indent="0" marL="0">
              <a:buNone/>
            </a:pPr>
            <a:r>
              <a:rPr lang="en-US" sz="1400" dirty="0">
                <a:solidFill>
                  <a:schemeClr val="tx1"/>
                </a:solidFill>
              </a:rPr>
              <a:t>Next steps: review drafts, check quality, download</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000" b="1" dirty="0">
                <a:solidFill>
                  <a:schemeClr val="tx1"/>
                </a:solidFill>
              </a:rPr>
              <a:t>8 · The segment editor</a:t>
            </a:r>
            <a:endParaRPr lang="en-US" sz="3000" dirty="0"/>
          </a:p>
        </p:txBody>
      </p:sp>
      <p:sp>
        <p:nvSpPr>
          <p:cNvPr id="3" name="Shape 1"/>
          <p:cNvSpPr/>
          <p:nvPr/>
        </p:nvSpPr>
        <p:spPr>
          <a:xfrm>
            <a:off x="530352" y="1307592"/>
            <a:ext cx="8586216" cy="4845749"/>
          </a:xfrm>
          <a:prstGeom prst="rect">
            <a:avLst/>
          </a:prstGeom>
          <a:solidFill>
            <a:schemeClr val="accent4"/>
          </a:solidFill>
          <a:ln/>
          <a:effectLst>
            <a:outerShdw sx="100000" sy="100000" kx="0" ky="0" algn="bl" rotWithShape="0" blurRad="101600" dist="38100" dir="5400000">
              <a:srgbClr val="1C2230">
                <a:alpha val="18000"/>
              </a:srgbClr>
            </a:outerShdw>
          </a:effectLst>
        </p:spPr>
      </p:sp>
      <p:pic>
        <p:nvPicPr>
          <p:cNvPr id="4" name="Image 0" descr="Screenshot of Agentic Translator">    </p:cNvPr>
          <p:cNvPicPr>
            <a:picLocks noChangeAspect="1"/>
          </p:cNvPicPr>
          <p:nvPr/>
        </p:nvPicPr>
        <p:blipFill>
          <a:blip r:embed="rId1"/>
          <a:stretch>
            <a:fillRect/>
          </a:stretch>
        </p:blipFill>
        <p:spPr>
          <a:xfrm>
            <a:off x="548640" y="1325880"/>
            <a:ext cx="8549640" cy="4809173"/>
          </a:xfrm>
          <a:prstGeom prst="rect">
            <a:avLst/>
          </a:prstGeom>
        </p:spPr>
      </p:pic>
      <p:sp>
        <p:nvSpPr>
          <p:cNvPr id="5" name="seal"/>
          <p:cNvSpPr/>
          <p:nvPr/>
        </p:nvSpPr>
        <p:spPr>
          <a:xfrm>
            <a:off x="9418320" y="1371600"/>
            <a:ext cx="411480" cy="411480"/>
          </a:xfrm>
          <a:prstGeom prst="roundRect">
            <a:avLst>
              <a:gd name="adj" fmla="val 18000"/>
            </a:avLst>
          </a:prstGeom>
          <a:solidFill>
            <a:schemeClr val="accent1"/>
          </a:solidFill>
          <a:ln/>
        </p:spPr>
      </p:sp>
      <p:sp>
        <p:nvSpPr>
          <p:cNvPr id="6" name="Text 3"/>
          <p:cNvSpPr txBox="1"/>
          <p:nvPr/>
        </p:nvSpPr>
        <p:spPr>
          <a:xfrm>
            <a:off x="9418320" y="13716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1</a:t>
            </a:r>
            <a:endParaRPr lang="en-US" sz="1400" dirty="0"/>
          </a:p>
        </p:txBody>
      </p:sp>
      <p:sp>
        <p:nvSpPr>
          <p:cNvPr id="7" name="Text 4"/>
          <p:cNvSpPr txBox="1"/>
          <p:nvPr/>
        </p:nvSpPr>
        <p:spPr>
          <a:xfrm>
            <a:off x="9418320" y="1920240"/>
            <a:ext cx="2224735" cy="960120"/>
          </a:xfrm>
          <a:prstGeom prst="rect">
            <a:avLst/>
          </a:prstGeom>
          <a:noFill/>
          <a:ln/>
        </p:spPr>
        <p:txBody>
          <a:bodyPr wrap="square" lIns="0" tIns="0" rIns="0" bIns="0" rtlCol="0" anchor="t"/>
          <a:lstStyle/>
          <a:p>
            <a:pPr indent="0" marL="0">
              <a:buNone/>
            </a:pPr>
            <a:r>
              <a:rPr lang="en-US" sz="1400" dirty="0">
                <a:solidFill>
                  <a:schemeClr val="tx1"/>
                </a:solidFill>
              </a:rPr>
              <a:t>Source and translation per segment, with status</a:t>
            </a:r>
            <a:endParaRPr lang="en-US" sz="1400" dirty="0"/>
          </a:p>
        </p:txBody>
      </p:sp>
      <p:sp>
        <p:nvSpPr>
          <p:cNvPr id="8" name="seal"/>
          <p:cNvSpPr/>
          <p:nvPr/>
        </p:nvSpPr>
        <p:spPr>
          <a:xfrm>
            <a:off x="9418320" y="2971800"/>
            <a:ext cx="411480" cy="411480"/>
          </a:xfrm>
          <a:prstGeom prst="roundRect">
            <a:avLst>
              <a:gd name="adj" fmla="val 18000"/>
            </a:avLst>
          </a:prstGeom>
          <a:solidFill>
            <a:schemeClr val="accent1"/>
          </a:solidFill>
          <a:ln/>
        </p:spPr>
      </p:sp>
      <p:sp>
        <p:nvSpPr>
          <p:cNvPr id="9" name="Text 6"/>
          <p:cNvSpPr txBox="1"/>
          <p:nvPr/>
        </p:nvSpPr>
        <p:spPr>
          <a:xfrm>
            <a:off x="9418320" y="2971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2</a:t>
            </a:r>
            <a:endParaRPr lang="en-US" sz="1400" dirty="0"/>
          </a:p>
        </p:txBody>
      </p:sp>
      <p:sp>
        <p:nvSpPr>
          <p:cNvPr id="10" name="Text 7"/>
          <p:cNvSpPr txBox="1"/>
          <p:nvPr/>
        </p:nvSpPr>
        <p:spPr>
          <a:xfrm>
            <a:off x="9418320" y="3520440"/>
            <a:ext cx="2224735" cy="960120"/>
          </a:xfrm>
          <a:prstGeom prst="rect">
            <a:avLst/>
          </a:prstGeom>
          <a:noFill/>
          <a:ln/>
        </p:spPr>
        <p:txBody>
          <a:bodyPr wrap="square" lIns="0" tIns="0" rIns="0" bIns="0" rtlCol="0" anchor="t"/>
          <a:lstStyle/>
          <a:p>
            <a:pPr indent="0" marL="0">
              <a:buNone/>
            </a:pPr>
            <a:r>
              <a:rPr lang="en-US" sz="1400" dirty="0">
                <a:solidFill>
                  <a:schemeClr val="tx1"/>
                </a:solidFill>
              </a:rPr>
              <a:t>Memory match % and AI quality estimate</a:t>
            </a:r>
            <a:endParaRPr lang="en-US" sz="1400" dirty="0"/>
          </a:p>
        </p:txBody>
      </p:sp>
      <p:sp>
        <p:nvSpPr>
          <p:cNvPr id="11" name="seal"/>
          <p:cNvSpPr/>
          <p:nvPr/>
        </p:nvSpPr>
        <p:spPr>
          <a:xfrm>
            <a:off x="9418320" y="4572000"/>
            <a:ext cx="411480" cy="411480"/>
          </a:xfrm>
          <a:prstGeom prst="roundRect">
            <a:avLst>
              <a:gd name="adj" fmla="val 18000"/>
            </a:avLst>
          </a:prstGeom>
          <a:solidFill>
            <a:schemeClr val="accent1"/>
          </a:solidFill>
          <a:ln/>
        </p:spPr>
      </p:sp>
      <p:sp>
        <p:nvSpPr>
          <p:cNvPr id="12" name="Text 9"/>
          <p:cNvSpPr txBox="1"/>
          <p:nvPr/>
        </p:nvSpPr>
        <p:spPr>
          <a:xfrm>
            <a:off x="9418320" y="4572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3</a:t>
            </a:r>
            <a:endParaRPr lang="en-US" sz="1400" dirty="0"/>
          </a:p>
        </p:txBody>
      </p:sp>
      <p:sp>
        <p:nvSpPr>
          <p:cNvPr id="13" name="Text 10"/>
          <p:cNvSpPr txBox="1"/>
          <p:nvPr/>
        </p:nvSpPr>
        <p:spPr>
          <a:xfrm>
            <a:off x="9418320" y="5120640"/>
            <a:ext cx="2224735" cy="960120"/>
          </a:xfrm>
          <a:prstGeom prst="rect">
            <a:avLst/>
          </a:prstGeom>
          <a:noFill/>
          <a:ln/>
        </p:spPr>
        <p:txBody>
          <a:bodyPr wrap="square" lIns="0" tIns="0" rIns="0" bIns="0" rtlCol="0" anchor="t"/>
          <a:lstStyle/>
          <a:p>
            <a:pPr indent="0" marL="0">
              <a:buNone/>
            </a:pPr>
            <a:r>
              <a:rPr lang="en-US" sz="1400" dirty="0">
                <a:solidFill>
                  <a:schemeClr val="tx1"/>
                </a:solidFill>
              </a:rPr>
              <a:t>QA warnings with Fix and Ignore</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000" b="1" dirty="0">
                <a:solidFill>
                  <a:schemeClr val="tx1"/>
                </a:solidFill>
              </a:rPr>
              <a:t>9 · Side by side</a:t>
            </a:r>
            <a:endParaRPr lang="en-US" sz="3000" dirty="0"/>
          </a:p>
        </p:txBody>
      </p:sp>
      <p:sp>
        <p:nvSpPr>
          <p:cNvPr id="3" name="Shape 1"/>
          <p:cNvSpPr/>
          <p:nvPr/>
        </p:nvSpPr>
        <p:spPr>
          <a:xfrm>
            <a:off x="530352" y="1307592"/>
            <a:ext cx="8586216" cy="4845749"/>
          </a:xfrm>
          <a:prstGeom prst="rect">
            <a:avLst/>
          </a:prstGeom>
          <a:solidFill>
            <a:schemeClr val="accent4"/>
          </a:solidFill>
          <a:ln/>
          <a:effectLst>
            <a:outerShdw sx="100000" sy="100000" kx="0" ky="0" algn="bl" rotWithShape="0" blurRad="101600" dist="38100" dir="5400000">
              <a:srgbClr val="1C2230">
                <a:alpha val="18000"/>
              </a:srgbClr>
            </a:outerShdw>
          </a:effectLst>
        </p:spPr>
      </p:sp>
      <p:pic>
        <p:nvPicPr>
          <p:cNvPr id="4" name="Image 0" descr="Screenshot of Agentic Translator">    </p:cNvPr>
          <p:cNvPicPr>
            <a:picLocks noChangeAspect="1"/>
          </p:cNvPicPr>
          <p:nvPr/>
        </p:nvPicPr>
        <p:blipFill>
          <a:blip r:embed="rId1"/>
          <a:stretch>
            <a:fillRect/>
          </a:stretch>
        </p:blipFill>
        <p:spPr>
          <a:xfrm>
            <a:off x="548640" y="1325880"/>
            <a:ext cx="8549640" cy="4809173"/>
          </a:xfrm>
          <a:prstGeom prst="rect">
            <a:avLst/>
          </a:prstGeom>
        </p:spPr>
      </p:pic>
      <p:sp>
        <p:nvSpPr>
          <p:cNvPr id="5" name="seal"/>
          <p:cNvSpPr/>
          <p:nvPr/>
        </p:nvSpPr>
        <p:spPr>
          <a:xfrm>
            <a:off x="9418320" y="1371600"/>
            <a:ext cx="411480" cy="411480"/>
          </a:xfrm>
          <a:prstGeom prst="roundRect">
            <a:avLst>
              <a:gd name="adj" fmla="val 18000"/>
            </a:avLst>
          </a:prstGeom>
          <a:solidFill>
            <a:schemeClr val="accent1"/>
          </a:solidFill>
          <a:ln/>
        </p:spPr>
      </p:sp>
      <p:sp>
        <p:nvSpPr>
          <p:cNvPr id="6" name="Text 3"/>
          <p:cNvSpPr txBox="1"/>
          <p:nvPr/>
        </p:nvSpPr>
        <p:spPr>
          <a:xfrm>
            <a:off x="9418320" y="13716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1</a:t>
            </a:r>
            <a:endParaRPr lang="en-US" sz="1400" dirty="0"/>
          </a:p>
        </p:txBody>
      </p:sp>
      <p:sp>
        <p:nvSpPr>
          <p:cNvPr id="7" name="Text 4"/>
          <p:cNvSpPr txBox="1"/>
          <p:nvPr/>
        </p:nvSpPr>
        <p:spPr>
          <a:xfrm>
            <a:off x="9418320" y="1920240"/>
            <a:ext cx="2224735" cy="960120"/>
          </a:xfrm>
          <a:prstGeom prst="rect">
            <a:avLst/>
          </a:prstGeom>
          <a:noFill/>
          <a:ln/>
        </p:spPr>
        <p:txBody>
          <a:bodyPr wrap="square" lIns="0" tIns="0" rIns="0" bIns="0" rtlCol="0" anchor="t"/>
          <a:lstStyle/>
          <a:p>
            <a:pPr indent="0" marL="0">
              <a:buNone/>
            </a:pPr>
            <a:r>
              <a:rPr lang="en-US" sz="1400" dirty="0">
                <a:solidFill>
                  <a:schemeClr val="tx1"/>
                </a:solidFill>
              </a:rPr>
              <a:t>Source and English, paragraph by paragraph</a:t>
            </a:r>
            <a:endParaRPr lang="en-US" sz="1400" dirty="0"/>
          </a:p>
        </p:txBody>
      </p:sp>
      <p:sp>
        <p:nvSpPr>
          <p:cNvPr id="8" name="seal"/>
          <p:cNvSpPr/>
          <p:nvPr/>
        </p:nvSpPr>
        <p:spPr>
          <a:xfrm>
            <a:off x="9418320" y="2971800"/>
            <a:ext cx="411480" cy="411480"/>
          </a:xfrm>
          <a:prstGeom prst="roundRect">
            <a:avLst>
              <a:gd name="adj" fmla="val 18000"/>
            </a:avLst>
          </a:prstGeom>
          <a:solidFill>
            <a:schemeClr val="accent1"/>
          </a:solidFill>
          <a:ln/>
        </p:spPr>
      </p:sp>
      <p:sp>
        <p:nvSpPr>
          <p:cNvPr id="9" name="Text 6"/>
          <p:cNvSpPr txBox="1"/>
          <p:nvPr/>
        </p:nvSpPr>
        <p:spPr>
          <a:xfrm>
            <a:off x="9418320" y="2971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2</a:t>
            </a:r>
            <a:endParaRPr lang="en-US" sz="1400" dirty="0"/>
          </a:p>
        </p:txBody>
      </p:sp>
      <p:sp>
        <p:nvSpPr>
          <p:cNvPr id="10" name="Text 7"/>
          <p:cNvSpPr txBox="1"/>
          <p:nvPr/>
        </p:nvSpPr>
        <p:spPr>
          <a:xfrm>
            <a:off x="9418320" y="3520440"/>
            <a:ext cx="2224735" cy="960120"/>
          </a:xfrm>
          <a:prstGeom prst="rect">
            <a:avLst/>
          </a:prstGeom>
          <a:noFill/>
          <a:ln/>
        </p:spPr>
        <p:txBody>
          <a:bodyPr wrap="square" lIns="0" tIns="0" rIns="0" bIns="0" rtlCol="0" anchor="t"/>
          <a:lstStyle/>
          <a:p>
            <a:pPr indent="0" marL="0">
              <a:buNone/>
            </a:pPr>
            <a:r>
              <a:rPr lang="en-US" sz="1400" dirty="0">
                <a:solidFill>
                  <a:schemeClr val="tx1"/>
                </a:solidFill>
              </a:rPr>
              <a:t>Headings, tables and figures kept</a:t>
            </a:r>
            <a:endParaRPr lang="en-US" sz="1400" dirty="0"/>
          </a:p>
        </p:txBody>
      </p:sp>
      <p:sp>
        <p:nvSpPr>
          <p:cNvPr id="11" name="seal"/>
          <p:cNvSpPr/>
          <p:nvPr/>
        </p:nvSpPr>
        <p:spPr>
          <a:xfrm>
            <a:off x="9418320" y="4572000"/>
            <a:ext cx="411480" cy="411480"/>
          </a:xfrm>
          <a:prstGeom prst="roundRect">
            <a:avLst>
              <a:gd name="adj" fmla="val 18000"/>
            </a:avLst>
          </a:prstGeom>
          <a:solidFill>
            <a:schemeClr val="accent1"/>
          </a:solidFill>
          <a:ln/>
        </p:spPr>
      </p:sp>
      <p:sp>
        <p:nvSpPr>
          <p:cNvPr id="12" name="Text 9"/>
          <p:cNvSpPr txBox="1"/>
          <p:nvPr/>
        </p:nvSpPr>
        <p:spPr>
          <a:xfrm>
            <a:off x="9418320" y="4572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3</a:t>
            </a:r>
            <a:endParaRPr lang="en-US" sz="1400" dirty="0"/>
          </a:p>
        </p:txBody>
      </p:sp>
      <p:sp>
        <p:nvSpPr>
          <p:cNvPr id="13" name="Text 10"/>
          <p:cNvSpPr txBox="1"/>
          <p:nvPr/>
        </p:nvSpPr>
        <p:spPr>
          <a:xfrm>
            <a:off x="9418320" y="5120640"/>
            <a:ext cx="2224735" cy="960120"/>
          </a:xfrm>
          <a:prstGeom prst="rect">
            <a:avLst/>
          </a:prstGeom>
          <a:noFill/>
          <a:ln/>
        </p:spPr>
        <p:txBody>
          <a:bodyPr wrap="square" lIns="0" tIns="0" rIns="0" bIns="0" rtlCol="0" anchor="t"/>
          <a:lstStyle/>
          <a:p>
            <a:pPr indent="0" marL="0">
              <a:buNone/>
            </a:pPr>
            <a:r>
              <a:rPr lang="en-US" sz="1400" dirty="0">
                <a:solidFill>
                  <a:schemeClr val="tx1"/>
                </a:solidFill>
              </a:rPr>
              <a:t>Click a passage to reference it in the chat</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000" b="1" dirty="0">
                <a:solidFill>
                  <a:schemeClr val="tx1"/>
                </a:solidFill>
              </a:rPr>
              <a:t>10 · Editing by chat: a proposal with a diff</a:t>
            </a:r>
            <a:endParaRPr lang="en-US" sz="3000" dirty="0"/>
          </a:p>
        </p:txBody>
      </p:sp>
      <p:sp>
        <p:nvSpPr>
          <p:cNvPr id="3" name="Shape 1"/>
          <p:cNvSpPr/>
          <p:nvPr/>
        </p:nvSpPr>
        <p:spPr>
          <a:xfrm>
            <a:off x="530352" y="1307592"/>
            <a:ext cx="8586216" cy="4845749"/>
          </a:xfrm>
          <a:prstGeom prst="rect">
            <a:avLst/>
          </a:prstGeom>
          <a:solidFill>
            <a:schemeClr val="accent4"/>
          </a:solidFill>
          <a:ln/>
          <a:effectLst>
            <a:outerShdw sx="100000" sy="100000" kx="0" ky="0" algn="bl" rotWithShape="0" blurRad="101600" dist="38100" dir="5400000">
              <a:srgbClr val="1C2230">
                <a:alpha val="18000"/>
              </a:srgbClr>
            </a:outerShdw>
          </a:effectLst>
        </p:spPr>
      </p:sp>
      <p:pic>
        <p:nvPicPr>
          <p:cNvPr id="4" name="Image 0" descr="Screenshot of Agentic Translator">    </p:cNvPr>
          <p:cNvPicPr>
            <a:picLocks noChangeAspect="1"/>
          </p:cNvPicPr>
          <p:nvPr/>
        </p:nvPicPr>
        <p:blipFill>
          <a:blip r:embed="rId1"/>
          <a:stretch>
            <a:fillRect/>
          </a:stretch>
        </p:blipFill>
        <p:spPr>
          <a:xfrm>
            <a:off x="548640" y="1325880"/>
            <a:ext cx="8549640" cy="4809173"/>
          </a:xfrm>
          <a:prstGeom prst="rect">
            <a:avLst/>
          </a:prstGeom>
        </p:spPr>
      </p:pic>
      <p:sp>
        <p:nvSpPr>
          <p:cNvPr id="5" name="seal"/>
          <p:cNvSpPr/>
          <p:nvPr/>
        </p:nvSpPr>
        <p:spPr>
          <a:xfrm>
            <a:off x="9418320" y="1371600"/>
            <a:ext cx="411480" cy="411480"/>
          </a:xfrm>
          <a:prstGeom prst="roundRect">
            <a:avLst>
              <a:gd name="adj" fmla="val 18000"/>
            </a:avLst>
          </a:prstGeom>
          <a:solidFill>
            <a:schemeClr val="accent1"/>
          </a:solidFill>
          <a:ln/>
        </p:spPr>
      </p:sp>
      <p:sp>
        <p:nvSpPr>
          <p:cNvPr id="6" name="Text 3"/>
          <p:cNvSpPr txBox="1"/>
          <p:nvPr/>
        </p:nvSpPr>
        <p:spPr>
          <a:xfrm>
            <a:off x="9418320" y="13716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1</a:t>
            </a:r>
            <a:endParaRPr lang="en-US" sz="1400" dirty="0"/>
          </a:p>
        </p:txBody>
      </p:sp>
      <p:sp>
        <p:nvSpPr>
          <p:cNvPr id="7" name="Text 4"/>
          <p:cNvSpPr txBox="1"/>
          <p:nvPr/>
        </p:nvSpPr>
        <p:spPr>
          <a:xfrm>
            <a:off x="9418320" y="1920240"/>
            <a:ext cx="2224735" cy="960120"/>
          </a:xfrm>
          <a:prstGeom prst="rect">
            <a:avLst/>
          </a:prstGeom>
          <a:noFill/>
          <a:ln/>
        </p:spPr>
        <p:txBody>
          <a:bodyPr wrap="square" lIns="0" tIns="0" rIns="0" bIns="0" rtlCol="0" anchor="t"/>
          <a:lstStyle/>
          <a:p>
            <a:pPr indent="0" marL="0">
              <a:buNone/>
            </a:pPr>
            <a:r>
              <a:rPr lang="en-US" sz="1400" dirty="0">
                <a:solidFill>
                  <a:schemeClr val="tx1"/>
                </a:solidFill>
              </a:rPr>
              <a:t>A plain-English request</a:t>
            </a:r>
            <a:endParaRPr lang="en-US" sz="1400" dirty="0"/>
          </a:p>
        </p:txBody>
      </p:sp>
      <p:sp>
        <p:nvSpPr>
          <p:cNvPr id="8" name="seal"/>
          <p:cNvSpPr/>
          <p:nvPr/>
        </p:nvSpPr>
        <p:spPr>
          <a:xfrm>
            <a:off x="9418320" y="2971800"/>
            <a:ext cx="411480" cy="411480"/>
          </a:xfrm>
          <a:prstGeom prst="roundRect">
            <a:avLst>
              <a:gd name="adj" fmla="val 18000"/>
            </a:avLst>
          </a:prstGeom>
          <a:solidFill>
            <a:schemeClr val="accent1"/>
          </a:solidFill>
          <a:ln/>
        </p:spPr>
      </p:sp>
      <p:sp>
        <p:nvSpPr>
          <p:cNvPr id="9" name="Text 6"/>
          <p:cNvSpPr txBox="1"/>
          <p:nvPr/>
        </p:nvSpPr>
        <p:spPr>
          <a:xfrm>
            <a:off x="9418320" y="2971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2</a:t>
            </a:r>
            <a:endParaRPr lang="en-US" sz="1400" dirty="0"/>
          </a:p>
        </p:txBody>
      </p:sp>
      <p:sp>
        <p:nvSpPr>
          <p:cNvPr id="10" name="Text 7"/>
          <p:cNvSpPr txBox="1"/>
          <p:nvPr/>
        </p:nvSpPr>
        <p:spPr>
          <a:xfrm>
            <a:off x="9418320" y="3520440"/>
            <a:ext cx="2224735" cy="960120"/>
          </a:xfrm>
          <a:prstGeom prst="rect">
            <a:avLst/>
          </a:prstGeom>
          <a:noFill/>
          <a:ln/>
        </p:spPr>
        <p:txBody>
          <a:bodyPr wrap="square" lIns="0" tIns="0" rIns="0" bIns="0" rtlCol="0" anchor="t"/>
          <a:lstStyle/>
          <a:p>
            <a:pPr indent="0" marL="0">
              <a:buNone/>
            </a:pPr>
            <a:r>
              <a:rPr lang="en-US" sz="1400" dirty="0">
                <a:solidFill>
                  <a:schemeClr val="tx1"/>
                </a:solidFill>
              </a:rPr>
              <a:t>A diff per segment, and a note on the termbase</a:t>
            </a:r>
            <a:endParaRPr lang="en-US" sz="1400" dirty="0"/>
          </a:p>
        </p:txBody>
      </p:sp>
      <p:sp>
        <p:nvSpPr>
          <p:cNvPr id="11" name="seal"/>
          <p:cNvSpPr/>
          <p:nvPr/>
        </p:nvSpPr>
        <p:spPr>
          <a:xfrm>
            <a:off x="9418320" y="4572000"/>
            <a:ext cx="411480" cy="411480"/>
          </a:xfrm>
          <a:prstGeom prst="roundRect">
            <a:avLst>
              <a:gd name="adj" fmla="val 18000"/>
            </a:avLst>
          </a:prstGeom>
          <a:solidFill>
            <a:schemeClr val="accent1"/>
          </a:solidFill>
          <a:ln/>
        </p:spPr>
      </p:sp>
      <p:sp>
        <p:nvSpPr>
          <p:cNvPr id="12" name="Text 9"/>
          <p:cNvSpPr txBox="1"/>
          <p:nvPr/>
        </p:nvSpPr>
        <p:spPr>
          <a:xfrm>
            <a:off x="9418320" y="4572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3</a:t>
            </a:r>
            <a:endParaRPr lang="en-US" sz="1400" dirty="0"/>
          </a:p>
        </p:txBody>
      </p:sp>
      <p:sp>
        <p:nvSpPr>
          <p:cNvPr id="13" name="Text 10"/>
          <p:cNvSpPr txBox="1"/>
          <p:nvPr/>
        </p:nvSpPr>
        <p:spPr>
          <a:xfrm>
            <a:off x="9418320" y="5120640"/>
            <a:ext cx="2224735" cy="960120"/>
          </a:xfrm>
          <a:prstGeom prst="rect">
            <a:avLst/>
          </a:prstGeom>
          <a:noFill/>
          <a:ln/>
        </p:spPr>
        <p:txBody>
          <a:bodyPr wrap="square" lIns="0" tIns="0" rIns="0" bIns="0" rtlCol="0" anchor="t"/>
          <a:lstStyle/>
          <a:p>
            <a:pPr indent="0" marL="0">
              <a:buNone/>
            </a:pPr>
            <a:r>
              <a:rPr lang="en-US" sz="1400" dirty="0">
                <a:solidFill>
                  <a:schemeClr val="tx1"/>
                </a:solidFill>
              </a:rPr>
              <a:t>Accept or reject; nothing applied until then</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000" b="1" dirty="0">
                <a:solidFill>
                  <a:schemeClr val="tx1"/>
                </a:solidFill>
              </a:rPr>
              <a:t>11 · History: every change is a version</a:t>
            </a:r>
            <a:endParaRPr lang="en-US" sz="3000" dirty="0"/>
          </a:p>
        </p:txBody>
      </p:sp>
      <p:sp>
        <p:nvSpPr>
          <p:cNvPr id="3" name="Shape 1"/>
          <p:cNvSpPr/>
          <p:nvPr/>
        </p:nvSpPr>
        <p:spPr>
          <a:xfrm>
            <a:off x="530352" y="1307592"/>
            <a:ext cx="8586216" cy="4845749"/>
          </a:xfrm>
          <a:prstGeom prst="rect">
            <a:avLst/>
          </a:prstGeom>
          <a:solidFill>
            <a:schemeClr val="accent4"/>
          </a:solidFill>
          <a:ln/>
          <a:effectLst>
            <a:outerShdw sx="100000" sy="100000" kx="0" ky="0" algn="bl" rotWithShape="0" blurRad="101600" dist="38100" dir="5400000">
              <a:srgbClr val="1C2230">
                <a:alpha val="18000"/>
              </a:srgbClr>
            </a:outerShdw>
          </a:effectLst>
        </p:spPr>
      </p:sp>
      <p:pic>
        <p:nvPicPr>
          <p:cNvPr id="4" name="Image 0" descr="Screenshot of Agentic Translator">    </p:cNvPr>
          <p:cNvPicPr>
            <a:picLocks noChangeAspect="1"/>
          </p:cNvPicPr>
          <p:nvPr/>
        </p:nvPicPr>
        <p:blipFill>
          <a:blip r:embed="rId1"/>
          <a:stretch>
            <a:fillRect/>
          </a:stretch>
        </p:blipFill>
        <p:spPr>
          <a:xfrm>
            <a:off x="548640" y="1325880"/>
            <a:ext cx="8549640" cy="4809173"/>
          </a:xfrm>
          <a:prstGeom prst="rect">
            <a:avLst/>
          </a:prstGeom>
        </p:spPr>
      </p:pic>
      <p:sp>
        <p:nvSpPr>
          <p:cNvPr id="5" name="seal"/>
          <p:cNvSpPr/>
          <p:nvPr/>
        </p:nvSpPr>
        <p:spPr>
          <a:xfrm>
            <a:off x="9418320" y="1371600"/>
            <a:ext cx="411480" cy="411480"/>
          </a:xfrm>
          <a:prstGeom prst="roundRect">
            <a:avLst>
              <a:gd name="adj" fmla="val 18000"/>
            </a:avLst>
          </a:prstGeom>
          <a:solidFill>
            <a:schemeClr val="accent1"/>
          </a:solidFill>
          <a:ln/>
        </p:spPr>
      </p:sp>
      <p:sp>
        <p:nvSpPr>
          <p:cNvPr id="6" name="Text 3"/>
          <p:cNvSpPr txBox="1"/>
          <p:nvPr/>
        </p:nvSpPr>
        <p:spPr>
          <a:xfrm>
            <a:off x="9418320" y="13716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1</a:t>
            </a:r>
            <a:endParaRPr lang="en-US" sz="1400" dirty="0"/>
          </a:p>
        </p:txBody>
      </p:sp>
      <p:sp>
        <p:nvSpPr>
          <p:cNvPr id="7" name="Text 4"/>
          <p:cNvSpPr txBox="1"/>
          <p:nvPr/>
        </p:nvSpPr>
        <p:spPr>
          <a:xfrm>
            <a:off x="9418320" y="1920240"/>
            <a:ext cx="2224735" cy="960120"/>
          </a:xfrm>
          <a:prstGeom prst="rect">
            <a:avLst/>
          </a:prstGeom>
          <a:noFill/>
          <a:ln/>
        </p:spPr>
        <p:txBody>
          <a:bodyPr wrap="square" lIns="0" tIns="0" rIns="0" bIns="0" rtlCol="0" anchor="t"/>
          <a:lstStyle/>
          <a:p>
            <a:pPr indent="0" marL="0">
              <a:buNone/>
            </a:pPr>
            <a:r>
              <a:rPr lang="en-US" sz="1400" dirty="0">
                <a:solidFill>
                  <a:schemeClr val="tx1"/>
                </a:solidFill>
              </a:rPr>
              <a:t>Compare any two versions</a:t>
            </a:r>
            <a:endParaRPr lang="en-US" sz="1400" dirty="0"/>
          </a:p>
        </p:txBody>
      </p:sp>
      <p:sp>
        <p:nvSpPr>
          <p:cNvPr id="8" name="seal"/>
          <p:cNvSpPr/>
          <p:nvPr/>
        </p:nvSpPr>
        <p:spPr>
          <a:xfrm>
            <a:off x="9418320" y="2971800"/>
            <a:ext cx="411480" cy="411480"/>
          </a:xfrm>
          <a:prstGeom prst="roundRect">
            <a:avLst>
              <a:gd name="adj" fmla="val 18000"/>
            </a:avLst>
          </a:prstGeom>
          <a:solidFill>
            <a:schemeClr val="accent1"/>
          </a:solidFill>
          <a:ln/>
        </p:spPr>
      </p:sp>
      <p:sp>
        <p:nvSpPr>
          <p:cNvPr id="9" name="Text 6"/>
          <p:cNvSpPr txBox="1"/>
          <p:nvPr/>
        </p:nvSpPr>
        <p:spPr>
          <a:xfrm>
            <a:off x="9418320" y="2971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2</a:t>
            </a:r>
            <a:endParaRPr lang="en-US" sz="1400" dirty="0"/>
          </a:p>
        </p:txBody>
      </p:sp>
      <p:sp>
        <p:nvSpPr>
          <p:cNvPr id="10" name="Text 7"/>
          <p:cNvSpPr txBox="1"/>
          <p:nvPr/>
        </p:nvSpPr>
        <p:spPr>
          <a:xfrm>
            <a:off x="9418320" y="3520440"/>
            <a:ext cx="2224735" cy="960120"/>
          </a:xfrm>
          <a:prstGeom prst="rect">
            <a:avLst/>
          </a:prstGeom>
          <a:noFill/>
          <a:ln/>
        </p:spPr>
        <p:txBody>
          <a:bodyPr wrap="square" lIns="0" tIns="0" rIns="0" bIns="0" rtlCol="0" anchor="t"/>
          <a:lstStyle/>
          <a:p>
            <a:pPr indent="0" marL="0">
              <a:buNone/>
            </a:pPr>
            <a:r>
              <a:rPr lang="en-US" sz="1400" dirty="0">
                <a:solidFill>
                  <a:schemeClr val="tx1"/>
                </a:solidFill>
              </a:rPr>
              <a:t>Only the changed segments are shown</a:t>
            </a:r>
            <a:endParaRPr lang="en-US" sz="1400" dirty="0"/>
          </a:p>
        </p:txBody>
      </p:sp>
      <p:sp>
        <p:nvSpPr>
          <p:cNvPr id="11" name="seal"/>
          <p:cNvSpPr/>
          <p:nvPr/>
        </p:nvSpPr>
        <p:spPr>
          <a:xfrm>
            <a:off x="9418320" y="4572000"/>
            <a:ext cx="411480" cy="411480"/>
          </a:xfrm>
          <a:prstGeom prst="roundRect">
            <a:avLst>
              <a:gd name="adj" fmla="val 18000"/>
            </a:avLst>
          </a:prstGeom>
          <a:solidFill>
            <a:schemeClr val="accent1"/>
          </a:solidFill>
          <a:ln/>
        </p:spPr>
      </p:sp>
      <p:sp>
        <p:nvSpPr>
          <p:cNvPr id="12" name="Text 9"/>
          <p:cNvSpPr txBox="1"/>
          <p:nvPr/>
        </p:nvSpPr>
        <p:spPr>
          <a:xfrm>
            <a:off x="9418320" y="4572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3</a:t>
            </a:r>
            <a:endParaRPr lang="en-US" sz="1400" dirty="0"/>
          </a:p>
        </p:txBody>
      </p:sp>
      <p:sp>
        <p:nvSpPr>
          <p:cNvPr id="13" name="Text 10"/>
          <p:cNvSpPr txBox="1"/>
          <p:nvPr/>
        </p:nvSpPr>
        <p:spPr>
          <a:xfrm>
            <a:off x="9418320" y="5120640"/>
            <a:ext cx="2224735" cy="960120"/>
          </a:xfrm>
          <a:prstGeom prst="rect">
            <a:avLst/>
          </a:prstGeom>
          <a:noFill/>
          <a:ln/>
        </p:spPr>
        <p:txBody>
          <a:bodyPr wrap="square" lIns="0" tIns="0" rIns="0" bIns="0" rtlCol="0" anchor="t"/>
          <a:lstStyle/>
          <a:p>
            <a:pPr indent="0" marL="0">
              <a:buNone/>
            </a:pPr>
            <a:r>
              <a:rPr lang="en-US" sz="1400" dirty="0">
                <a:solidFill>
                  <a:schemeClr val="tx1"/>
                </a:solidFill>
              </a:rPr>
              <a:t>Each version says who changed what</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000" b="1" dirty="0">
                <a:solidFill>
                  <a:schemeClr val="tx1"/>
                </a:solidFill>
              </a:rPr>
              <a:t>12 · Quality: QA checks and an MQM score</a:t>
            </a:r>
            <a:endParaRPr lang="en-US" sz="3000" dirty="0"/>
          </a:p>
        </p:txBody>
      </p:sp>
      <p:sp>
        <p:nvSpPr>
          <p:cNvPr id="3" name="Shape 1"/>
          <p:cNvSpPr/>
          <p:nvPr/>
        </p:nvSpPr>
        <p:spPr>
          <a:xfrm>
            <a:off x="530352" y="1307592"/>
            <a:ext cx="8586216" cy="4845749"/>
          </a:xfrm>
          <a:prstGeom prst="rect">
            <a:avLst/>
          </a:prstGeom>
          <a:solidFill>
            <a:schemeClr val="accent4"/>
          </a:solidFill>
          <a:ln/>
          <a:effectLst>
            <a:outerShdw sx="100000" sy="100000" kx="0" ky="0" algn="bl" rotWithShape="0" blurRad="101600" dist="38100" dir="5400000">
              <a:srgbClr val="1C2230">
                <a:alpha val="18000"/>
              </a:srgbClr>
            </a:outerShdw>
          </a:effectLst>
        </p:spPr>
      </p:sp>
      <p:pic>
        <p:nvPicPr>
          <p:cNvPr id="4" name="Image 0" descr="Screenshot of Agentic Translator">    </p:cNvPr>
          <p:cNvPicPr>
            <a:picLocks noChangeAspect="1"/>
          </p:cNvPicPr>
          <p:nvPr/>
        </p:nvPicPr>
        <p:blipFill>
          <a:blip r:embed="rId1"/>
          <a:stretch>
            <a:fillRect/>
          </a:stretch>
        </p:blipFill>
        <p:spPr>
          <a:xfrm>
            <a:off x="548640" y="1325880"/>
            <a:ext cx="8549640" cy="4809173"/>
          </a:xfrm>
          <a:prstGeom prst="rect">
            <a:avLst/>
          </a:prstGeom>
        </p:spPr>
      </p:pic>
      <p:sp>
        <p:nvSpPr>
          <p:cNvPr id="5" name="seal"/>
          <p:cNvSpPr/>
          <p:nvPr/>
        </p:nvSpPr>
        <p:spPr>
          <a:xfrm>
            <a:off x="9418320" y="1371600"/>
            <a:ext cx="411480" cy="411480"/>
          </a:xfrm>
          <a:prstGeom prst="roundRect">
            <a:avLst>
              <a:gd name="adj" fmla="val 18000"/>
            </a:avLst>
          </a:prstGeom>
          <a:solidFill>
            <a:schemeClr val="accent1"/>
          </a:solidFill>
          <a:ln/>
        </p:spPr>
      </p:sp>
      <p:sp>
        <p:nvSpPr>
          <p:cNvPr id="6" name="Text 3"/>
          <p:cNvSpPr txBox="1"/>
          <p:nvPr/>
        </p:nvSpPr>
        <p:spPr>
          <a:xfrm>
            <a:off x="9418320" y="13716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1</a:t>
            </a:r>
            <a:endParaRPr lang="en-US" sz="1400" dirty="0"/>
          </a:p>
        </p:txBody>
      </p:sp>
      <p:sp>
        <p:nvSpPr>
          <p:cNvPr id="7" name="Text 4"/>
          <p:cNvSpPr txBox="1"/>
          <p:nvPr/>
        </p:nvSpPr>
        <p:spPr>
          <a:xfrm>
            <a:off x="9418320" y="1920240"/>
            <a:ext cx="2224735" cy="960120"/>
          </a:xfrm>
          <a:prstGeom prst="rect">
            <a:avLst/>
          </a:prstGeom>
          <a:noFill/>
          <a:ln/>
        </p:spPr>
        <p:txBody>
          <a:bodyPr wrap="square" lIns="0" tIns="0" rIns="0" bIns="0" rtlCol="0" anchor="t"/>
          <a:lstStyle/>
          <a:p>
            <a:pPr indent="0" marL="0">
              <a:buNone/>
            </a:pPr>
            <a:r>
              <a:rPr lang="en-US" sz="1400" dirty="0">
                <a:solidFill>
                  <a:schemeClr val="tx1"/>
                </a:solidFill>
              </a:rPr>
              <a:t>0 errors, 6 warnings from automatic QA</a:t>
            </a:r>
            <a:endParaRPr lang="en-US" sz="1400" dirty="0"/>
          </a:p>
        </p:txBody>
      </p:sp>
      <p:sp>
        <p:nvSpPr>
          <p:cNvPr id="8" name="seal"/>
          <p:cNvSpPr/>
          <p:nvPr/>
        </p:nvSpPr>
        <p:spPr>
          <a:xfrm>
            <a:off x="9418320" y="2971800"/>
            <a:ext cx="411480" cy="411480"/>
          </a:xfrm>
          <a:prstGeom prst="roundRect">
            <a:avLst>
              <a:gd name="adj" fmla="val 18000"/>
            </a:avLst>
          </a:prstGeom>
          <a:solidFill>
            <a:schemeClr val="accent1"/>
          </a:solidFill>
          <a:ln/>
        </p:spPr>
      </p:sp>
      <p:sp>
        <p:nvSpPr>
          <p:cNvPr id="9" name="Text 6"/>
          <p:cNvSpPr txBox="1"/>
          <p:nvPr/>
        </p:nvSpPr>
        <p:spPr>
          <a:xfrm>
            <a:off x="9418320" y="2971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2</a:t>
            </a:r>
            <a:endParaRPr lang="en-US" sz="1400" dirty="0"/>
          </a:p>
        </p:txBody>
      </p:sp>
      <p:sp>
        <p:nvSpPr>
          <p:cNvPr id="10" name="Text 7"/>
          <p:cNvSpPr txBox="1"/>
          <p:nvPr/>
        </p:nvSpPr>
        <p:spPr>
          <a:xfrm>
            <a:off x="9418320" y="3520440"/>
            <a:ext cx="2224735" cy="960120"/>
          </a:xfrm>
          <a:prstGeom prst="rect">
            <a:avLst/>
          </a:prstGeom>
          <a:noFill/>
          <a:ln/>
        </p:spPr>
        <p:txBody>
          <a:bodyPr wrap="square" lIns="0" tIns="0" rIns="0" bIns="0" rtlCol="0" anchor="t"/>
          <a:lstStyle/>
          <a:p>
            <a:pPr indent="0" marL="0">
              <a:buNone/>
            </a:pPr>
            <a:r>
              <a:rPr lang="en-US" sz="1400" dirty="0">
                <a:solidFill>
                  <a:schemeClr val="tx1"/>
                </a:solidFill>
              </a:rPr>
              <a:t>LQA score 97.9: pass (threshold 90)</a:t>
            </a:r>
            <a:endParaRPr lang="en-US" sz="1400" dirty="0"/>
          </a:p>
        </p:txBody>
      </p:sp>
      <p:sp>
        <p:nvSpPr>
          <p:cNvPr id="11" name="seal"/>
          <p:cNvSpPr/>
          <p:nvPr/>
        </p:nvSpPr>
        <p:spPr>
          <a:xfrm>
            <a:off x="9418320" y="4572000"/>
            <a:ext cx="411480" cy="411480"/>
          </a:xfrm>
          <a:prstGeom prst="roundRect">
            <a:avLst>
              <a:gd name="adj" fmla="val 18000"/>
            </a:avLst>
          </a:prstGeom>
          <a:solidFill>
            <a:schemeClr val="accent1"/>
          </a:solidFill>
          <a:ln/>
        </p:spPr>
      </p:sp>
      <p:sp>
        <p:nvSpPr>
          <p:cNvPr id="12" name="Text 9"/>
          <p:cNvSpPr txBox="1"/>
          <p:nvPr/>
        </p:nvSpPr>
        <p:spPr>
          <a:xfrm>
            <a:off x="9418320" y="4572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Cambria" pitchFamily="34" charset="0"/>
                <a:ea typeface="Cambria" pitchFamily="34" charset="-122"/>
                <a:cs typeface="Cambria" pitchFamily="34" charset="-120"/>
              </a:rPr>
              <a:t>3</a:t>
            </a:r>
            <a:endParaRPr lang="en-US" sz="1400" dirty="0"/>
          </a:p>
        </p:txBody>
      </p:sp>
      <p:sp>
        <p:nvSpPr>
          <p:cNvPr id="13" name="Text 10"/>
          <p:cNvSpPr txBox="1"/>
          <p:nvPr/>
        </p:nvSpPr>
        <p:spPr>
          <a:xfrm>
            <a:off x="9418320" y="5120640"/>
            <a:ext cx="2224735" cy="960120"/>
          </a:xfrm>
          <a:prstGeom prst="rect">
            <a:avLst/>
          </a:prstGeom>
          <a:noFill/>
          <a:ln/>
        </p:spPr>
        <p:txBody>
          <a:bodyPr wrap="square" lIns="0" tIns="0" rIns="0" bIns="0" rtlCol="0" anchor="t"/>
          <a:lstStyle/>
          <a:p>
            <a:pPr indent="0" marL="0">
              <a:buNone/>
            </a:pPr>
            <a:r>
              <a:rPr lang="en-US" sz="1400" dirty="0">
                <a:solidFill>
                  <a:schemeClr val="tx1"/>
                </a:solidFill>
              </a:rPr>
              <a:t>Scorecard by category and severity</a:t>
            </a:r>
            <a:endParaRPr lang="en-US" sz="14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000" b="1" dirty="0">
                <a:solidFill>
                  <a:schemeClr val="tx1"/>
                </a:solidFill>
              </a:rPr>
              <a:t>13 · Download: a Word document</a:t>
            </a:r>
            <a:endParaRPr lang="en-US" sz="3000" dirty="0"/>
          </a:p>
        </p:txBody>
      </p:sp>
      <p:sp>
        <p:nvSpPr>
          <p:cNvPr id="3" name="Shape 1"/>
          <p:cNvSpPr/>
          <p:nvPr/>
        </p:nvSpPr>
        <p:spPr>
          <a:xfrm>
            <a:off x="530352" y="1307592"/>
            <a:ext cx="3810648" cy="4882896"/>
          </a:xfrm>
          <a:prstGeom prst="rect">
            <a:avLst/>
          </a:prstGeom>
          <a:solidFill>
            <a:schemeClr val="accent4"/>
          </a:solidFill>
          <a:ln/>
          <a:effectLst>
            <a:outerShdw sx="100000" sy="100000" kx="0" ky="0" algn="bl" rotWithShape="0" blurRad="101600" dist="38100" dir="5400000">
              <a:srgbClr val="1C2230">
                <a:alpha val="18000"/>
              </a:srgbClr>
            </a:outerShdw>
          </a:effectLst>
        </p:spPr>
      </p:sp>
      <p:pic>
        <p:nvPicPr>
          <p:cNvPr id="4" name="Image 0" descr="Screenshot of Agentic Translator">    </p:cNvPr>
          <p:cNvPicPr>
            <a:picLocks noChangeAspect="1"/>
          </p:cNvPicPr>
          <p:nvPr/>
        </p:nvPicPr>
        <p:blipFill>
          <a:blip r:embed="rId1"/>
          <a:stretch>
            <a:fillRect/>
          </a:stretch>
        </p:blipFill>
        <p:spPr>
          <a:xfrm>
            <a:off x="548640" y="1325880"/>
            <a:ext cx="3774072" cy="4846320"/>
          </a:xfrm>
          <a:prstGeom prst="rect">
            <a:avLst/>
          </a:prstGeom>
        </p:spPr>
      </p:pic>
      <p:sp>
        <p:nvSpPr>
          <p:cNvPr id="5" name="Text 2"/>
          <p:cNvSpPr txBox="1"/>
          <p:nvPr/>
        </p:nvSpPr>
        <p:spPr>
          <a:xfrm>
            <a:off x="4871352" y="1463040"/>
            <a:ext cx="6771704" cy="411480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chemeClr val="tx1"/>
                </a:solidFill>
              </a:rPr>
              <a:t>Reflowed Word document: headings, tables, figures</a:t>
            </a:r>
            <a:endParaRPr lang="en-US" sz="1700" dirty="0"/>
          </a:p>
          <a:p>
            <a:pPr marL="228600" indent="-228600">
              <a:spcAft>
                <a:spcPts val="1400"/>
              </a:spcAft>
              <a:buSzPct val="100000"/>
              <a:buChar char="•"/>
            </a:pPr>
            <a:r>
              <a:rPr lang="en-US" sz="1700" dirty="0">
                <a:solidFill>
                  <a:schemeClr val="tx1"/>
                </a:solidFill>
              </a:rPr>
              <a:t>Running header and footer with page numbers</a:t>
            </a:r>
            <a:endParaRPr lang="en-US" sz="1700" dirty="0"/>
          </a:p>
          <a:p>
            <a:pPr marL="228600" indent="-228600">
              <a:spcAft>
                <a:spcPts val="1400"/>
              </a:spcAft>
              <a:buSzPct val="100000"/>
              <a:buChar char="•"/>
            </a:pPr>
            <a:r>
              <a:rPr lang="en-US" sz="1700" dirty="0">
                <a:solidFill>
                  <a:schemeClr val="tx1"/>
                </a:solidFill>
              </a:rPr>
              <a:t>Figures keep their pixels; their text is translated as a legend</a:t>
            </a:r>
            <a:endParaRPr lang="en-US" sz="1700" dirty="0"/>
          </a:p>
          <a:p>
            <a:pPr marL="228600" indent="-228600">
              <a:spcAft>
                <a:spcPts val="1400"/>
              </a:spcAft>
              <a:buSzPct val="100000"/>
              <a:buChar char="•"/>
            </a:pPr>
            <a:r>
              <a:rPr lang="en-US" sz="1700" dirty="0">
                <a:solidFill>
                  <a:schemeClr val="tx1"/>
                </a:solidFill>
              </a:rPr>
              <a:t>Also: Markdown, with the figures in a zip</a:t>
            </a:r>
            <a:endParaRPr lang="en-US" sz="17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b="1" dirty="0">
                <a:solidFill>
                  <a:schemeClr val="tx1"/>
                </a:solidFill>
              </a:rPr>
              <a:t>Backup: runs on the models you choose</a:t>
            </a:r>
            <a:endParaRPr lang="en-US" sz="3200" dirty="0"/>
          </a:p>
        </p:txBody>
      </p:sp>
      <p:sp>
        <p:nvSpPr>
          <p:cNvPr id="3" name="card"/>
          <p:cNvSpPr/>
          <p:nvPr/>
        </p:nvSpPr>
        <p:spPr>
          <a:xfrm>
            <a:off x="548640" y="1463040"/>
            <a:ext cx="5394960" cy="4526280"/>
          </a:xfrm>
          <a:prstGeom prst="roundRect">
            <a:avLst>
              <a:gd name="adj" fmla="val 1616"/>
            </a:avLst>
          </a:prstGeom>
          <a:solidFill>
            <a:schemeClr val="tx1"/>
          </a:solidFill>
          <a:ln/>
        </p:spPr>
      </p:sp>
      <p:sp>
        <p:nvSpPr>
          <p:cNvPr id="4" name="Text 2"/>
          <p:cNvSpPr txBox="1"/>
          <p:nvPr/>
        </p:nvSpPr>
        <p:spPr>
          <a:xfrm>
            <a:off x="914400" y="1691640"/>
            <a:ext cx="4572000" cy="320040"/>
          </a:xfrm>
          <a:prstGeom prst="rect">
            <a:avLst/>
          </a:prstGeom>
          <a:noFill/>
          <a:ln/>
        </p:spPr>
        <p:txBody>
          <a:bodyPr wrap="square" lIns="0" tIns="0" rIns="0" bIns="0" rtlCol="0" anchor="t"/>
          <a:lstStyle/>
          <a:p>
            <a:pPr indent="0" marL="0">
              <a:buNone/>
            </a:pPr>
            <a:r>
              <a:rPr lang="en-US" sz="1300" dirty="0">
                <a:solidFill>
                  <a:schemeClr val="accent3"/>
                </a:solidFill>
              </a:rPr>
              <a:t>config/pipeline.yaml</a:t>
            </a:r>
            <a:endParaRPr lang="en-US" sz="1300" dirty="0"/>
          </a:p>
        </p:txBody>
      </p:sp>
      <p:sp>
        <p:nvSpPr>
          <p:cNvPr id="5" name="Text 3"/>
          <p:cNvSpPr txBox="1"/>
          <p:nvPr/>
        </p:nvSpPr>
        <p:spPr>
          <a:xfrm>
            <a:off x="914400" y="2148840"/>
            <a:ext cx="4754880" cy="2743200"/>
          </a:xfrm>
          <a:prstGeom prst="rect">
            <a:avLst/>
          </a:prstGeom>
          <a:noFill/>
          <a:ln/>
        </p:spPr>
        <p:txBody>
          <a:bodyPr wrap="square" lIns="0" tIns="0" rIns="0" bIns="0" rtlCol="0" anchor="t"/>
          <a:lstStyle/>
          <a:p>
            <a:pPr indent="0" marL="0">
              <a:spcAft>
                <a:spcPts val="800"/>
              </a:spcAft>
              <a:buNone/>
            </a:pPr>
            <a:r>
              <a:rPr lang="en-US" sz="1400" dirty="0">
                <a:solidFill>
                  <a:schemeClr val="accent4"/>
                </a:solidFill>
                <a:latin typeface="Courier New" pitchFamily="34" charset="0"/>
                <a:ea typeface="Courier New" pitchFamily="34" charset="-122"/>
                <a:cs typeface="Courier New" pitchFamily="34" charset="-120"/>
              </a:rPr>
              <a:t>default: </a:t>
            </a:r>
            <a:pPr indent="0" marL="0">
              <a:spcAft>
                <a:spcPts val="800"/>
              </a:spcAft>
              <a:buNone/>
            </a:pPr>
            <a:r>
              <a:rPr lang="en-US" sz="1400" dirty="0">
                <a:solidFill>
                  <a:srgbClr val="F08A7C"/>
                </a:solidFill>
                <a:latin typeface="Courier New" pitchFamily="34" charset="0"/>
                <a:ea typeface="Courier New" pitchFamily="34" charset="-122"/>
                <a:cs typeface="Courier New" pitchFamily="34" charset="-120"/>
              </a:rPr>
              <a:t>claude-haiku</a:t>
            </a:r>
            <a:pPr indent="0" marL="0">
              <a:spcAft>
                <a:spcPts val="800"/>
              </a:spcAft>
              <a:buNone/>
            </a:pPr>
            <a:endParaRPr lang="en-US" sz="1400" dirty="0"/>
          </a:p>
          <a:p>
            <a:pPr indent="0" marL="0">
              <a:spcAft>
                <a:spcPts val="800"/>
              </a:spcAft>
              <a:buNone/>
            </a:pPr>
            <a:r>
              <a:rPr lang="en-US" sz="1400" dirty="0">
                <a:solidFill>
                  <a:schemeClr val="accent4"/>
                </a:solidFill>
                <a:latin typeface="Courier New" pitchFamily="34" charset="0"/>
                <a:ea typeface="Courier New" pitchFamily="34" charset="-122"/>
                <a:cs typeface="Courier New" pitchFamily="34" charset="-120"/>
              </a:rPr>
              <a:t>steps:</a:t>
            </a:r>
            <a:pPr indent="0" marL="0">
              <a:spcAft>
                <a:spcPts val="800"/>
              </a:spcAft>
              <a:buNone/>
            </a:pPr>
            <a:pPr indent="0" marL="0">
              <a:spcAft>
                <a:spcPts val="800"/>
              </a:spcAft>
              <a:buNone/>
            </a:pPr>
            <a:endParaRPr lang="en-US" sz="1400" dirty="0"/>
          </a:p>
          <a:p>
            <a:pPr indent="0" marL="0">
              <a:spcAft>
                <a:spcPts val="800"/>
              </a:spcAft>
              <a:buNone/>
            </a:pPr>
            <a:r>
              <a:rPr lang="en-US" sz="1400" dirty="0">
                <a:solidFill>
                  <a:schemeClr val="accent4"/>
                </a:solidFill>
                <a:latin typeface="Courier New" pitchFamily="34" charset="0"/>
                <a:ea typeface="Courier New" pitchFamily="34" charset="-122"/>
                <a:cs typeface="Courier New" pitchFamily="34" charset="-120"/>
              </a:rPr>
              <a:t>  ocr: </a:t>
            </a:r>
            <a:pPr indent="0" marL="0">
              <a:spcAft>
                <a:spcPts val="800"/>
              </a:spcAft>
              <a:buNone/>
            </a:pPr>
            <a:r>
              <a:rPr lang="en-US" sz="1400" dirty="0">
                <a:solidFill>
                  <a:srgbClr val="F08A7C"/>
                </a:solidFill>
                <a:latin typeface="Courier New" pitchFamily="34" charset="0"/>
                <a:ea typeface="Courier New" pitchFamily="34" charset="-122"/>
                <a:cs typeface="Courier New" pitchFamily="34" charset="-120"/>
              </a:rPr>
              <a:t>qwen-flash</a:t>
            </a:r>
            <a:pPr indent="0" marL="0">
              <a:spcAft>
                <a:spcPts val="800"/>
              </a:spcAft>
              <a:buNone/>
            </a:pPr>
            <a:r>
              <a:rPr lang="en-US" sz="1400" dirty="0">
                <a:solidFill>
                  <a:srgbClr val="9AA3B5"/>
                </a:solidFill>
                <a:latin typeface="Courier New" pitchFamily="34" charset="0"/>
                <a:ea typeface="Courier New" pitchFamily="34" charset="-122"/>
                <a:cs typeface="Courier New" pitchFamily="34" charset="-120"/>
              </a:rPr>
              <a:t>        # reads pages</a:t>
            </a:r>
            <a:endParaRPr lang="en-US" sz="1400" dirty="0"/>
          </a:p>
          <a:p>
            <a:pPr indent="0" marL="0">
              <a:spcAft>
                <a:spcPts val="800"/>
              </a:spcAft>
              <a:buNone/>
            </a:pPr>
            <a:r>
              <a:rPr lang="en-US" sz="1400" dirty="0">
                <a:solidFill>
                  <a:schemeClr val="accent4"/>
                </a:solidFill>
                <a:latin typeface="Courier New" pitchFamily="34" charset="0"/>
                <a:ea typeface="Courier New" pitchFamily="34" charset="-122"/>
                <a:cs typeface="Courier New" pitchFamily="34" charset="-120"/>
              </a:rPr>
              <a:t>  ocr_check: </a:t>
            </a:r>
            <a:pPr indent="0" marL="0">
              <a:spcAft>
                <a:spcPts val="800"/>
              </a:spcAft>
              <a:buNone/>
            </a:pPr>
            <a:r>
              <a:rPr lang="en-US" sz="1400" dirty="0">
                <a:solidFill>
                  <a:srgbClr val="F08A7C"/>
                </a:solidFill>
                <a:latin typeface="Courier New" pitchFamily="34" charset="0"/>
                <a:ea typeface="Courier New" pitchFamily="34" charset="-122"/>
                <a:cs typeface="Courier New" pitchFamily="34" charset="-120"/>
              </a:rPr>
              <a:t>qwen-flash</a:t>
            </a:r>
            <a:pPr indent="0" marL="0">
              <a:spcAft>
                <a:spcPts val="800"/>
              </a:spcAft>
              <a:buNone/>
            </a:pPr>
            <a:r>
              <a:rPr lang="en-US" sz="1400" dirty="0">
                <a:solidFill>
                  <a:srgbClr val="9AA3B5"/>
                </a:solidFill>
                <a:latin typeface="Courier New" pitchFamily="34" charset="0"/>
                <a:ea typeface="Courier New" pitchFamily="34" charset="-122"/>
                <a:cs typeface="Courier New" pitchFamily="34" charset="-120"/>
              </a:rPr>
              <a:t>  # checks them</a:t>
            </a:r>
            <a:endParaRPr lang="en-US" sz="1400" dirty="0"/>
          </a:p>
          <a:p>
            <a:pPr indent="0" marL="0">
              <a:spcAft>
                <a:spcPts val="800"/>
              </a:spcAft>
              <a:buNone/>
            </a:pPr>
            <a:r>
              <a:rPr lang="en-US" sz="1400" dirty="0">
                <a:solidFill>
                  <a:schemeClr val="accent4"/>
                </a:solidFill>
                <a:latin typeface="Courier New" pitchFamily="34" charset="0"/>
                <a:ea typeface="Courier New" pitchFamily="34" charset="-122"/>
                <a:cs typeface="Courier New" pitchFamily="34" charset="-120"/>
              </a:rPr>
              <a:t>  review: </a:t>
            </a:r>
            <a:pPr indent="0" marL="0">
              <a:spcAft>
                <a:spcPts val="800"/>
              </a:spcAft>
              <a:buNone/>
            </a:pPr>
            <a:r>
              <a:rPr lang="en-US" sz="1400" dirty="0">
                <a:solidFill>
                  <a:srgbClr val="F08A7C"/>
                </a:solidFill>
                <a:latin typeface="Courier New" pitchFamily="34" charset="0"/>
                <a:ea typeface="Courier New" pitchFamily="34" charset="-122"/>
                <a:cs typeface="Courier New" pitchFamily="34" charset="-120"/>
              </a:rPr>
              <a:t>qwen-flash</a:t>
            </a:r>
            <a:pPr indent="0" marL="0">
              <a:spcAft>
                <a:spcPts val="800"/>
              </a:spcAft>
              <a:buNone/>
            </a:pPr>
            <a:r>
              <a:rPr lang="en-US" sz="1400" dirty="0">
                <a:solidFill>
                  <a:srgbClr val="9AA3B5"/>
                </a:solidFill>
                <a:latin typeface="Courier New" pitchFamily="34" charset="0"/>
                <a:ea typeface="Courier New" pitchFamily="34" charset="-122"/>
                <a:cs typeface="Courier New" pitchFamily="34" charset="-120"/>
              </a:rPr>
              <a:t>     # 2nd opinion</a:t>
            </a:r>
            <a:endParaRPr lang="en-US" sz="1400" dirty="0"/>
          </a:p>
          <a:p>
            <a:pPr indent="0" marL="0">
              <a:spcAft>
                <a:spcPts val="800"/>
              </a:spcAft>
              <a:buNone/>
            </a:pPr>
            <a:r>
              <a:rPr lang="en-US" sz="1400" dirty="0">
                <a:solidFill>
                  <a:schemeClr val="accent4"/>
                </a:solidFill>
                <a:latin typeface="Courier New" pitchFamily="34" charset="0"/>
                <a:ea typeface="Courier New" pitchFamily="34" charset="-122"/>
                <a:cs typeface="Courier New" pitchFamily="34" charset="-120"/>
              </a:rPr>
              <a:t>  lqa: </a:t>
            </a:r>
            <a:pPr indent="0" marL="0">
              <a:spcAft>
                <a:spcPts val="800"/>
              </a:spcAft>
              <a:buNone/>
            </a:pPr>
            <a:r>
              <a:rPr lang="en-US" sz="1400" dirty="0">
                <a:solidFill>
                  <a:srgbClr val="F08A7C"/>
                </a:solidFill>
                <a:latin typeface="Courier New" pitchFamily="34" charset="0"/>
                <a:ea typeface="Courier New" pitchFamily="34" charset="-122"/>
                <a:cs typeface="Courier New" pitchFamily="34" charset="-120"/>
              </a:rPr>
              <a:t>qwen-flash</a:t>
            </a:r>
            <a:pPr indent="0" marL="0">
              <a:spcAft>
                <a:spcPts val="800"/>
              </a:spcAft>
              <a:buNone/>
            </a:pPr>
            <a:r>
              <a:rPr lang="en-US" sz="1400" dirty="0">
                <a:solidFill>
                  <a:srgbClr val="9AA3B5"/>
                </a:solidFill>
                <a:latin typeface="Courier New" pitchFamily="34" charset="0"/>
                <a:ea typeface="Courier New" pitchFamily="34" charset="-122"/>
                <a:cs typeface="Courier New" pitchFamily="34" charset="-120"/>
              </a:rPr>
              <a:t>        # scores</a:t>
            </a:r>
            <a:endParaRPr lang="en-US" sz="1400" dirty="0"/>
          </a:p>
        </p:txBody>
      </p:sp>
      <p:sp>
        <p:nvSpPr>
          <p:cNvPr id="6" name="Text 4"/>
          <p:cNvSpPr txBox="1"/>
          <p:nvPr/>
        </p:nvSpPr>
        <p:spPr>
          <a:xfrm>
            <a:off x="914400" y="5074920"/>
            <a:ext cx="4663440" cy="731520"/>
          </a:xfrm>
          <a:prstGeom prst="rect">
            <a:avLst/>
          </a:prstGeom>
          <a:noFill/>
          <a:ln/>
        </p:spPr>
        <p:txBody>
          <a:bodyPr wrap="square" lIns="0" tIns="0" rIns="0" bIns="0" rtlCol="0" anchor="t"/>
          <a:lstStyle/>
          <a:p>
            <a:pPr indent="0" marL="0">
              <a:buNone/>
            </a:pPr>
            <a:r>
              <a:rPr lang="en-US" sz="1300" dirty="0">
                <a:solidFill>
                  <a:schemeClr val="accent4"/>
                </a:solidFill>
              </a:rPr>
              <a:t>Models are listed in models.yaml: a URL, a model name, a key from .env.</a:t>
            </a:r>
            <a:endParaRPr lang="en-US" sz="1300" dirty="0"/>
          </a:p>
        </p:txBody>
      </p:sp>
      <p:sp>
        <p:nvSpPr>
          <p:cNvPr id="7" name="Text 5"/>
          <p:cNvSpPr txBox="1"/>
          <p:nvPr/>
        </p:nvSpPr>
        <p:spPr>
          <a:xfrm>
            <a:off x="6492240" y="1600200"/>
            <a:ext cx="5148072" cy="4206240"/>
          </a:xfrm>
          <a:prstGeom prst="rect">
            <a:avLst/>
          </a:prstGeom>
          <a:noFill/>
          <a:ln/>
        </p:spPr>
        <p:txBody>
          <a:bodyPr wrap="square" lIns="0" tIns="0" rIns="0" bIns="0" rtlCol="0" anchor="t"/>
          <a:lstStyle/>
          <a:p>
            <a:pPr marL="228600" indent="-228600">
              <a:spcAft>
                <a:spcPts val="1600"/>
              </a:spcAft>
              <a:buSzPct val="100000"/>
              <a:buChar char="•"/>
            </a:pPr>
            <a:r>
              <a:rPr lang="en-US" sz="1700" dirty="0">
                <a:solidFill>
                  <a:schemeClr val="tx1"/>
                </a:solidFill>
              </a:rPr>
              <a:t>Any OpenAI-compatible server: our own vLLM GPUs or a hosted provider</a:t>
            </a:r>
            <a:endParaRPr lang="en-US" sz="1700" dirty="0"/>
          </a:p>
          <a:p>
            <a:pPr marL="228600" indent="-228600">
              <a:spcAft>
                <a:spcPts val="1600"/>
              </a:spcAft>
              <a:buSzPct val="100000"/>
              <a:buChar char="•"/>
            </a:pPr>
            <a:r>
              <a:rPr lang="en-US" sz="1700" dirty="0">
                <a:solidFill>
                  <a:schemeClr val="tx1"/>
                </a:solidFill>
              </a:rPr>
              <a:t>A model per step: a cheap one for reading, a stronger one for translating</a:t>
            </a:r>
            <a:endParaRPr lang="en-US" sz="1700" dirty="0"/>
          </a:p>
          <a:p>
            <a:pPr marL="228600" indent="-228600">
              <a:spcAft>
                <a:spcPts val="1600"/>
              </a:spcAft>
              <a:buSzPct val="100000"/>
              <a:buChar char="•"/>
            </a:pPr>
            <a:r>
              <a:rPr lang="en-US" sz="1700" dirty="0">
                <a:solidFill>
                  <a:schemeClr val="tx1"/>
                </a:solidFill>
              </a:rPr>
              <a:t>Steps that look at pages must use vision models, checked at startup</a:t>
            </a:r>
            <a:endParaRPr lang="en-US" sz="1700" dirty="0"/>
          </a:p>
          <a:p>
            <a:pPr marL="228600" indent="-228600">
              <a:spcAft>
                <a:spcPts val="1600"/>
              </a:spcAft>
              <a:buSzPct val="100000"/>
              <a:buChar char="•"/>
            </a:pPr>
            <a:r>
              <a:rPr lang="en-US" sz="1700" dirty="0">
                <a:solidFill>
                  <a:schemeClr val="tx1"/>
                </a:solidFill>
              </a:rPr>
              <a:t>Custom headers on every request, ready for gateways and client integrations</a:t>
            </a:r>
            <a:endParaRPr lang="en-US" sz="1700" dirty="0"/>
          </a:p>
        </p:txBody>
      </p:sp>
      <p:sp>
        <p:nvSpPr>
          <p:cNvPr id="25" name="Slide Number Placeholder 0"/>
          <p:cNvSpPr>
            <a:spLocks noGrp="1"/>
          </p:cNvSpPr>
          <p:nvPr>
            <p:ph type="sldNum" sz="quarter" idx="4294967295"/>
          </p:nvPr>
        </p:nvSpPr>
        <p:spPr>
          <a:xfrm>
            <a:off x="11155680" y="6355080"/>
            <a:ext cx="48463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65</a:t>
            </a:fld>
            <a:endParaRPr lang="en-US"/>
          </a:p>
        </p:txBody>
      </p:sp>
    </p:spTree>
  </p:cSld>
  <p:clrMapOvr>
    <a:masterClrMapping/>
  </p:clrMapOvr>
</p:sld>
</file>

<file path=ppt/theme/theme1.xml><?xml version="1.0" encoding="utf-8"?>
<a:theme xmlns:a="http://schemas.openxmlformats.org/drawingml/2006/main" name="Ink and Seal">
  <a:themeElements>
    <a:clrScheme name="Ink and Seal">
      <a:dk1>
        <a:srgbClr val="1C2230"/>
      </a:dk1>
      <a:lt1>
        <a:srgbClr val="FFFFFF"/>
      </a:lt1>
      <a:dk2>
        <a:srgbClr val="2B3A55"/>
      </a:dk2>
      <a:lt2>
        <a:srgbClr val="F3F5F8"/>
      </a:lt2>
      <a:accent1>
        <a:srgbClr val="C8402F"/>
      </a:accent1>
      <a:accent2>
        <a:srgbClr val="2F5D8A"/>
      </a:accent2>
      <a:accent3>
        <a:srgbClr val="6B7385"/>
      </a:accent3>
      <a:accent4>
        <a:srgbClr val="E6EAF0"/>
      </a:accent4>
      <a:accent5>
        <a:srgbClr val="3E8E6E"/>
      </a:accent5>
      <a:accent6>
        <a:srgbClr val="D9A441"/>
      </a:accent6>
      <a:hlink>
        <a:srgbClr val="2F5D8A"/>
      </a:hlink>
      <a:folHlink>
        <a:srgbClr val="6B7385"/>
      </a:folHlink>
    </a:clrScheme>
    <a:fontScheme name="Ink and S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Reading and translating any document</dc:title>
  <dc:subject>Machine translation and OCR from 2012 to vision-LLMs: where they break, which methods help, and Agentic Translator</dc:subject>
  <dc:creator>Agentic Translator team</dc:creator>
  <cp:lastModifiedBy>Agentic Translator team</cp:lastModifiedBy>
  <cp:revision>1</cp:revision>
  <dcterms:created xsi:type="dcterms:W3CDTF">2026-10-12T23:28:11Z</dcterms:created>
  <dcterms:modified xsi:type="dcterms:W3CDTF">2026-10-12T23:28:11Z</dcterms:modified>
</cp:coreProperties>
</file>